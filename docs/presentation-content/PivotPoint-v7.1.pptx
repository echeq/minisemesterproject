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5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everyone. Today we're excited to present PivotPoint — a real-time collaborative Kanban dashboard built with React 19 and Supabase. We'll walk through the problem it solves, its architecture, key features, and finish with a live demo.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Here is our agenda. We'll start with the problem and business process, then dive into features and architecture. After covering technical highlights and challenges, each team member will share their contributions and lessons learned. We'll wrap up with a live demo.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Traditional project management tools suffer from fragmentation, lack of real-time sync, complex deployment, and rigid workflows. PivotPoint solves all of these with a unified, real-time, serverless Kanban dashboard that's fully customizable.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user journey has 5 clear steps. After environment validation, users authenticate via Supabase Auth. A role gate determines access: Admin (full CRUD), Member (view + drag-drop), or Unknown (request access). The dashboard and board are the main collaborative workspace.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Task management is the core of PivotPoint. We support full CRUD with intuitive drag-and-drop via @dnd-kit. The float8 positioning algorithm avoids expensive re-indexing. Priorities, smart views, assignments, dependencies, and labels provide comprehensive project management.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Real-time collaboration is built on Supabase Realtime. Every change broadcasts instantly to all clients. We track online presence and active editors. For flexibility, we offer 5 view modes, export to XLSX/PDF/CSV, 5 languages including Arabic RTL, and light/dark theme support.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stack is React 19 with Vite 8 and Tailwind CSS 4 on the frontend, and entirely Supabase on the backend — no custom server code. PostgreSQL with 29 versioned migrations handles schema. Vitest powers 30+ tests, and GitHub Actions provides CI/CD. This JAMstack + Serverless architecture means zero infrastructure maintenance.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Four key technical highlights: First, the float8 positioning algorithm that eliminates re-indexing. Second, 29 versioned SQL migrations with Row-Level Security. Third, Supabase Realtime with row re-fetch pattern. And fourth, our comprehensive testing setup with Vitest.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faced several technical challenges. The @dnd-kit version mismatch required careful import management. MCP migrations caused local drift. A priority column added outside migration broke column grants. Realtime payloads lacked joins. RLS took 6 iterations to finalize. And Rolldown's strict formatting caused production build failures.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Let me briefly introduce the team. @goanarbolkong led frontend development including drag-and-drop, visualizations, and exports. @MemerZxZ designed all 29 database migrations, RPCs, and RLS policies. @Echeq managed project documentation, testing, CI/CD, and presentation preparation.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Five key lessons from this project. Serverless architecture with Supabase eliminated all backend maintenance. Real-time sync requires careful merge logic. The float8 positioning algorithm is elegantly simple. Versioned SQL migrations make database changes reviewable. And comprehensive testing with Vitest caught regressions early.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Now for the live demo. We'll walk through signing in, creating a project, adding tasks with drag-and-drop, demonstrating real-time sync across two browsers, switching between view modes, and finally exporting data to PDF.</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Thank you for your attention. PivotPoint demonstrates that modern web technologies like React 19 and Supabase can build production-grade, real-time collaborative applications with minimal infrastructure. The source code is available on GitHub. We're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32720" cy="914400"/>
          </a:xfrm>
          <a:prstGeom prst="rect">
            <a:avLst/>
          </a:prstGeom>
          <a:noFill/>
        </p:spPr>
        <p:txBody>
          <a:bodyPr wrap="square">
            <a:spAutoFit/>
          </a:bodyPr>
          <a:lstStyle/>
          <a:p>
            <a:pPr algn="ctr">
              <a:defRPr sz="4800" b="1">
                <a:solidFill>
                  <a:srgbClr val="FFFFFF"/>
                </a:solidFill>
                <a:latin typeface="Calibri" panose="020F0502020204030204"/>
              </a:defRPr>
            </a:pPr>
            <a:r>
              <a:t>PivotPoint</a:t>
            </a:r>
          </a:p>
        </p:txBody>
      </p:sp>
      <p:sp>
        <p:nvSpPr>
          <p:cNvPr id="4" name="TextBox 3"/>
          <p:cNvSpPr txBox="1"/>
          <p:nvPr/>
        </p:nvSpPr>
        <p:spPr>
          <a:xfrm>
            <a:off x="914400" y="2651760"/>
            <a:ext cx="10332720" cy="548640"/>
          </a:xfrm>
          <a:prstGeom prst="rect">
            <a:avLst/>
          </a:prstGeom>
          <a:noFill/>
        </p:spPr>
        <p:txBody>
          <a:bodyPr wrap="square">
            <a:spAutoFit/>
          </a:bodyPr>
          <a:lstStyle/>
          <a:p>
            <a:pPr algn="ctr">
              <a:defRPr sz="2600" b="0">
                <a:solidFill>
                  <a:srgbClr val="A5B4FC"/>
                </a:solidFill>
                <a:latin typeface="Calibri" panose="020F0502020204030204"/>
              </a:defRPr>
            </a:pPr>
            <a:r>
              <a:t>Real-time Collaborative Dashboard</a:t>
            </a:r>
          </a:p>
        </p:txBody>
      </p:sp>
      <p:sp>
        <p:nvSpPr>
          <p:cNvPr id="5" name="TextBox 4"/>
          <p:cNvSpPr txBox="1"/>
          <p:nvPr/>
        </p:nvSpPr>
        <p:spPr>
          <a:xfrm>
            <a:off x="914400" y="3383280"/>
            <a:ext cx="10332720" cy="457200"/>
          </a:xfrm>
          <a:prstGeom prst="rect">
            <a:avLst/>
          </a:prstGeom>
          <a:noFill/>
        </p:spPr>
        <p:txBody>
          <a:bodyPr wrap="square">
            <a:spAutoFit/>
          </a:bodyPr>
          <a:lstStyle/>
          <a:p>
            <a:pPr algn="ctr">
              <a:defRPr sz="1600" b="0">
                <a:solidFill>
                  <a:srgbClr val="8B949E"/>
                </a:solidFill>
                <a:latin typeface="Calibri" panose="020F0502020204030204"/>
              </a:defRPr>
            </a:pPr>
            <a:r>
              <a:t>React 19  ·  Supabase  ·  Vite 8  ·  Tailwind CSS 4</a:t>
            </a:r>
          </a:p>
        </p:txBody>
      </p:sp>
      <p:sp>
        <p:nvSpPr>
          <p:cNvPr id="6" name="TextBox 5"/>
          <p:cNvSpPr txBox="1"/>
          <p:nvPr/>
        </p:nvSpPr>
        <p:spPr>
          <a:xfrm>
            <a:off x="914400" y="4572000"/>
            <a:ext cx="10332720" cy="365760"/>
          </a:xfrm>
          <a:prstGeom prst="rect">
            <a:avLst/>
          </a:prstGeom>
          <a:noFill/>
        </p:spPr>
        <p:txBody>
          <a:bodyPr wrap="square">
            <a:spAutoFit/>
          </a:bodyPr>
          <a:lstStyle/>
          <a:p>
            <a:pPr algn="ctr">
              <a:defRPr sz="1400" b="0">
                <a:solidFill>
                  <a:srgbClr val="E1E4E8"/>
                </a:solidFill>
                <a:latin typeface="Calibri" panose="020F0502020204030204"/>
              </a:defRPr>
            </a:pPr>
            <a:r>
              <a:t>@goanarbolkong  ·  @MemerZxZ  ·  @Echeq</a:t>
            </a:r>
          </a:p>
        </p:txBody>
      </p:sp>
      <p:sp>
        <p:nvSpPr>
          <p:cNvPr id="7" name="TextBox 6"/>
          <p:cNvSpPr txBox="1"/>
          <p:nvPr/>
        </p:nvSpPr>
        <p:spPr>
          <a:xfrm>
            <a:off x="914400" y="5029200"/>
            <a:ext cx="10332720" cy="365760"/>
          </a:xfrm>
          <a:prstGeom prst="rect">
            <a:avLst/>
          </a:prstGeom>
          <a:noFill/>
        </p:spPr>
        <p:txBody>
          <a:bodyPr wrap="square">
            <a:spAutoFit/>
          </a:bodyPr>
          <a:lstStyle/>
          <a:p>
            <a:pPr algn="ctr">
              <a:defRPr sz="1200" b="0">
                <a:solidFill>
                  <a:srgbClr val="8B949E"/>
                </a:solidFill>
                <a:latin typeface="Calibri" panose="020F0502020204030204"/>
              </a:defRPr>
            </a:pPr>
            <a:r>
              <a:t>July 2026</a:t>
            </a:r>
          </a:p>
        </p:txBody>
      </p:sp>
      <p:sp>
        <p:nvSpPr>
          <p:cNvPr id="8" name="Rectangle 7"/>
          <p:cNvSpPr/>
          <p:nvPr/>
        </p:nvSpPr>
        <p:spPr>
          <a:xfrm>
            <a:off x="4114800" y="6217920"/>
            <a:ext cx="39319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4572000" cy="583565"/>
          </a:xfrm>
          <a:prstGeom prst="rect">
            <a:avLst/>
          </a:prstGeom>
          <a:noFill/>
        </p:spPr>
        <p:txBody>
          <a:bodyPr wrap="square">
            <a:spAutoFit/>
          </a:bodyPr>
          <a:lstStyle/>
          <a:p>
            <a:pPr algn="l">
              <a:defRPr sz="3200" b="1">
                <a:solidFill>
                  <a:srgbClr val="FFFFFF"/>
                </a:solidFill>
                <a:latin typeface="Calibri" panose="020F0502020204030204"/>
              </a:defRPr>
            </a:pPr>
            <a:r>
              <a:rPr lang="en-US" altLang="zh-CN"/>
              <a:t>Table of Contents</a:t>
            </a:r>
            <a:endParaRPr lang="en-US" altLang="zh-CN"/>
          </a:p>
        </p:txBody>
      </p:sp>
      <p:sp>
        <p:nvSpPr>
          <p:cNvPr id="4" name="Rectangle 3"/>
          <p:cNvSpPr/>
          <p:nvPr/>
        </p:nvSpPr>
        <p:spPr>
          <a:xfrm>
            <a:off x="914400" y="1005840"/>
            <a:ext cx="18288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06755" y="1463040"/>
            <a:ext cx="573405" cy="3536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1100" b="1">
                <a:solidFill>
                  <a:srgbClr val="FFFFFF"/>
                </a:solidFill>
              </a:defRPr>
            </a:pPr>
            <a:r>
              <a:rPr sz="1400"/>
              <a:t>01</a:t>
            </a:r>
            <a:endParaRPr sz="1400"/>
          </a:p>
        </p:txBody>
      </p:sp>
      <p:sp>
        <p:nvSpPr>
          <p:cNvPr id="6" name="TextBox 5"/>
          <p:cNvSpPr txBox="1"/>
          <p:nvPr/>
        </p:nvSpPr>
        <p:spPr>
          <a:xfrm>
            <a:off x="1417320" y="1437640"/>
            <a:ext cx="2743200" cy="368300"/>
          </a:xfrm>
          <a:prstGeom prst="rect">
            <a:avLst/>
          </a:prstGeom>
          <a:noFill/>
        </p:spPr>
        <p:txBody>
          <a:bodyPr wrap="square">
            <a:spAutoFit/>
          </a:bodyPr>
          <a:lstStyle/>
          <a:p>
            <a:pPr algn="l">
              <a:defRPr sz="1500" b="1">
                <a:solidFill>
                  <a:srgbClr val="FFFFFF"/>
                </a:solidFill>
                <a:latin typeface="Calibri" panose="020F0502020204030204"/>
              </a:defRPr>
            </a:pPr>
            <a:r>
              <a:rPr sz="1800"/>
              <a:t>Project Overview</a:t>
            </a:r>
            <a:endParaRPr sz="1800"/>
          </a:p>
        </p:txBody>
      </p:sp>
      <p:sp>
        <p:nvSpPr>
          <p:cNvPr id="7" name="TextBox 6"/>
          <p:cNvSpPr txBox="1"/>
          <p:nvPr/>
        </p:nvSpPr>
        <p:spPr>
          <a:xfrm>
            <a:off x="1417320" y="1737360"/>
            <a:ext cx="2743200" cy="306705"/>
          </a:xfrm>
          <a:prstGeom prst="rect">
            <a:avLst/>
          </a:prstGeom>
          <a:noFill/>
        </p:spPr>
        <p:txBody>
          <a:bodyPr wrap="square">
            <a:spAutoFit/>
          </a:bodyPr>
          <a:lstStyle/>
          <a:p>
            <a:pPr algn="l">
              <a:defRPr sz="1100" b="0">
                <a:solidFill>
                  <a:srgbClr val="8B949E"/>
                </a:solidFill>
                <a:latin typeface="Calibri" panose="020F0502020204030204"/>
              </a:defRPr>
            </a:pPr>
            <a:r>
              <a:rPr sz="1400"/>
              <a:t>Problem, goal &amp; solution</a:t>
            </a:r>
            <a:endParaRPr sz="1400"/>
          </a:p>
        </p:txBody>
      </p:sp>
      <p:sp>
        <p:nvSpPr>
          <p:cNvPr id="8" name="Oval 7"/>
          <p:cNvSpPr/>
          <p:nvPr/>
        </p:nvSpPr>
        <p:spPr>
          <a:xfrm>
            <a:off x="4181475" y="1463040"/>
            <a:ext cx="573405" cy="3536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1100" b="1">
                <a:solidFill>
                  <a:srgbClr val="FFFFFF"/>
                </a:solidFill>
              </a:defRPr>
            </a:pPr>
            <a:r>
              <a:rPr sz="1400"/>
              <a:t>02</a:t>
            </a:r>
            <a:endParaRPr sz="1400"/>
          </a:p>
        </p:txBody>
      </p:sp>
      <p:sp>
        <p:nvSpPr>
          <p:cNvPr id="9" name="TextBox 8"/>
          <p:cNvSpPr txBox="1"/>
          <p:nvPr/>
        </p:nvSpPr>
        <p:spPr>
          <a:xfrm>
            <a:off x="4892040" y="1437640"/>
            <a:ext cx="2743200" cy="368300"/>
          </a:xfrm>
          <a:prstGeom prst="rect">
            <a:avLst/>
          </a:prstGeom>
          <a:noFill/>
        </p:spPr>
        <p:txBody>
          <a:bodyPr wrap="square">
            <a:spAutoFit/>
          </a:bodyPr>
          <a:lstStyle/>
          <a:p>
            <a:pPr algn="l">
              <a:defRPr sz="1500" b="1">
                <a:solidFill>
                  <a:srgbClr val="FFFFFF"/>
                </a:solidFill>
                <a:latin typeface="Calibri" panose="020F0502020204030204"/>
              </a:defRPr>
            </a:pPr>
            <a:r>
              <a:rPr sz="1800"/>
              <a:t>Core Business Process</a:t>
            </a:r>
            <a:endParaRPr sz="1800"/>
          </a:p>
        </p:txBody>
      </p:sp>
      <p:sp>
        <p:nvSpPr>
          <p:cNvPr id="10" name="TextBox 9"/>
          <p:cNvSpPr txBox="1"/>
          <p:nvPr/>
        </p:nvSpPr>
        <p:spPr>
          <a:xfrm>
            <a:off x="4892040" y="1737360"/>
            <a:ext cx="2743200" cy="306705"/>
          </a:xfrm>
          <a:prstGeom prst="rect">
            <a:avLst/>
          </a:prstGeom>
          <a:noFill/>
        </p:spPr>
        <p:txBody>
          <a:bodyPr wrap="square">
            <a:spAutoFit/>
          </a:bodyPr>
          <a:lstStyle/>
          <a:p>
            <a:pPr algn="l">
              <a:defRPr sz="1100" b="0">
                <a:solidFill>
                  <a:srgbClr val="8B949E"/>
                </a:solidFill>
                <a:latin typeface="Calibri" panose="020F0502020204030204"/>
              </a:defRPr>
            </a:pPr>
            <a:r>
              <a:rPr sz="1400"/>
              <a:t>End-to-end user journey</a:t>
            </a:r>
            <a:endParaRPr sz="1400"/>
          </a:p>
        </p:txBody>
      </p:sp>
      <p:sp>
        <p:nvSpPr>
          <p:cNvPr id="11" name="Oval 10"/>
          <p:cNvSpPr/>
          <p:nvPr/>
        </p:nvSpPr>
        <p:spPr>
          <a:xfrm>
            <a:off x="7656195" y="1463040"/>
            <a:ext cx="573405" cy="3536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1100" b="1">
                <a:solidFill>
                  <a:srgbClr val="FFFFFF"/>
                </a:solidFill>
              </a:defRPr>
            </a:pPr>
            <a:r>
              <a:rPr sz="1400"/>
              <a:t>03</a:t>
            </a:r>
            <a:endParaRPr sz="1400"/>
          </a:p>
        </p:txBody>
      </p:sp>
      <p:sp>
        <p:nvSpPr>
          <p:cNvPr id="12" name="TextBox 11"/>
          <p:cNvSpPr txBox="1"/>
          <p:nvPr/>
        </p:nvSpPr>
        <p:spPr>
          <a:xfrm>
            <a:off x="8366760" y="1437640"/>
            <a:ext cx="2743200" cy="368300"/>
          </a:xfrm>
          <a:prstGeom prst="rect">
            <a:avLst/>
          </a:prstGeom>
          <a:noFill/>
        </p:spPr>
        <p:txBody>
          <a:bodyPr wrap="square">
            <a:spAutoFit/>
          </a:bodyPr>
          <a:lstStyle/>
          <a:p>
            <a:pPr algn="l">
              <a:defRPr sz="1500" b="1">
                <a:solidFill>
                  <a:srgbClr val="FFFFFF"/>
                </a:solidFill>
                <a:latin typeface="Calibri" panose="020F0502020204030204"/>
              </a:defRPr>
            </a:pPr>
            <a:r>
              <a:rPr sz="1800"/>
              <a:t>Core Features</a:t>
            </a:r>
            <a:endParaRPr sz="1800"/>
          </a:p>
        </p:txBody>
      </p:sp>
      <p:sp>
        <p:nvSpPr>
          <p:cNvPr id="13" name="TextBox 12"/>
          <p:cNvSpPr txBox="1"/>
          <p:nvPr/>
        </p:nvSpPr>
        <p:spPr>
          <a:xfrm>
            <a:off x="8366760" y="1737360"/>
            <a:ext cx="2743200" cy="521970"/>
          </a:xfrm>
          <a:prstGeom prst="rect">
            <a:avLst/>
          </a:prstGeom>
          <a:noFill/>
        </p:spPr>
        <p:txBody>
          <a:bodyPr wrap="square">
            <a:spAutoFit/>
          </a:bodyPr>
          <a:lstStyle/>
          <a:p>
            <a:pPr algn="l">
              <a:defRPr sz="1100" b="0">
                <a:solidFill>
                  <a:srgbClr val="8B949E"/>
                </a:solidFill>
                <a:latin typeface="Calibri" panose="020F0502020204030204"/>
              </a:defRPr>
            </a:pPr>
            <a:r>
              <a:rPr sz="1400"/>
              <a:t>Task management, real-time, views &amp; export, RBAC</a:t>
            </a:r>
            <a:endParaRPr sz="1400"/>
          </a:p>
        </p:txBody>
      </p:sp>
      <p:sp>
        <p:nvSpPr>
          <p:cNvPr id="14" name="Oval 13"/>
          <p:cNvSpPr/>
          <p:nvPr/>
        </p:nvSpPr>
        <p:spPr>
          <a:xfrm>
            <a:off x="706755" y="2834640"/>
            <a:ext cx="573405" cy="3536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1100" b="1">
                <a:solidFill>
                  <a:srgbClr val="FFFFFF"/>
                </a:solidFill>
              </a:defRPr>
            </a:pPr>
            <a:r>
              <a:rPr sz="1400"/>
              <a:t>04</a:t>
            </a:r>
            <a:endParaRPr sz="1400"/>
          </a:p>
        </p:txBody>
      </p:sp>
      <p:sp>
        <p:nvSpPr>
          <p:cNvPr id="15" name="TextBox 14"/>
          <p:cNvSpPr txBox="1"/>
          <p:nvPr/>
        </p:nvSpPr>
        <p:spPr>
          <a:xfrm>
            <a:off x="1417320" y="2809240"/>
            <a:ext cx="2743200" cy="368300"/>
          </a:xfrm>
          <a:prstGeom prst="rect">
            <a:avLst/>
          </a:prstGeom>
          <a:noFill/>
        </p:spPr>
        <p:txBody>
          <a:bodyPr wrap="square">
            <a:spAutoFit/>
          </a:bodyPr>
          <a:lstStyle/>
          <a:p>
            <a:pPr algn="l">
              <a:defRPr sz="1500" b="1">
                <a:solidFill>
                  <a:srgbClr val="FFFFFF"/>
                </a:solidFill>
                <a:latin typeface="Calibri" panose="020F0502020204030204"/>
              </a:defRPr>
            </a:pPr>
            <a:r>
              <a:rPr sz="1800"/>
              <a:t>Architecture &amp; Tech Stack</a:t>
            </a:r>
            <a:endParaRPr sz="1800"/>
          </a:p>
        </p:txBody>
      </p:sp>
      <p:sp>
        <p:nvSpPr>
          <p:cNvPr id="16" name="TextBox 15"/>
          <p:cNvSpPr txBox="1"/>
          <p:nvPr/>
        </p:nvSpPr>
        <p:spPr>
          <a:xfrm>
            <a:off x="1417320" y="3108960"/>
            <a:ext cx="2743200" cy="306705"/>
          </a:xfrm>
          <a:prstGeom prst="rect">
            <a:avLst/>
          </a:prstGeom>
          <a:noFill/>
        </p:spPr>
        <p:txBody>
          <a:bodyPr wrap="square">
            <a:spAutoFit/>
          </a:bodyPr>
          <a:lstStyle/>
          <a:p>
            <a:pPr algn="l">
              <a:defRPr sz="1100" b="0">
                <a:solidFill>
                  <a:srgbClr val="8B949E"/>
                </a:solidFill>
                <a:latin typeface="Calibri" panose="020F0502020204030204"/>
              </a:defRPr>
            </a:pPr>
            <a:r>
              <a:rPr sz="1400"/>
              <a:t>React 19 + Supabase stack</a:t>
            </a:r>
            <a:endParaRPr sz="1400"/>
          </a:p>
        </p:txBody>
      </p:sp>
      <p:sp>
        <p:nvSpPr>
          <p:cNvPr id="17" name="Oval 16"/>
          <p:cNvSpPr/>
          <p:nvPr/>
        </p:nvSpPr>
        <p:spPr>
          <a:xfrm>
            <a:off x="4181475" y="2834640"/>
            <a:ext cx="573405" cy="3536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1100" b="1">
                <a:solidFill>
                  <a:srgbClr val="FFFFFF"/>
                </a:solidFill>
              </a:defRPr>
            </a:pPr>
            <a:r>
              <a:rPr sz="1400"/>
              <a:t>05</a:t>
            </a:r>
            <a:endParaRPr sz="1400"/>
          </a:p>
        </p:txBody>
      </p:sp>
      <p:sp>
        <p:nvSpPr>
          <p:cNvPr id="18" name="TextBox 17"/>
          <p:cNvSpPr txBox="1"/>
          <p:nvPr/>
        </p:nvSpPr>
        <p:spPr>
          <a:xfrm>
            <a:off x="4892040" y="2809240"/>
            <a:ext cx="2743200" cy="368300"/>
          </a:xfrm>
          <a:prstGeom prst="rect">
            <a:avLst/>
          </a:prstGeom>
          <a:noFill/>
        </p:spPr>
        <p:txBody>
          <a:bodyPr wrap="square">
            <a:spAutoFit/>
          </a:bodyPr>
          <a:lstStyle/>
          <a:p>
            <a:pPr algn="l">
              <a:defRPr sz="1500" b="1">
                <a:solidFill>
                  <a:srgbClr val="FFFFFF"/>
                </a:solidFill>
                <a:latin typeface="Calibri" panose="020F0502020204030204"/>
              </a:defRPr>
            </a:pPr>
            <a:r>
              <a:rPr sz="1800"/>
              <a:t>Technical Highlights</a:t>
            </a:r>
            <a:endParaRPr sz="1800"/>
          </a:p>
        </p:txBody>
      </p:sp>
      <p:sp>
        <p:nvSpPr>
          <p:cNvPr id="19" name="TextBox 18"/>
          <p:cNvSpPr txBox="1"/>
          <p:nvPr/>
        </p:nvSpPr>
        <p:spPr>
          <a:xfrm>
            <a:off x="4892040" y="3108960"/>
            <a:ext cx="2743200" cy="521970"/>
          </a:xfrm>
          <a:prstGeom prst="rect">
            <a:avLst/>
          </a:prstGeom>
          <a:noFill/>
        </p:spPr>
        <p:txBody>
          <a:bodyPr wrap="square">
            <a:spAutoFit/>
          </a:bodyPr>
          <a:lstStyle/>
          <a:p>
            <a:pPr algn="l">
              <a:defRPr sz="1100" b="0">
                <a:solidFill>
                  <a:srgbClr val="8B949E"/>
                </a:solidFill>
                <a:latin typeface="Calibri" panose="020F0502020204030204"/>
              </a:defRPr>
            </a:pPr>
            <a:r>
              <a:rPr sz="1400"/>
              <a:t>Positioning, RLS, 29 migrations, real-time architecture</a:t>
            </a:r>
            <a:endParaRPr sz="1400"/>
          </a:p>
        </p:txBody>
      </p:sp>
      <p:sp>
        <p:nvSpPr>
          <p:cNvPr id="20" name="Oval 19"/>
          <p:cNvSpPr/>
          <p:nvPr/>
        </p:nvSpPr>
        <p:spPr>
          <a:xfrm>
            <a:off x="7656195" y="2834640"/>
            <a:ext cx="573405" cy="3536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1100" b="1">
                <a:solidFill>
                  <a:srgbClr val="FFFFFF"/>
                </a:solidFill>
              </a:defRPr>
            </a:pPr>
            <a:r>
              <a:rPr sz="1400"/>
              <a:t>06</a:t>
            </a:r>
            <a:endParaRPr sz="1400"/>
          </a:p>
        </p:txBody>
      </p:sp>
      <p:sp>
        <p:nvSpPr>
          <p:cNvPr id="21" name="TextBox 20"/>
          <p:cNvSpPr txBox="1"/>
          <p:nvPr/>
        </p:nvSpPr>
        <p:spPr>
          <a:xfrm>
            <a:off x="8366760" y="2809240"/>
            <a:ext cx="2743200" cy="368300"/>
          </a:xfrm>
          <a:prstGeom prst="rect">
            <a:avLst/>
          </a:prstGeom>
          <a:noFill/>
        </p:spPr>
        <p:txBody>
          <a:bodyPr wrap="square">
            <a:spAutoFit/>
          </a:bodyPr>
          <a:lstStyle/>
          <a:p>
            <a:pPr algn="l">
              <a:defRPr sz="1500" b="1">
                <a:solidFill>
                  <a:srgbClr val="FFFFFF"/>
                </a:solidFill>
                <a:latin typeface="Calibri" panose="020F0502020204030204"/>
              </a:defRPr>
            </a:pPr>
            <a:r>
              <a:rPr sz="1800"/>
              <a:t>Challenges &amp; Solutions</a:t>
            </a:r>
            <a:endParaRPr sz="1800"/>
          </a:p>
        </p:txBody>
      </p:sp>
      <p:sp>
        <p:nvSpPr>
          <p:cNvPr id="22" name="TextBox 21"/>
          <p:cNvSpPr txBox="1"/>
          <p:nvPr/>
        </p:nvSpPr>
        <p:spPr>
          <a:xfrm>
            <a:off x="8366760" y="3108960"/>
            <a:ext cx="2743200" cy="306705"/>
          </a:xfrm>
          <a:prstGeom prst="rect">
            <a:avLst/>
          </a:prstGeom>
          <a:noFill/>
        </p:spPr>
        <p:txBody>
          <a:bodyPr wrap="square">
            <a:spAutoFit/>
          </a:bodyPr>
          <a:lstStyle/>
          <a:p>
            <a:pPr algn="l">
              <a:defRPr sz="1100" b="0">
                <a:solidFill>
                  <a:srgbClr val="8B949E"/>
                </a:solidFill>
                <a:latin typeface="Calibri" panose="020F0502020204030204"/>
              </a:defRPr>
            </a:pPr>
            <a:r>
              <a:rPr sz="1400"/>
              <a:t>Key difficulties overcome</a:t>
            </a:r>
            <a:endParaRPr sz="1400"/>
          </a:p>
        </p:txBody>
      </p:sp>
      <p:sp>
        <p:nvSpPr>
          <p:cNvPr id="23" name="Oval 22"/>
          <p:cNvSpPr/>
          <p:nvPr/>
        </p:nvSpPr>
        <p:spPr>
          <a:xfrm>
            <a:off x="706755" y="4206240"/>
            <a:ext cx="573405" cy="3536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1100" b="1">
                <a:solidFill>
                  <a:srgbClr val="FFFFFF"/>
                </a:solidFill>
              </a:defRPr>
            </a:pPr>
            <a:r>
              <a:rPr sz="1400"/>
              <a:t>07</a:t>
            </a:r>
            <a:endParaRPr sz="1400"/>
          </a:p>
        </p:txBody>
      </p:sp>
      <p:sp>
        <p:nvSpPr>
          <p:cNvPr id="24" name="TextBox 23"/>
          <p:cNvSpPr txBox="1"/>
          <p:nvPr/>
        </p:nvSpPr>
        <p:spPr>
          <a:xfrm>
            <a:off x="1417320" y="4180840"/>
            <a:ext cx="2743200" cy="368300"/>
          </a:xfrm>
          <a:prstGeom prst="rect">
            <a:avLst/>
          </a:prstGeom>
          <a:noFill/>
        </p:spPr>
        <p:txBody>
          <a:bodyPr wrap="square">
            <a:spAutoFit/>
          </a:bodyPr>
          <a:lstStyle/>
          <a:p>
            <a:pPr algn="l">
              <a:defRPr sz="1500" b="1">
                <a:solidFill>
                  <a:srgbClr val="FFFFFF"/>
                </a:solidFill>
                <a:latin typeface="Calibri" panose="020F0502020204030204"/>
              </a:defRPr>
            </a:pPr>
            <a:r>
              <a:rPr sz="1800"/>
              <a:t>Individual Contributions</a:t>
            </a:r>
            <a:endParaRPr sz="1800"/>
          </a:p>
        </p:txBody>
      </p:sp>
      <p:sp>
        <p:nvSpPr>
          <p:cNvPr id="25" name="TextBox 24"/>
          <p:cNvSpPr txBox="1"/>
          <p:nvPr/>
        </p:nvSpPr>
        <p:spPr>
          <a:xfrm>
            <a:off x="1417320" y="4480560"/>
            <a:ext cx="2743200" cy="306705"/>
          </a:xfrm>
          <a:prstGeom prst="rect">
            <a:avLst/>
          </a:prstGeom>
          <a:noFill/>
        </p:spPr>
        <p:txBody>
          <a:bodyPr wrap="square">
            <a:spAutoFit/>
          </a:bodyPr>
          <a:lstStyle/>
          <a:p>
            <a:pPr algn="l">
              <a:defRPr sz="1100" b="0">
                <a:solidFill>
                  <a:srgbClr val="8B949E"/>
                </a:solidFill>
                <a:latin typeface="Calibri" panose="020F0502020204030204"/>
              </a:defRPr>
            </a:pPr>
            <a:r>
              <a:rPr sz="1400"/>
              <a:t>Who built what</a:t>
            </a:r>
            <a:endParaRPr sz="1400"/>
          </a:p>
        </p:txBody>
      </p:sp>
      <p:sp>
        <p:nvSpPr>
          <p:cNvPr id="26" name="Oval 25"/>
          <p:cNvSpPr/>
          <p:nvPr/>
        </p:nvSpPr>
        <p:spPr>
          <a:xfrm>
            <a:off x="4181475" y="4206240"/>
            <a:ext cx="573405" cy="3536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1100" b="1">
                <a:solidFill>
                  <a:srgbClr val="FFFFFF"/>
                </a:solidFill>
              </a:defRPr>
            </a:pPr>
            <a:r>
              <a:rPr sz="1400"/>
              <a:t>08</a:t>
            </a:r>
            <a:endParaRPr sz="1400"/>
          </a:p>
        </p:txBody>
      </p:sp>
      <p:sp>
        <p:nvSpPr>
          <p:cNvPr id="27" name="TextBox 26"/>
          <p:cNvSpPr txBox="1"/>
          <p:nvPr/>
        </p:nvSpPr>
        <p:spPr>
          <a:xfrm>
            <a:off x="4892040" y="4180840"/>
            <a:ext cx="2743200" cy="368300"/>
          </a:xfrm>
          <a:prstGeom prst="rect">
            <a:avLst/>
          </a:prstGeom>
          <a:noFill/>
        </p:spPr>
        <p:txBody>
          <a:bodyPr wrap="square">
            <a:spAutoFit/>
          </a:bodyPr>
          <a:lstStyle/>
          <a:p>
            <a:pPr algn="l">
              <a:defRPr sz="1500" b="1">
                <a:solidFill>
                  <a:srgbClr val="FFFFFF"/>
                </a:solidFill>
                <a:latin typeface="Calibri" panose="020F0502020204030204"/>
              </a:defRPr>
            </a:pPr>
            <a:r>
              <a:rPr sz="1800"/>
              <a:t>Lessons Learned</a:t>
            </a:r>
            <a:endParaRPr sz="1800"/>
          </a:p>
        </p:txBody>
      </p:sp>
      <p:sp>
        <p:nvSpPr>
          <p:cNvPr id="28" name="TextBox 27"/>
          <p:cNvSpPr txBox="1"/>
          <p:nvPr/>
        </p:nvSpPr>
        <p:spPr>
          <a:xfrm>
            <a:off x="4892040" y="4480560"/>
            <a:ext cx="2743200" cy="306705"/>
          </a:xfrm>
          <a:prstGeom prst="rect">
            <a:avLst/>
          </a:prstGeom>
          <a:noFill/>
        </p:spPr>
        <p:txBody>
          <a:bodyPr wrap="square">
            <a:spAutoFit/>
          </a:bodyPr>
          <a:lstStyle/>
          <a:p>
            <a:pPr algn="l">
              <a:defRPr sz="1100" b="0">
                <a:solidFill>
                  <a:srgbClr val="8B949E"/>
                </a:solidFill>
                <a:latin typeface="Calibri" panose="020F0502020204030204"/>
              </a:defRPr>
            </a:pPr>
            <a:r>
              <a:rPr sz="1400"/>
              <a:t>Key takeaways</a:t>
            </a:r>
            <a:endParaRPr sz="1400"/>
          </a:p>
        </p:txBody>
      </p:sp>
      <p:sp>
        <p:nvSpPr>
          <p:cNvPr id="29" name="Oval 28"/>
          <p:cNvSpPr/>
          <p:nvPr/>
        </p:nvSpPr>
        <p:spPr>
          <a:xfrm>
            <a:off x="7656195" y="4206240"/>
            <a:ext cx="573405" cy="3536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1100" b="1">
                <a:solidFill>
                  <a:srgbClr val="FFFFFF"/>
                </a:solidFill>
              </a:defRPr>
            </a:pPr>
            <a:r>
              <a:rPr sz="1400"/>
              <a:t>09</a:t>
            </a:r>
            <a:endParaRPr sz="1400"/>
          </a:p>
        </p:txBody>
      </p:sp>
      <p:sp>
        <p:nvSpPr>
          <p:cNvPr id="30" name="TextBox 29"/>
          <p:cNvSpPr txBox="1"/>
          <p:nvPr/>
        </p:nvSpPr>
        <p:spPr>
          <a:xfrm>
            <a:off x="8366760" y="4180840"/>
            <a:ext cx="2743200" cy="368300"/>
          </a:xfrm>
          <a:prstGeom prst="rect">
            <a:avLst/>
          </a:prstGeom>
          <a:noFill/>
        </p:spPr>
        <p:txBody>
          <a:bodyPr wrap="square">
            <a:spAutoFit/>
          </a:bodyPr>
          <a:lstStyle/>
          <a:p>
            <a:pPr algn="l">
              <a:defRPr sz="1500" b="1">
                <a:solidFill>
                  <a:srgbClr val="FFFFFF"/>
                </a:solidFill>
                <a:latin typeface="Calibri" panose="020F0502020204030204"/>
              </a:defRPr>
            </a:pPr>
            <a:r>
              <a:rPr sz="1800"/>
              <a:t>Live Demo</a:t>
            </a:r>
            <a:endParaRPr sz="1800"/>
          </a:p>
        </p:txBody>
      </p:sp>
      <p:sp>
        <p:nvSpPr>
          <p:cNvPr id="31" name="TextBox 30"/>
          <p:cNvSpPr txBox="1"/>
          <p:nvPr/>
        </p:nvSpPr>
        <p:spPr>
          <a:xfrm>
            <a:off x="8366760" y="4480560"/>
            <a:ext cx="2743200" cy="306705"/>
          </a:xfrm>
          <a:prstGeom prst="rect">
            <a:avLst/>
          </a:prstGeom>
          <a:noFill/>
        </p:spPr>
        <p:txBody>
          <a:bodyPr wrap="square">
            <a:spAutoFit/>
          </a:bodyPr>
          <a:lstStyle/>
          <a:p>
            <a:pPr algn="l">
              <a:defRPr sz="1100" b="0">
                <a:solidFill>
                  <a:srgbClr val="8B949E"/>
                </a:solidFill>
                <a:latin typeface="Calibri" panose="020F0502020204030204"/>
              </a:defRPr>
            </a:pPr>
            <a:r>
              <a:rPr sz="1400"/>
              <a:t>See it in action</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4572000" cy="548640"/>
          </a:xfrm>
          <a:prstGeom prst="rect">
            <a:avLst/>
          </a:prstGeom>
          <a:noFill/>
        </p:spPr>
        <p:txBody>
          <a:bodyPr wrap="square">
            <a:spAutoFit/>
          </a:bodyPr>
          <a:lstStyle/>
          <a:p>
            <a:pPr algn="l">
              <a:defRPr sz="3200" b="1">
                <a:solidFill>
                  <a:srgbClr val="FFFFFF"/>
                </a:solidFill>
                <a:latin typeface="Calibri" panose="020F0502020204030204"/>
              </a:defRPr>
            </a:pPr>
            <a:r>
              <a:t>Project Overview</a:t>
            </a:r>
          </a:p>
        </p:txBody>
      </p:sp>
      <p:sp>
        <p:nvSpPr>
          <p:cNvPr id="4" name="Rectangle 3"/>
          <p:cNvSpPr/>
          <p:nvPr/>
        </p:nvSpPr>
        <p:spPr>
          <a:xfrm>
            <a:off x="914400" y="1005840"/>
            <a:ext cx="18288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463040"/>
            <a:ext cx="4846320" cy="41148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645920"/>
            <a:ext cx="4297680" cy="365760"/>
          </a:xfrm>
          <a:prstGeom prst="rect">
            <a:avLst/>
          </a:prstGeom>
          <a:noFill/>
        </p:spPr>
        <p:txBody>
          <a:bodyPr wrap="square">
            <a:spAutoFit/>
          </a:bodyPr>
          <a:lstStyle/>
          <a:p>
            <a:pPr algn="l">
              <a:defRPr sz="2000" b="1">
                <a:solidFill>
                  <a:srgbClr val="CF222E"/>
                </a:solidFill>
                <a:latin typeface="Calibri" panose="020F0502020204030204"/>
              </a:defRPr>
            </a:pPr>
            <a:r>
              <a:t>✕  The Problem</a:t>
            </a:r>
          </a:p>
        </p:txBody>
      </p:sp>
      <p:sp>
        <p:nvSpPr>
          <p:cNvPr id="7" name="TextBox 6"/>
          <p:cNvSpPr txBox="1"/>
          <p:nvPr/>
        </p:nvSpPr>
        <p:spPr>
          <a:xfrm>
            <a:off x="1188720" y="2194560"/>
            <a:ext cx="4297680" cy="3200400"/>
          </a:xfrm>
          <a:prstGeom prst="rect">
            <a:avLst/>
          </a:prstGeom>
          <a:noFill/>
        </p:spPr>
        <p:txBody>
          <a:bodyPr wrap="square">
            <a:spAutoFit/>
          </a:bodyPr>
          <a:lstStyle/>
          <a:p>
            <a:pPr>
              <a:spcAft>
                <a:spcPts val="200"/>
              </a:spcAft>
              <a:defRPr sz="1300" b="0">
                <a:solidFill>
                  <a:srgbClr val="E1E4E8"/>
                </a:solidFill>
                <a:latin typeface="Calibri" panose="020F0502020204030204"/>
              </a:defRPr>
            </a:pPr>
            <a:r>
              <a:t>• Fragmented tools — information scattered across platforms</a:t>
            </a:r>
          </a:p>
          <a:p>
            <a:pPr>
              <a:spcAft>
                <a:spcPts val="200"/>
              </a:spcAft>
              <a:defRPr sz="1300" b="0">
                <a:solidFill>
                  <a:srgbClr val="E1E4E8"/>
                </a:solidFill>
                <a:latin typeface="Calibri" panose="020F0502020204030204"/>
              </a:defRPr>
            </a:pPr>
            <a:r>
              <a:t>• No real-time sync — delays in progress updates</a:t>
            </a:r>
          </a:p>
          <a:p>
            <a:pPr>
              <a:spcAft>
                <a:spcPts val="200"/>
              </a:spcAft>
              <a:defRPr sz="1300" b="0">
                <a:solidFill>
                  <a:srgbClr val="E1E4E8"/>
                </a:solidFill>
                <a:latin typeface="Calibri" panose="020F0502020204030204"/>
              </a:defRPr>
            </a:pPr>
            <a:r>
              <a:t>• Complex deployment — heavy infrastructure, high costs</a:t>
            </a:r>
          </a:p>
          <a:p>
            <a:pPr>
              <a:spcAft>
                <a:spcPts val="200"/>
              </a:spcAft>
              <a:defRPr sz="1300" b="0">
                <a:solidFill>
                  <a:srgbClr val="E1E4E8"/>
                </a:solidFill>
                <a:latin typeface="Calibri" panose="020F0502020204030204"/>
              </a:defRPr>
            </a:pPr>
            <a:r>
              <a:t>• Rigid workflows — limited customization</a:t>
            </a:r>
          </a:p>
        </p:txBody>
      </p:sp>
      <p:sp>
        <p:nvSpPr>
          <p:cNvPr id="8" name="Rectangle 7"/>
          <p:cNvSpPr/>
          <p:nvPr/>
        </p:nvSpPr>
        <p:spPr>
          <a:xfrm>
            <a:off x="6400800" y="1463040"/>
            <a:ext cx="4846320" cy="41148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645920"/>
            <a:ext cx="4297680" cy="365760"/>
          </a:xfrm>
          <a:prstGeom prst="rect">
            <a:avLst/>
          </a:prstGeom>
          <a:noFill/>
        </p:spPr>
        <p:txBody>
          <a:bodyPr wrap="square">
            <a:spAutoFit/>
          </a:bodyPr>
          <a:lstStyle/>
          <a:p>
            <a:pPr algn="l">
              <a:defRPr sz="2000" b="1">
                <a:solidFill>
                  <a:srgbClr val="3FB950"/>
                </a:solidFill>
                <a:latin typeface="Calibri" panose="020F0502020204030204"/>
              </a:defRPr>
            </a:pPr>
            <a:r>
              <a:t>✓  PivotPoint — The Solution</a:t>
            </a:r>
          </a:p>
        </p:txBody>
      </p:sp>
      <p:sp>
        <p:nvSpPr>
          <p:cNvPr id="10" name="TextBox 9"/>
          <p:cNvSpPr txBox="1"/>
          <p:nvPr/>
        </p:nvSpPr>
        <p:spPr>
          <a:xfrm>
            <a:off x="6675120" y="2194560"/>
            <a:ext cx="4297680" cy="3200400"/>
          </a:xfrm>
          <a:prstGeom prst="rect">
            <a:avLst/>
          </a:prstGeom>
          <a:noFill/>
        </p:spPr>
        <p:txBody>
          <a:bodyPr wrap="square">
            <a:spAutoFit/>
          </a:bodyPr>
          <a:lstStyle/>
          <a:p>
            <a:pPr>
              <a:spcAft>
                <a:spcPts val="200"/>
              </a:spcAft>
              <a:defRPr sz="1300" b="0">
                <a:solidFill>
                  <a:srgbClr val="E1E4E8"/>
                </a:solidFill>
                <a:latin typeface="Calibri" panose="020F0502020204030204"/>
              </a:defRPr>
            </a:pPr>
            <a:r>
              <a:t>• All-in-one Kanban — tasks, projects, labels in one place</a:t>
            </a:r>
          </a:p>
          <a:p>
            <a:pPr>
              <a:spcAft>
                <a:spcPts val="200"/>
              </a:spcAft>
              <a:defRPr sz="1300" b="0">
                <a:solidFill>
                  <a:srgbClr val="E1E4E8"/>
                </a:solidFill>
                <a:latin typeface="Calibri" panose="020F0502020204030204"/>
              </a:defRPr>
            </a:pPr>
            <a:r>
              <a:t>• Millisecond real-time sync via Supabase Realtime</a:t>
            </a:r>
          </a:p>
          <a:p>
            <a:pPr>
              <a:spcAft>
                <a:spcPts val="200"/>
              </a:spcAft>
              <a:defRPr sz="1300" b="0">
                <a:solidFill>
                  <a:srgbClr val="E1E4E8"/>
                </a:solidFill>
                <a:latin typeface="Calibri" panose="020F0502020204030204"/>
              </a:defRPr>
            </a:pPr>
            <a:r>
              <a:t>• Zero server ops — fully serverless on Supabase</a:t>
            </a:r>
          </a:p>
          <a:p>
            <a:pPr>
              <a:spcAft>
                <a:spcPts val="200"/>
              </a:spcAft>
              <a:defRPr sz="1300" b="0">
                <a:solidFill>
                  <a:srgbClr val="E1E4E8"/>
                </a:solidFill>
                <a:latin typeface="Calibri" panose="020F0502020204030204"/>
              </a:defRPr>
            </a:pPr>
            <a:r>
              <a:t>• Fully customizable — 5 views, 5 languages, RBAC</a:t>
            </a:r>
          </a:p>
        </p:txBody>
      </p:sp>
      <p:sp>
        <p:nvSpPr>
          <p:cNvPr id="11" name="Rectangle 10"/>
          <p:cNvSpPr/>
          <p:nvPr/>
        </p:nvSpPr>
        <p:spPr>
          <a:xfrm>
            <a:off x="2743200" y="5852160"/>
            <a:ext cx="6675120" cy="457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5870448"/>
            <a:ext cx="6675120" cy="457200"/>
          </a:xfrm>
          <a:prstGeom prst="rect">
            <a:avLst/>
          </a:prstGeom>
          <a:noFill/>
        </p:spPr>
        <p:txBody>
          <a:bodyPr wrap="square">
            <a:spAutoFit/>
          </a:bodyPr>
          <a:lstStyle/>
          <a:p>
            <a:pPr algn="ctr">
              <a:defRPr sz="1400" b="1">
                <a:solidFill>
                  <a:srgbClr val="FFFFFF"/>
                </a:solidFill>
                <a:latin typeface="Calibri" panose="020F0502020204030204"/>
              </a:defRPr>
            </a:pPr>
            <a:r>
              <a:t>"A lightweight, real-time, fully customizable project management solution"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4572000" cy="548640"/>
          </a:xfrm>
          <a:prstGeom prst="rect">
            <a:avLst/>
          </a:prstGeom>
          <a:noFill/>
        </p:spPr>
        <p:txBody>
          <a:bodyPr wrap="square">
            <a:spAutoFit/>
          </a:bodyPr>
          <a:lstStyle/>
          <a:p>
            <a:pPr algn="l">
              <a:defRPr sz="3200" b="1">
                <a:solidFill>
                  <a:srgbClr val="FFFFFF"/>
                </a:solidFill>
                <a:latin typeface="Calibri" panose="020F0502020204030204"/>
              </a:defRPr>
            </a:pPr>
            <a:r>
              <a:t>Core Business Process</a:t>
            </a:r>
          </a:p>
        </p:txBody>
      </p:sp>
      <p:sp>
        <p:nvSpPr>
          <p:cNvPr id="4" name="Rectangle 3"/>
          <p:cNvSpPr/>
          <p:nvPr/>
        </p:nvSpPr>
        <p:spPr>
          <a:xfrm>
            <a:off x="914400" y="1005840"/>
            <a:ext cx="18288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1920240" cy="18288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20"/>
            <a:ext cx="274320" cy="274320"/>
          </a:xfrm>
          <a:prstGeom prst="rect">
            <a:avLst/>
          </a:prstGeom>
          <a:noFill/>
        </p:spPr>
        <p:txBody>
          <a:bodyPr wrap="square">
            <a:spAutoFit/>
          </a:bodyPr>
          <a:lstStyle/>
          <a:p>
            <a:pPr algn="l">
              <a:defRPr sz="1000" b="1">
                <a:solidFill>
                  <a:srgbClr val="6366F1"/>
                </a:solidFill>
                <a:latin typeface="Calibri" panose="020F0502020204030204"/>
              </a:defRPr>
            </a:pPr>
            <a:r>
              <a:t>1</a:t>
            </a:r>
          </a:p>
        </p:txBody>
      </p:sp>
      <p:sp>
        <p:nvSpPr>
          <p:cNvPr id="7" name="TextBox 6"/>
          <p:cNvSpPr txBox="1"/>
          <p:nvPr/>
        </p:nvSpPr>
        <p:spPr>
          <a:xfrm>
            <a:off x="868680" y="2194560"/>
            <a:ext cx="1645920" cy="640080"/>
          </a:xfrm>
          <a:prstGeom prst="rect">
            <a:avLst/>
          </a:prstGeom>
          <a:noFill/>
        </p:spPr>
        <p:txBody>
          <a:bodyPr wrap="square">
            <a:spAutoFit/>
          </a:bodyPr>
          <a:lstStyle/>
          <a:p>
            <a:pPr algn="ctr">
              <a:defRPr sz="1400" b="1">
                <a:solidFill>
                  <a:srgbClr val="FFFFFF"/>
                </a:solidFill>
                <a:latin typeface="Calibri" panose="020F0502020204030204"/>
              </a:defRPr>
            </a:pPr>
            <a:r>
              <a:t>Environment</a:t>
            </a:r>
            <a:br/>
            <a:r>
              <a:t>Check</a:t>
            </a:r>
          </a:p>
        </p:txBody>
      </p:sp>
      <p:sp>
        <p:nvSpPr>
          <p:cNvPr id="8" name="TextBox 7"/>
          <p:cNvSpPr txBox="1"/>
          <p:nvPr/>
        </p:nvSpPr>
        <p:spPr>
          <a:xfrm>
            <a:off x="868680" y="2880360"/>
            <a:ext cx="1645920" cy="640080"/>
          </a:xfrm>
          <a:prstGeom prst="rect">
            <a:avLst/>
          </a:prstGeom>
          <a:noFill/>
        </p:spPr>
        <p:txBody>
          <a:bodyPr wrap="square">
            <a:spAutoFit/>
          </a:bodyPr>
          <a:lstStyle/>
          <a:p>
            <a:pPr algn="ctr">
              <a:defRPr sz="1000" b="0">
                <a:solidFill>
                  <a:srgbClr val="8B949E"/>
                </a:solidFill>
                <a:latin typeface="Calibri" panose="020F0502020204030204"/>
              </a:defRPr>
            </a:pPr>
            <a:r>
              <a:t>Validates</a:t>
            </a:r>
            <a:br/>
            <a:r>
              <a:t>VITE_* vars</a:t>
            </a:r>
          </a:p>
        </p:txBody>
      </p:sp>
      <p:sp>
        <p:nvSpPr>
          <p:cNvPr id="9" name="Right Arrow 8"/>
          <p:cNvSpPr/>
          <p:nvPr/>
        </p:nvSpPr>
        <p:spPr>
          <a:xfrm>
            <a:off x="2697480" y="2560320"/>
            <a:ext cx="274320" cy="274320"/>
          </a:xfrm>
          <a:prstGeom prst="rightArrow">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17520" y="1828800"/>
            <a:ext cx="1920240" cy="18288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1874520"/>
            <a:ext cx="274320" cy="274320"/>
          </a:xfrm>
          <a:prstGeom prst="rect">
            <a:avLst/>
          </a:prstGeom>
          <a:noFill/>
        </p:spPr>
        <p:txBody>
          <a:bodyPr wrap="square">
            <a:spAutoFit/>
          </a:bodyPr>
          <a:lstStyle/>
          <a:p>
            <a:pPr algn="l">
              <a:defRPr sz="1000" b="1">
                <a:solidFill>
                  <a:srgbClr val="6366F1"/>
                </a:solidFill>
                <a:latin typeface="Calibri" panose="020F0502020204030204"/>
              </a:defRPr>
            </a:pPr>
            <a:r>
              <a:t>2</a:t>
            </a:r>
          </a:p>
        </p:txBody>
      </p:sp>
      <p:sp>
        <p:nvSpPr>
          <p:cNvPr id="12" name="TextBox 11"/>
          <p:cNvSpPr txBox="1"/>
          <p:nvPr/>
        </p:nvSpPr>
        <p:spPr>
          <a:xfrm>
            <a:off x="3154680" y="2194560"/>
            <a:ext cx="1645920" cy="640080"/>
          </a:xfrm>
          <a:prstGeom prst="rect">
            <a:avLst/>
          </a:prstGeom>
          <a:noFill/>
        </p:spPr>
        <p:txBody>
          <a:bodyPr wrap="square">
            <a:spAutoFit/>
          </a:bodyPr>
          <a:lstStyle/>
          <a:p>
            <a:pPr algn="ctr">
              <a:defRPr sz="1400" b="1">
                <a:solidFill>
                  <a:srgbClr val="FFFFFF"/>
                </a:solidFill>
                <a:latin typeface="Calibri" panose="020F0502020204030204"/>
              </a:defRPr>
            </a:pPr>
            <a:r>
              <a:t>Auth</a:t>
            </a:r>
          </a:p>
        </p:txBody>
      </p:sp>
      <p:sp>
        <p:nvSpPr>
          <p:cNvPr id="13" name="TextBox 12"/>
          <p:cNvSpPr txBox="1"/>
          <p:nvPr/>
        </p:nvSpPr>
        <p:spPr>
          <a:xfrm>
            <a:off x="3154680" y="2880360"/>
            <a:ext cx="1645920" cy="640080"/>
          </a:xfrm>
          <a:prstGeom prst="rect">
            <a:avLst/>
          </a:prstGeom>
          <a:noFill/>
        </p:spPr>
        <p:txBody>
          <a:bodyPr wrap="square">
            <a:spAutoFit/>
          </a:bodyPr>
          <a:lstStyle/>
          <a:p>
            <a:pPr algn="ctr">
              <a:defRPr sz="1000" b="0">
                <a:solidFill>
                  <a:srgbClr val="8B949E"/>
                </a:solidFill>
                <a:latin typeface="Calibri" panose="020F0502020204030204"/>
              </a:defRPr>
            </a:pPr>
            <a:r>
              <a:t>Sign up / Sign in</a:t>
            </a:r>
            <a:br/>
            <a:r>
              <a:t>via Supabase Auth</a:t>
            </a:r>
          </a:p>
        </p:txBody>
      </p:sp>
      <p:sp>
        <p:nvSpPr>
          <p:cNvPr id="14" name="Right Arrow 13"/>
          <p:cNvSpPr/>
          <p:nvPr/>
        </p:nvSpPr>
        <p:spPr>
          <a:xfrm>
            <a:off x="4983480" y="2560320"/>
            <a:ext cx="274320" cy="274320"/>
          </a:xfrm>
          <a:prstGeom prst="rightArrow">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03520" y="1828800"/>
            <a:ext cx="1920240" cy="18288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1874520"/>
            <a:ext cx="274320" cy="274320"/>
          </a:xfrm>
          <a:prstGeom prst="rect">
            <a:avLst/>
          </a:prstGeom>
          <a:noFill/>
        </p:spPr>
        <p:txBody>
          <a:bodyPr wrap="square">
            <a:spAutoFit/>
          </a:bodyPr>
          <a:lstStyle/>
          <a:p>
            <a:pPr algn="l">
              <a:defRPr sz="1000" b="1">
                <a:solidFill>
                  <a:srgbClr val="6366F1"/>
                </a:solidFill>
                <a:latin typeface="Calibri" panose="020F0502020204030204"/>
              </a:defRPr>
            </a:pPr>
            <a:r>
              <a:t>3</a:t>
            </a:r>
          </a:p>
        </p:txBody>
      </p:sp>
      <p:sp>
        <p:nvSpPr>
          <p:cNvPr id="17" name="TextBox 16"/>
          <p:cNvSpPr txBox="1"/>
          <p:nvPr/>
        </p:nvSpPr>
        <p:spPr>
          <a:xfrm>
            <a:off x="5440680" y="2194560"/>
            <a:ext cx="1645920" cy="640080"/>
          </a:xfrm>
          <a:prstGeom prst="rect">
            <a:avLst/>
          </a:prstGeom>
          <a:noFill/>
        </p:spPr>
        <p:txBody>
          <a:bodyPr wrap="square">
            <a:spAutoFit/>
          </a:bodyPr>
          <a:lstStyle/>
          <a:p>
            <a:pPr algn="ctr">
              <a:defRPr sz="1400" b="1">
                <a:solidFill>
                  <a:srgbClr val="FFFFFF"/>
                </a:solidFill>
                <a:latin typeface="Calibri" panose="020F0502020204030204"/>
              </a:defRPr>
            </a:pPr>
            <a:r>
              <a:t>Role Gate</a:t>
            </a:r>
          </a:p>
        </p:txBody>
      </p:sp>
      <p:sp>
        <p:nvSpPr>
          <p:cNvPr id="18" name="TextBox 17"/>
          <p:cNvSpPr txBox="1"/>
          <p:nvPr/>
        </p:nvSpPr>
        <p:spPr>
          <a:xfrm>
            <a:off x="5440680" y="2880360"/>
            <a:ext cx="1645920" cy="640080"/>
          </a:xfrm>
          <a:prstGeom prst="rect">
            <a:avLst/>
          </a:prstGeom>
          <a:noFill/>
        </p:spPr>
        <p:txBody>
          <a:bodyPr wrap="square">
            <a:spAutoFit/>
          </a:bodyPr>
          <a:lstStyle/>
          <a:p>
            <a:pPr algn="ctr">
              <a:defRPr sz="1000" b="0">
                <a:solidFill>
                  <a:srgbClr val="8B949E"/>
                </a:solidFill>
                <a:latin typeface="Calibri" panose="020F0502020204030204"/>
              </a:defRPr>
            </a:pPr>
            <a:r>
              <a:t>Admin · Member</a:t>
            </a:r>
            <a:br/>
            <a:r>
              <a:t>· Unknown</a:t>
            </a:r>
          </a:p>
        </p:txBody>
      </p:sp>
      <p:sp>
        <p:nvSpPr>
          <p:cNvPr id="19" name="Right Arrow 18"/>
          <p:cNvSpPr/>
          <p:nvPr/>
        </p:nvSpPr>
        <p:spPr>
          <a:xfrm>
            <a:off x="7269480" y="2560320"/>
            <a:ext cx="274320" cy="274320"/>
          </a:xfrm>
          <a:prstGeom prst="rightArrow">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89520" y="1828800"/>
            <a:ext cx="1920240" cy="18288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1874520"/>
            <a:ext cx="274320" cy="274320"/>
          </a:xfrm>
          <a:prstGeom prst="rect">
            <a:avLst/>
          </a:prstGeom>
          <a:noFill/>
        </p:spPr>
        <p:txBody>
          <a:bodyPr wrap="square">
            <a:spAutoFit/>
          </a:bodyPr>
          <a:lstStyle/>
          <a:p>
            <a:pPr algn="l">
              <a:defRPr sz="1000" b="1">
                <a:solidFill>
                  <a:srgbClr val="6366F1"/>
                </a:solidFill>
                <a:latin typeface="Calibri" panose="020F0502020204030204"/>
              </a:defRPr>
            </a:pPr>
            <a:r>
              <a:t>4</a:t>
            </a:r>
          </a:p>
        </p:txBody>
      </p:sp>
      <p:sp>
        <p:nvSpPr>
          <p:cNvPr id="22" name="TextBox 21"/>
          <p:cNvSpPr txBox="1"/>
          <p:nvPr/>
        </p:nvSpPr>
        <p:spPr>
          <a:xfrm>
            <a:off x="7726680" y="2194560"/>
            <a:ext cx="1645920" cy="640080"/>
          </a:xfrm>
          <a:prstGeom prst="rect">
            <a:avLst/>
          </a:prstGeom>
          <a:noFill/>
        </p:spPr>
        <p:txBody>
          <a:bodyPr wrap="square">
            <a:spAutoFit/>
          </a:bodyPr>
          <a:lstStyle/>
          <a:p>
            <a:pPr algn="ctr">
              <a:defRPr sz="1400" b="1">
                <a:solidFill>
                  <a:srgbClr val="FFFFFF"/>
                </a:solidFill>
                <a:latin typeface="Calibri" panose="020F0502020204030204"/>
              </a:defRPr>
            </a:pPr>
            <a:r>
              <a:t>Dashboard</a:t>
            </a:r>
          </a:p>
        </p:txBody>
      </p:sp>
      <p:sp>
        <p:nvSpPr>
          <p:cNvPr id="23" name="TextBox 22"/>
          <p:cNvSpPr txBox="1"/>
          <p:nvPr/>
        </p:nvSpPr>
        <p:spPr>
          <a:xfrm>
            <a:off x="7726680" y="2880360"/>
            <a:ext cx="1645920" cy="640080"/>
          </a:xfrm>
          <a:prstGeom prst="rect">
            <a:avLst/>
          </a:prstGeom>
          <a:noFill/>
        </p:spPr>
        <p:txBody>
          <a:bodyPr wrap="square">
            <a:spAutoFit/>
          </a:bodyPr>
          <a:lstStyle/>
          <a:p>
            <a:pPr algn="ctr">
              <a:defRPr sz="1000" b="0">
                <a:solidFill>
                  <a:srgbClr val="8B949E"/>
                </a:solidFill>
                <a:latin typeface="Calibri" panose="020F0502020204030204"/>
              </a:defRPr>
            </a:pPr>
            <a:r>
              <a:t>Projects, stats,</a:t>
            </a:r>
            <a:br/>
            <a:r>
              <a:t>activity overview</a:t>
            </a:r>
          </a:p>
        </p:txBody>
      </p:sp>
      <p:sp>
        <p:nvSpPr>
          <p:cNvPr id="24" name="Right Arrow 23"/>
          <p:cNvSpPr/>
          <p:nvPr/>
        </p:nvSpPr>
        <p:spPr>
          <a:xfrm>
            <a:off x="9555480" y="2560320"/>
            <a:ext cx="274320" cy="274320"/>
          </a:xfrm>
          <a:prstGeom prst="rightArrow">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875520" y="1828800"/>
            <a:ext cx="1920240" cy="18288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66960" y="1874520"/>
            <a:ext cx="274320" cy="274320"/>
          </a:xfrm>
          <a:prstGeom prst="rect">
            <a:avLst/>
          </a:prstGeom>
          <a:noFill/>
        </p:spPr>
        <p:txBody>
          <a:bodyPr wrap="square">
            <a:spAutoFit/>
          </a:bodyPr>
          <a:lstStyle/>
          <a:p>
            <a:pPr algn="l">
              <a:defRPr sz="1000" b="1">
                <a:solidFill>
                  <a:srgbClr val="6366F1"/>
                </a:solidFill>
                <a:latin typeface="Calibri" panose="020F0502020204030204"/>
              </a:defRPr>
            </a:pPr>
            <a:r>
              <a:t>5</a:t>
            </a:r>
          </a:p>
        </p:txBody>
      </p:sp>
      <p:sp>
        <p:nvSpPr>
          <p:cNvPr id="27" name="TextBox 26"/>
          <p:cNvSpPr txBox="1"/>
          <p:nvPr/>
        </p:nvSpPr>
        <p:spPr>
          <a:xfrm>
            <a:off x="10012680" y="2194560"/>
            <a:ext cx="1645920" cy="640080"/>
          </a:xfrm>
          <a:prstGeom prst="rect">
            <a:avLst/>
          </a:prstGeom>
          <a:noFill/>
        </p:spPr>
        <p:txBody>
          <a:bodyPr wrap="square">
            <a:spAutoFit/>
          </a:bodyPr>
          <a:lstStyle/>
          <a:p>
            <a:pPr algn="ctr">
              <a:defRPr sz="1400" b="1">
                <a:solidFill>
                  <a:srgbClr val="FFFFFF"/>
                </a:solidFill>
                <a:latin typeface="Calibri" panose="020F0502020204030204"/>
              </a:defRPr>
            </a:pPr>
            <a:r>
              <a:t>Board</a:t>
            </a:r>
          </a:p>
        </p:txBody>
      </p:sp>
      <p:sp>
        <p:nvSpPr>
          <p:cNvPr id="28" name="TextBox 27"/>
          <p:cNvSpPr txBox="1"/>
          <p:nvPr/>
        </p:nvSpPr>
        <p:spPr>
          <a:xfrm>
            <a:off x="10012680" y="2880360"/>
            <a:ext cx="1645920" cy="640080"/>
          </a:xfrm>
          <a:prstGeom prst="rect">
            <a:avLst/>
          </a:prstGeom>
          <a:noFill/>
        </p:spPr>
        <p:txBody>
          <a:bodyPr wrap="square">
            <a:spAutoFit/>
          </a:bodyPr>
          <a:lstStyle/>
          <a:p>
            <a:pPr algn="ctr">
              <a:defRPr sz="1000" b="0">
                <a:solidFill>
                  <a:srgbClr val="8B949E"/>
                </a:solidFill>
                <a:latin typeface="Calibri" panose="020F0502020204030204"/>
              </a:defRPr>
            </a:pPr>
            <a:r>
              <a:t>Kanban · Gantt · 3D</a:t>
            </a:r>
            <a:br/>
            <a:r>
              <a:t>Real-time sync</a:t>
            </a:r>
          </a:p>
        </p:txBody>
      </p:sp>
      <p:sp>
        <p:nvSpPr>
          <p:cNvPr id="29" name="Rectangle 28"/>
          <p:cNvSpPr/>
          <p:nvPr/>
        </p:nvSpPr>
        <p:spPr>
          <a:xfrm>
            <a:off x="914400" y="4114800"/>
            <a:ext cx="10332720" cy="22860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88720" y="4206240"/>
            <a:ext cx="2743200" cy="365760"/>
          </a:xfrm>
          <a:prstGeom prst="rect">
            <a:avLst/>
          </a:prstGeom>
          <a:noFill/>
        </p:spPr>
        <p:txBody>
          <a:bodyPr wrap="square">
            <a:spAutoFit/>
          </a:bodyPr>
          <a:lstStyle/>
          <a:p>
            <a:pPr algn="l">
              <a:defRPr sz="1500" b="1">
                <a:solidFill>
                  <a:srgbClr val="A5B4FC"/>
                </a:solidFill>
                <a:latin typeface="Calibri" panose="020F0502020204030204"/>
              </a:defRPr>
            </a:pPr>
            <a:r>
              <a:t>Role Assignment Rules</a:t>
            </a:r>
          </a:p>
        </p:txBody>
      </p:sp>
      <p:sp>
        <p:nvSpPr>
          <p:cNvPr id="31" name="Oval 30"/>
          <p:cNvSpPr/>
          <p:nvPr/>
        </p:nvSpPr>
        <p:spPr>
          <a:xfrm>
            <a:off x="1188720" y="4663440"/>
            <a:ext cx="320040" cy="32004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200" b="1">
                <a:solidFill>
                  <a:srgbClr val="FFFFFF"/>
                </a:solidFill>
              </a:defRPr>
            </a:pPr>
            <a:r>
              <a:t>1</a:t>
            </a:r>
          </a:p>
        </p:txBody>
      </p:sp>
      <p:sp>
        <p:nvSpPr>
          <p:cNvPr id="32" name="TextBox 31"/>
          <p:cNvSpPr txBox="1"/>
          <p:nvPr/>
        </p:nvSpPr>
        <p:spPr>
          <a:xfrm>
            <a:off x="1645920" y="4638040"/>
            <a:ext cx="5029200" cy="274320"/>
          </a:xfrm>
          <a:prstGeom prst="rect">
            <a:avLst/>
          </a:prstGeom>
          <a:noFill/>
        </p:spPr>
        <p:txBody>
          <a:bodyPr wrap="square">
            <a:spAutoFit/>
          </a:bodyPr>
          <a:lstStyle/>
          <a:p>
            <a:pPr algn="l">
              <a:defRPr sz="1300" b="1">
                <a:solidFill>
                  <a:srgbClr val="FFFFFF"/>
                </a:solidFill>
                <a:latin typeface="Calibri" panose="020F0502020204030204"/>
              </a:defRPr>
            </a:pPr>
            <a:r>
              <a:t>1st signup ever → Admin</a:t>
            </a:r>
          </a:p>
        </p:txBody>
      </p:sp>
      <p:sp>
        <p:nvSpPr>
          <p:cNvPr id="33" name="TextBox 32"/>
          <p:cNvSpPr txBox="1"/>
          <p:nvPr/>
        </p:nvSpPr>
        <p:spPr>
          <a:xfrm>
            <a:off x="1645920" y="4892040"/>
            <a:ext cx="5029200" cy="457200"/>
          </a:xfrm>
          <a:prstGeom prst="rect">
            <a:avLst/>
          </a:prstGeom>
          <a:noFill/>
        </p:spPr>
        <p:txBody>
          <a:bodyPr wrap="square">
            <a:spAutoFit/>
          </a:bodyPr>
          <a:lstStyle/>
          <a:p>
            <a:pPr algn="l">
              <a:defRPr sz="1100" b="0">
                <a:solidFill>
                  <a:srgbClr val="8B949E"/>
                </a:solidFill>
                <a:latin typeface="Calibri" panose="020F0502020204030204"/>
              </a:defRPr>
            </a:pPr>
            <a:r>
              <a:t>Full CRUD, manage members, system config</a:t>
            </a:r>
          </a:p>
        </p:txBody>
      </p:sp>
      <p:sp>
        <p:nvSpPr>
          <p:cNvPr id="34" name="Oval 33"/>
          <p:cNvSpPr/>
          <p:nvPr/>
        </p:nvSpPr>
        <p:spPr>
          <a:xfrm>
            <a:off x="6217920" y="4663440"/>
            <a:ext cx="320040" cy="320040"/>
          </a:xfrm>
          <a:prstGeom prst="ellipse">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200" b="1">
                <a:solidFill>
                  <a:srgbClr val="FFFFFF"/>
                </a:solidFill>
              </a:defRPr>
            </a:pPr>
            <a:r>
              <a:t>2</a:t>
            </a:r>
          </a:p>
        </p:txBody>
      </p:sp>
      <p:sp>
        <p:nvSpPr>
          <p:cNvPr id="35" name="TextBox 34"/>
          <p:cNvSpPr txBox="1"/>
          <p:nvPr/>
        </p:nvSpPr>
        <p:spPr>
          <a:xfrm>
            <a:off x="6675120" y="4638040"/>
            <a:ext cx="5029200" cy="274320"/>
          </a:xfrm>
          <a:prstGeom prst="rect">
            <a:avLst/>
          </a:prstGeom>
          <a:noFill/>
        </p:spPr>
        <p:txBody>
          <a:bodyPr wrap="square">
            <a:spAutoFit/>
          </a:bodyPr>
          <a:lstStyle/>
          <a:p>
            <a:pPr algn="l">
              <a:defRPr sz="1300" b="1">
                <a:solidFill>
                  <a:srgbClr val="FFFFFF"/>
                </a:solidFill>
                <a:latin typeface="Calibri" panose="020F0502020204030204"/>
              </a:defRPr>
            </a:pPr>
            <a:r>
              <a:t>Invited by email → Member</a:t>
            </a:r>
          </a:p>
        </p:txBody>
      </p:sp>
      <p:sp>
        <p:nvSpPr>
          <p:cNvPr id="36" name="TextBox 35"/>
          <p:cNvSpPr txBox="1"/>
          <p:nvPr/>
        </p:nvSpPr>
        <p:spPr>
          <a:xfrm>
            <a:off x="6675120" y="4892040"/>
            <a:ext cx="5029200" cy="457200"/>
          </a:xfrm>
          <a:prstGeom prst="rect">
            <a:avLst/>
          </a:prstGeom>
          <a:noFill/>
        </p:spPr>
        <p:txBody>
          <a:bodyPr wrap="square">
            <a:spAutoFit/>
          </a:bodyPr>
          <a:lstStyle/>
          <a:p>
            <a:pPr algn="l">
              <a:defRPr sz="1100" b="0">
                <a:solidFill>
                  <a:srgbClr val="8B949E"/>
                </a:solidFill>
                <a:latin typeface="Calibri" panose="020F0502020204030204"/>
              </a:defRPr>
            </a:pPr>
            <a:r>
              <a:t>View project tasks, drag-and-drop only</a:t>
            </a:r>
          </a:p>
        </p:txBody>
      </p:sp>
      <p:sp>
        <p:nvSpPr>
          <p:cNvPr id="37" name="Oval 36"/>
          <p:cNvSpPr/>
          <p:nvPr/>
        </p:nvSpPr>
        <p:spPr>
          <a:xfrm>
            <a:off x="1188720" y="5349240"/>
            <a:ext cx="320040" cy="320040"/>
          </a:xfrm>
          <a:prstGeom prst="ellipse">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200" b="1">
                <a:solidFill>
                  <a:srgbClr val="FFFFFF"/>
                </a:solidFill>
              </a:defRPr>
            </a:pPr>
            <a:r>
              <a:t>3</a:t>
            </a:r>
          </a:p>
        </p:txBody>
      </p:sp>
      <p:sp>
        <p:nvSpPr>
          <p:cNvPr id="38" name="TextBox 37"/>
          <p:cNvSpPr txBox="1"/>
          <p:nvPr/>
        </p:nvSpPr>
        <p:spPr>
          <a:xfrm>
            <a:off x="1645920" y="5323840"/>
            <a:ext cx="5029200" cy="274320"/>
          </a:xfrm>
          <a:prstGeom prst="rect">
            <a:avLst/>
          </a:prstGeom>
          <a:noFill/>
        </p:spPr>
        <p:txBody>
          <a:bodyPr wrap="square">
            <a:spAutoFit/>
          </a:bodyPr>
          <a:lstStyle/>
          <a:p>
            <a:pPr algn="l">
              <a:defRPr sz="1300" b="1">
                <a:solidFill>
                  <a:srgbClr val="FFFFFF"/>
                </a:solidFill>
                <a:latin typeface="Calibri" panose="020F0502020204030204"/>
              </a:defRPr>
            </a:pPr>
            <a:r>
              <a:t>Default → Unknown</a:t>
            </a:r>
          </a:p>
        </p:txBody>
      </p:sp>
      <p:sp>
        <p:nvSpPr>
          <p:cNvPr id="39" name="TextBox 38"/>
          <p:cNvSpPr txBox="1"/>
          <p:nvPr/>
        </p:nvSpPr>
        <p:spPr>
          <a:xfrm>
            <a:off x="1645920" y="5577840"/>
            <a:ext cx="5029200" cy="457200"/>
          </a:xfrm>
          <a:prstGeom prst="rect">
            <a:avLst/>
          </a:prstGeom>
          <a:noFill/>
        </p:spPr>
        <p:txBody>
          <a:bodyPr wrap="square">
            <a:spAutoFit/>
          </a:bodyPr>
          <a:lstStyle/>
          <a:p>
            <a:pPr algn="l">
              <a:defRPr sz="1100" b="0">
                <a:solidFill>
                  <a:srgbClr val="8B949E"/>
                </a:solidFill>
                <a:latin typeface="Calibri" panose="020F0502020204030204"/>
              </a:defRPr>
            </a:pPr>
            <a:r>
              <a:t>Empty board, must request access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7315200" cy="548640"/>
          </a:xfrm>
          <a:prstGeom prst="rect">
            <a:avLst/>
          </a:prstGeom>
          <a:noFill/>
        </p:spPr>
        <p:txBody>
          <a:bodyPr wrap="square">
            <a:spAutoFit/>
          </a:bodyPr>
          <a:lstStyle/>
          <a:p>
            <a:pPr algn="l">
              <a:defRPr sz="3200" b="1">
                <a:solidFill>
                  <a:srgbClr val="FFFFFF"/>
                </a:solidFill>
                <a:latin typeface="Calibri" panose="020F0502020204030204"/>
              </a:defRPr>
            </a:pPr>
            <a:r>
              <a:t>Core Features: Task Management</a:t>
            </a:r>
          </a:p>
        </p:txBody>
      </p:sp>
      <p:sp>
        <p:nvSpPr>
          <p:cNvPr id="4" name="Rectangle 3"/>
          <p:cNvSpPr/>
          <p:nvPr/>
        </p:nvSpPr>
        <p:spPr>
          <a:xfrm>
            <a:off x="914400" y="1005840"/>
            <a:ext cx="18288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371600"/>
          <a:ext cx="10698480" cy="5029200"/>
        </p:xfrm>
        <a:graphic>
          <a:graphicData uri="http://schemas.openxmlformats.org/drawingml/2006/table">
            <a:tbl>
              <a:tblPr firstRow="1" bandRow="1">
                <a:tableStyleId>{5C22544A-7EE6-4342-B048-85BDC9FD1C3A}</a:tableStyleId>
              </a:tblPr>
              <a:tblGrid>
                <a:gridCol w="2011680"/>
                <a:gridCol w="5029200"/>
                <a:gridCol w="3657600"/>
              </a:tblGrid>
              <a:tr h="558800">
                <a:tc>
                  <a:txBody>
                    <a:bodyPr/>
                    <a:lstStyle/>
                    <a:p>
                      <a:pPr algn="l">
                        <a:defRPr sz="1400" b="1">
                          <a:solidFill>
                            <a:srgbClr val="FFFFFF"/>
                          </a:solidFill>
                          <a:latin typeface="Calibri" panose="020F0502020204030204"/>
                        </a:defRPr>
                      </a:pPr>
                      <a:r>
                        <a:t>Feature</a:t>
                      </a:r>
                    </a:p>
                  </a:txBody>
                  <a:tcPr marL="101600" marR="101600" marT="50800" marB="50800" anchor="ctr">
                    <a:solidFill>
                      <a:srgbClr val="6366F1"/>
                    </a:solidFill>
                  </a:tcPr>
                </a:tc>
                <a:tc>
                  <a:txBody>
                    <a:bodyPr/>
                    <a:lstStyle/>
                    <a:p>
                      <a:pPr algn="l">
                        <a:defRPr sz="1400" b="1">
                          <a:solidFill>
                            <a:srgbClr val="FFFFFF"/>
                          </a:solidFill>
                          <a:latin typeface="Calibri" panose="020F0502020204030204"/>
                        </a:defRPr>
                      </a:pPr>
                      <a:r>
                        <a:t>Implementation</a:t>
                      </a:r>
                    </a:p>
                  </a:txBody>
                  <a:tcPr marL="101600" marR="101600" marT="50800" marB="50800" anchor="ctr">
                    <a:solidFill>
                      <a:srgbClr val="6366F1"/>
                    </a:solidFill>
                  </a:tcPr>
                </a:tc>
                <a:tc>
                  <a:txBody>
                    <a:bodyPr/>
                    <a:lstStyle/>
                    <a:p>
                      <a:pPr algn="l">
                        <a:defRPr sz="1400" b="1">
                          <a:solidFill>
                            <a:srgbClr val="FFFFFF"/>
                          </a:solidFill>
                          <a:latin typeface="Calibri" panose="020F0502020204030204"/>
                        </a:defRPr>
                      </a:pPr>
                      <a:r>
                        <a:t>Benefit</a:t>
                      </a:r>
                    </a:p>
                  </a:txBody>
                  <a:tcPr marL="101600" marR="101600" marT="50800" marB="50800" anchor="ctr">
                    <a:solidFill>
                      <a:srgbClr val="6366F1"/>
                    </a:solidFill>
                  </a:tcPr>
                </a:tc>
              </a:tr>
              <a:tr h="558800">
                <a:tc>
                  <a:txBody>
                    <a:bodyPr/>
                    <a:lstStyle/>
                    <a:p>
                      <a:pPr algn="l">
                        <a:defRPr sz="1200">
                          <a:solidFill>
                            <a:srgbClr val="E1E4E8"/>
                          </a:solidFill>
                          <a:latin typeface="Calibri" panose="020F0502020204030204"/>
                        </a:defRPr>
                      </a:pPr>
                      <a:r>
                        <a:t>CRUD Operations</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Create, read, update, delete via Supabase</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Full task lifecycle management</a:t>
                      </a:r>
                    </a:p>
                  </a:txBody>
                  <a:tcPr marL="101600" marR="101600" marT="50800" marB="50800" anchor="ctr">
                    <a:solidFill>
                      <a:srgbClr val="222730"/>
                    </a:solidFill>
                  </a:tcPr>
                </a:tc>
              </a:tr>
              <a:tr h="558800">
                <a:tc>
                  <a:txBody>
                    <a:bodyPr/>
                    <a:lstStyle/>
                    <a:p>
                      <a:pPr algn="l">
                        <a:defRPr sz="1200">
                          <a:solidFill>
                            <a:srgbClr val="E1E4E8"/>
                          </a:solidFill>
                          <a:latin typeface="Calibri" panose="020F0502020204030204"/>
                        </a:defRPr>
                      </a:pPr>
                      <a:r>
                        <a:t>Drag &amp; Drop</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@dnd-kit cross-column reordering</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Intuitive workflow, zero learning curve</a:t>
                      </a:r>
                    </a:p>
                  </a:txBody>
                  <a:tcPr marL="101600" marR="101600" marT="50800" marB="50800" anchor="ctr">
                    <a:solidFill>
                      <a:srgbClr val="1C1F26"/>
                    </a:solidFill>
                  </a:tcPr>
                </a:tc>
              </a:tr>
              <a:tr h="558800">
                <a:tc>
                  <a:txBody>
                    <a:bodyPr/>
                    <a:lstStyle/>
                    <a:p>
                      <a:pPr algn="l">
                        <a:defRPr sz="1200">
                          <a:solidFill>
                            <a:srgbClr val="E1E4E8"/>
                          </a:solidFill>
                          <a:latin typeface="Calibri" panose="020F0502020204030204"/>
                        </a:defRPr>
                      </a:pPr>
                      <a:r>
                        <a:t>Positioning</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float8 midpoint algorithm (positionBetween)</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No re-indexing, O(1) reorder</a:t>
                      </a:r>
                    </a:p>
                  </a:txBody>
                  <a:tcPr marL="101600" marR="101600" marT="50800" marB="50800" anchor="ctr">
                    <a:solidFill>
                      <a:srgbClr val="222730"/>
                    </a:solidFill>
                  </a:tcPr>
                </a:tc>
              </a:tr>
              <a:tr h="558800">
                <a:tc>
                  <a:txBody>
                    <a:bodyPr/>
                    <a:lstStyle/>
                    <a:p>
                      <a:pPr algn="l">
                        <a:defRPr sz="1200">
                          <a:solidFill>
                            <a:srgbClr val="E1E4E8"/>
                          </a:solidFill>
                          <a:latin typeface="Calibri" panose="020F0502020204030204"/>
                        </a:defRPr>
                      </a:pPr>
                      <a:r>
                        <a:t>Priorities</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P0 (Critical) – P3 (Low), color-coded</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Focus on what matters most</a:t>
                      </a:r>
                    </a:p>
                  </a:txBody>
                  <a:tcPr marL="101600" marR="101600" marT="50800" marB="50800" anchor="ctr">
                    <a:solidFill>
                      <a:srgbClr val="1C1F26"/>
                    </a:solidFill>
                  </a:tcPr>
                </a:tc>
              </a:tr>
              <a:tr h="558800">
                <a:tc>
                  <a:txBody>
                    <a:bodyPr/>
                    <a:lstStyle/>
                    <a:p>
                      <a:pPr algn="l">
                        <a:defRPr sz="1200">
                          <a:solidFill>
                            <a:srgbClr val="E1E4E8"/>
                          </a:solidFill>
                          <a:latin typeface="Calibri" panose="020F0502020204030204"/>
                        </a:defRPr>
                      </a:pPr>
                      <a:r>
                        <a:t>Smart Views</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Mine · Due Soon (7d) · Overdue</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Instant filtering, no query needed</a:t>
                      </a:r>
                    </a:p>
                  </a:txBody>
                  <a:tcPr marL="101600" marR="101600" marT="50800" marB="50800" anchor="ctr">
                    <a:solidFill>
                      <a:srgbClr val="222730"/>
                    </a:solidFill>
                  </a:tcPr>
                </a:tc>
              </a:tr>
              <a:tr h="558800">
                <a:tc>
                  <a:txBody>
                    <a:bodyPr/>
                    <a:lstStyle/>
                    <a:p>
                      <a:pPr algn="l">
                        <a:defRPr sz="1200">
                          <a:solidFill>
                            <a:srgbClr val="E1E4E8"/>
                          </a:solidFill>
                          <a:latin typeface="Calibri" panose="020F0502020204030204"/>
                        </a:defRPr>
                      </a:pPr>
                      <a:r>
                        <a:t>Assignees</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User selector + profile avatars</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Clear accountability</a:t>
                      </a:r>
                    </a:p>
                  </a:txBody>
                  <a:tcPr marL="101600" marR="101600" marT="50800" marB="50800" anchor="ctr">
                    <a:solidFill>
                      <a:srgbClr val="1C1F26"/>
                    </a:solidFill>
                  </a:tcPr>
                </a:tc>
              </a:tr>
              <a:tr h="558800">
                <a:tc>
                  <a:txBody>
                    <a:bodyPr/>
                    <a:lstStyle/>
                    <a:p>
                      <a:pPr algn="l">
                        <a:defRPr sz="1200">
                          <a:solidFill>
                            <a:srgbClr val="E1E4E8"/>
                          </a:solidFill>
                          <a:latin typeface="Calibri" panose="020F0502020204030204"/>
                        </a:defRPr>
                      </a:pPr>
                      <a:r>
                        <a:t>Dependencies</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Blocked-by relationships, circular detection</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Prevents premature completions</a:t>
                      </a:r>
                    </a:p>
                  </a:txBody>
                  <a:tcPr marL="101600" marR="101600" marT="50800" marB="50800" anchor="ctr">
                    <a:solidFill>
                      <a:srgbClr val="222730"/>
                    </a:solidFill>
                  </a:tcPr>
                </a:tc>
              </a:tr>
              <a:tr h="558800">
                <a:tc>
                  <a:txBody>
                    <a:bodyPr/>
                    <a:lstStyle/>
                    <a:p>
                      <a:pPr algn="l">
                        <a:defRPr sz="1200">
                          <a:solidFill>
                            <a:srgbClr val="E1E4E8"/>
                          </a:solidFill>
                          <a:latin typeface="Calibri" panose="020F0502020204030204"/>
                        </a:defRPr>
                      </a:pPr>
                      <a:r>
                        <a:t>Labels</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Custom colored labels per project</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Flexible categorization</a:t>
                      </a:r>
                    </a:p>
                  </a:txBody>
                  <a:tcPr marL="101600" marR="101600" marT="50800" marB="50800" anchor="ctr">
                    <a:solidFill>
                      <a:srgbClr val="1C1F26"/>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9144000" cy="548640"/>
          </a:xfrm>
          <a:prstGeom prst="rect">
            <a:avLst/>
          </a:prstGeom>
          <a:noFill/>
        </p:spPr>
        <p:txBody>
          <a:bodyPr wrap="square">
            <a:spAutoFit/>
          </a:bodyPr>
          <a:lstStyle/>
          <a:p>
            <a:pPr algn="l">
              <a:defRPr sz="3000" b="1">
                <a:solidFill>
                  <a:srgbClr val="FFFFFF"/>
                </a:solidFill>
                <a:latin typeface="Calibri" panose="020F0502020204030204"/>
              </a:defRPr>
            </a:pPr>
            <a:r>
              <a:t>Core Features: Collaboration, Views &amp; Export</a:t>
            </a:r>
          </a:p>
        </p:txBody>
      </p:sp>
      <p:sp>
        <p:nvSpPr>
          <p:cNvPr id="4" name="Rectangle 3"/>
          <p:cNvSpPr/>
          <p:nvPr/>
        </p:nvSpPr>
        <p:spPr>
          <a:xfrm>
            <a:off x="914400" y="1005840"/>
            <a:ext cx="18288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5303520" cy="50292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63040"/>
            <a:ext cx="4754880" cy="365760"/>
          </a:xfrm>
          <a:prstGeom prst="rect">
            <a:avLst/>
          </a:prstGeom>
          <a:noFill/>
        </p:spPr>
        <p:txBody>
          <a:bodyPr wrap="square">
            <a:spAutoFit/>
          </a:bodyPr>
          <a:lstStyle/>
          <a:p>
            <a:pPr algn="l">
              <a:defRPr sz="1800" b="1">
                <a:solidFill>
                  <a:srgbClr val="A5B4FC"/>
                </a:solidFill>
                <a:latin typeface="Calibri" panose="020F0502020204030204"/>
              </a:defRPr>
            </a:pPr>
            <a:r>
              <a:t>Real-time Collaboration</a:t>
            </a:r>
          </a:p>
        </p:txBody>
      </p:sp>
      <p:sp>
        <p:nvSpPr>
          <p:cNvPr id="7" name="Oval 6"/>
          <p:cNvSpPr/>
          <p:nvPr/>
        </p:nvSpPr>
        <p:spPr>
          <a:xfrm>
            <a:off x="1005840" y="2011680"/>
            <a:ext cx="320040" cy="32004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200" b="1">
                <a:solidFill>
                  <a:srgbClr val="FFFFFF"/>
                </a:solidFill>
              </a:defRPr>
            </a:pPr>
            <a:r>
              <a:t>1</a:t>
            </a:r>
          </a:p>
        </p:txBody>
      </p:sp>
      <p:sp>
        <p:nvSpPr>
          <p:cNvPr id="8" name="TextBox 7"/>
          <p:cNvSpPr txBox="1"/>
          <p:nvPr/>
        </p:nvSpPr>
        <p:spPr>
          <a:xfrm>
            <a:off x="1463040" y="1986280"/>
            <a:ext cx="5029200" cy="274320"/>
          </a:xfrm>
          <a:prstGeom prst="rect">
            <a:avLst/>
          </a:prstGeom>
          <a:noFill/>
        </p:spPr>
        <p:txBody>
          <a:bodyPr wrap="square">
            <a:spAutoFit/>
          </a:bodyPr>
          <a:lstStyle/>
          <a:p>
            <a:pPr algn="l">
              <a:defRPr sz="1300" b="1">
                <a:solidFill>
                  <a:srgbClr val="FFFFFF"/>
                </a:solidFill>
                <a:latin typeface="Calibri" panose="020F0502020204030204"/>
              </a:defRPr>
            </a:pPr>
            <a:r>
              <a:t>Live Sync</a:t>
            </a:r>
          </a:p>
        </p:txBody>
      </p:sp>
      <p:sp>
        <p:nvSpPr>
          <p:cNvPr id="9" name="TextBox 8"/>
          <p:cNvSpPr txBox="1"/>
          <p:nvPr/>
        </p:nvSpPr>
        <p:spPr>
          <a:xfrm>
            <a:off x="1463040" y="2240280"/>
            <a:ext cx="5029200" cy="457200"/>
          </a:xfrm>
          <a:prstGeom prst="rect">
            <a:avLst/>
          </a:prstGeom>
          <a:noFill/>
        </p:spPr>
        <p:txBody>
          <a:bodyPr wrap="square">
            <a:spAutoFit/>
          </a:bodyPr>
          <a:lstStyle/>
          <a:p>
            <a:pPr algn="l">
              <a:defRPr sz="1100" b="0">
                <a:solidFill>
                  <a:srgbClr val="8B949E"/>
                </a:solidFill>
                <a:latin typeface="Calibri" panose="020F0502020204030204"/>
              </a:defRPr>
            </a:pPr>
            <a:r>
              <a:t>Supabase Realtime broadcasts every change to all clients</a:t>
            </a:r>
          </a:p>
        </p:txBody>
      </p:sp>
      <p:sp>
        <p:nvSpPr>
          <p:cNvPr id="10" name="Oval 9"/>
          <p:cNvSpPr/>
          <p:nvPr/>
        </p:nvSpPr>
        <p:spPr>
          <a:xfrm>
            <a:off x="1005840" y="2788920"/>
            <a:ext cx="320040" cy="32004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200" b="1">
                <a:solidFill>
                  <a:srgbClr val="FFFFFF"/>
                </a:solidFill>
              </a:defRPr>
            </a:pPr>
            <a:r>
              <a:t>2</a:t>
            </a:r>
          </a:p>
        </p:txBody>
      </p:sp>
      <p:sp>
        <p:nvSpPr>
          <p:cNvPr id="11" name="TextBox 10"/>
          <p:cNvSpPr txBox="1"/>
          <p:nvPr/>
        </p:nvSpPr>
        <p:spPr>
          <a:xfrm>
            <a:off x="1463040" y="2763520"/>
            <a:ext cx="5029200" cy="274320"/>
          </a:xfrm>
          <a:prstGeom prst="rect">
            <a:avLst/>
          </a:prstGeom>
          <a:noFill/>
        </p:spPr>
        <p:txBody>
          <a:bodyPr wrap="square">
            <a:spAutoFit/>
          </a:bodyPr>
          <a:lstStyle/>
          <a:p>
            <a:pPr algn="l">
              <a:defRPr sz="1300" b="1">
                <a:solidFill>
                  <a:srgbClr val="FFFFFF"/>
                </a:solidFill>
                <a:latin typeface="Calibri" panose="020F0502020204030204"/>
              </a:defRPr>
            </a:pPr>
            <a:r>
              <a:t>Presence</a:t>
            </a:r>
          </a:p>
        </p:txBody>
      </p:sp>
      <p:sp>
        <p:nvSpPr>
          <p:cNvPr id="12" name="TextBox 11"/>
          <p:cNvSpPr txBox="1"/>
          <p:nvPr/>
        </p:nvSpPr>
        <p:spPr>
          <a:xfrm>
            <a:off x="1463040" y="3017520"/>
            <a:ext cx="5029200" cy="457200"/>
          </a:xfrm>
          <a:prstGeom prst="rect">
            <a:avLst/>
          </a:prstGeom>
          <a:noFill/>
        </p:spPr>
        <p:txBody>
          <a:bodyPr wrap="square">
            <a:spAutoFit/>
          </a:bodyPr>
          <a:lstStyle/>
          <a:p>
            <a:pPr algn="l">
              <a:defRPr sz="1100" b="0">
                <a:solidFill>
                  <a:srgbClr val="8B949E"/>
                </a:solidFill>
                <a:latin typeface="Calibri" panose="020F0502020204030204"/>
              </a:defRPr>
            </a:pPr>
            <a:r>
              <a:t>See who's online in real time</a:t>
            </a:r>
          </a:p>
        </p:txBody>
      </p:sp>
      <p:sp>
        <p:nvSpPr>
          <p:cNvPr id="13" name="Oval 12"/>
          <p:cNvSpPr/>
          <p:nvPr/>
        </p:nvSpPr>
        <p:spPr>
          <a:xfrm>
            <a:off x="1005840" y="3566160"/>
            <a:ext cx="320040" cy="32004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200" b="1">
                <a:solidFill>
                  <a:srgbClr val="FFFFFF"/>
                </a:solidFill>
              </a:defRPr>
            </a:pPr>
            <a:r>
              <a:t>3</a:t>
            </a:r>
          </a:p>
        </p:txBody>
      </p:sp>
      <p:sp>
        <p:nvSpPr>
          <p:cNvPr id="14" name="TextBox 13"/>
          <p:cNvSpPr txBox="1"/>
          <p:nvPr/>
        </p:nvSpPr>
        <p:spPr>
          <a:xfrm>
            <a:off x="1463040" y="3540760"/>
            <a:ext cx="5029200" cy="274320"/>
          </a:xfrm>
          <a:prstGeom prst="rect">
            <a:avLst/>
          </a:prstGeom>
          <a:noFill/>
        </p:spPr>
        <p:txBody>
          <a:bodyPr wrap="square">
            <a:spAutoFit/>
          </a:bodyPr>
          <a:lstStyle/>
          <a:p>
            <a:pPr algn="l">
              <a:defRPr sz="1300" b="1">
                <a:solidFill>
                  <a:srgbClr val="FFFFFF"/>
                </a:solidFill>
                <a:latin typeface="Calibri" panose="020F0502020204030204"/>
              </a:defRPr>
            </a:pPr>
            <a:r>
              <a:t>Editing Mutex</a:t>
            </a:r>
          </a:p>
        </p:txBody>
      </p:sp>
      <p:sp>
        <p:nvSpPr>
          <p:cNvPr id="15" name="TextBox 14"/>
          <p:cNvSpPr txBox="1"/>
          <p:nvPr/>
        </p:nvSpPr>
        <p:spPr>
          <a:xfrm>
            <a:off x="1463040" y="3794760"/>
            <a:ext cx="5029200" cy="457200"/>
          </a:xfrm>
          <a:prstGeom prst="rect">
            <a:avLst/>
          </a:prstGeom>
          <a:noFill/>
        </p:spPr>
        <p:txBody>
          <a:bodyPr wrap="square">
            <a:spAutoFit/>
          </a:bodyPr>
          <a:lstStyle/>
          <a:p>
            <a:pPr algn="l">
              <a:defRPr sz="1100" b="0">
                <a:solidFill>
                  <a:srgbClr val="8B949E"/>
                </a:solidFill>
                <a:latin typeface="Calibri" panose="020F0502020204030204"/>
              </a:defRPr>
            </a:pPr>
            <a:r>
              <a:t>See who's currently editing each task</a:t>
            </a:r>
          </a:p>
        </p:txBody>
      </p:sp>
      <p:sp>
        <p:nvSpPr>
          <p:cNvPr id="16" name="Oval 15"/>
          <p:cNvSpPr/>
          <p:nvPr/>
        </p:nvSpPr>
        <p:spPr>
          <a:xfrm>
            <a:off x="1005840" y="4343400"/>
            <a:ext cx="320040" cy="32004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0"/>
              </a:spcBef>
              <a:spcAft>
                <a:spcPts val="0"/>
              </a:spcAft>
              <a:defRPr sz="1200" b="1">
                <a:solidFill>
                  <a:srgbClr val="FFFFFF"/>
                </a:solidFill>
              </a:defRPr>
            </a:pPr>
            <a:r>
              <a:t>4</a:t>
            </a:r>
          </a:p>
        </p:txBody>
      </p:sp>
      <p:sp>
        <p:nvSpPr>
          <p:cNvPr id="17" name="TextBox 16"/>
          <p:cNvSpPr txBox="1"/>
          <p:nvPr/>
        </p:nvSpPr>
        <p:spPr>
          <a:xfrm>
            <a:off x="1463040" y="4318000"/>
            <a:ext cx="5029200" cy="274320"/>
          </a:xfrm>
          <a:prstGeom prst="rect">
            <a:avLst/>
          </a:prstGeom>
          <a:noFill/>
        </p:spPr>
        <p:txBody>
          <a:bodyPr wrap="square">
            <a:spAutoFit/>
          </a:bodyPr>
          <a:lstStyle/>
          <a:p>
            <a:pPr algn="l">
              <a:defRPr sz="1300" b="1">
                <a:solidFill>
                  <a:srgbClr val="FFFFFF"/>
                </a:solidFill>
                <a:latin typeface="Calibri" panose="020F0502020204030204"/>
              </a:defRPr>
            </a:pPr>
            <a:r>
              <a:t>Notifications</a:t>
            </a:r>
          </a:p>
        </p:txBody>
      </p:sp>
      <p:sp>
        <p:nvSpPr>
          <p:cNvPr id="18" name="TextBox 17"/>
          <p:cNvSpPr txBox="1"/>
          <p:nvPr/>
        </p:nvSpPr>
        <p:spPr>
          <a:xfrm>
            <a:off x="1463040" y="4572000"/>
            <a:ext cx="5029200" cy="457200"/>
          </a:xfrm>
          <a:prstGeom prst="rect">
            <a:avLst/>
          </a:prstGeom>
          <a:noFill/>
        </p:spPr>
        <p:txBody>
          <a:bodyPr wrap="square">
            <a:spAutoFit/>
          </a:bodyPr>
          <a:lstStyle/>
          <a:p>
            <a:pPr algn="l">
              <a:defRPr sz="1100" b="0">
                <a:solidFill>
                  <a:srgbClr val="8B949E"/>
                </a:solidFill>
                <a:latin typeface="Calibri" panose="020F0502020204030204"/>
              </a:defRPr>
            </a:pPr>
            <a:r>
              <a:t>DB-triggered alerts for due_soon, overdue, assignment</a:t>
            </a:r>
          </a:p>
        </p:txBody>
      </p:sp>
      <p:sp>
        <p:nvSpPr>
          <p:cNvPr id="19" name="Rectangle 18"/>
          <p:cNvSpPr/>
          <p:nvPr/>
        </p:nvSpPr>
        <p:spPr>
          <a:xfrm>
            <a:off x="6309360" y="1371600"/>
            <a:ext cx="5120640" cy="27432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1463040"/>
            <a:ext cx="4572000" cy="365760"/>
          </a:xfrm>
          <a:prstGeom prst="rect">
            <a:avLst/>
          </a:prstGeom>
          <a:noFill/>
        </p:spPr>
        <p:txBody>
          <a:bodyPr wrap="square">
            <a:spAutoFit/>
          </a:bodyPr>
          <a:lstStyle/>
          <a:p>
            <a:pPr algn="l">
              <a:defRPr sz="1800" b="1">
                <a:solidFill>
                  <a:srgbClr val="A5B4FC"/>
                </a:solidFill>
                <a:latin typeface="Calibri" panose="020F0502020204030204"/>
              </a:defRPr>
            </a:pPr>
            <a:r>
              <a:t>5 View Modes</a:t>
            </a:r>
          </a:p>
        </p:txBody>
      </p:sp>
      <p:sp>
        <p:nvSpPr>
          <p:cNvPr id="21" name="TextBox 20"/>
          <p:cNvSpPr txBox="1"/>
          <p:nvPr/>
        </p:nvSpPr>
        <p:spPr>
          <a:xfrm>
            <a:off x="6583680" y="1965960"/>
            <a:ext cx="4572000" cy="1828800"/>
          </a:xfrm>
          <a:prstGeom prst="rect">
            <a:avLst/>
          </a:prstGeom>
          <a:noFill/>
        </p:spPr>
        <p:txBody>
          <a:bodyPr wrap="square">
            <a:spAutoFit/>
          </a:bodyPr>
          <a:lstStyle/>
          <a:p>
            <a:pPr>
              <a:spcAft>
                <a:spcPts val="200"/>
              </a:spcAft>
              <a:defRPr sz="1200" b="0">
                <a:solidFill>
                  <a:srgbClr val="E1E4E8"/>
                </a:solidFill>
                <a:latin typeface="Calibri" panose="020F0502020204030204"/>
              </a:defRPr>
            </a:pPr>
            <a:r>
              <a:t>▸  Kanban (default) — @dnd-kit drag &amp; drop</a:t>
            </a:r>
          </a:p>
          <a:p>
            <a:pPr>
              <a:spcAft>
                <a:spcPts val="200"/>
              </a:spcAft>
              <a:defRPr sz="1200" b="0">
                <a:solidFill>
                  <a:srgbClr val="E1E4E8"/>
                </a:solidFill>
                <a:latin typeface="Calibri" panose="020F0502020204030204"/>
              </a:defRPr>
            </a:pPr>
            <a:r>
              <a:t>▸  Gantt Chart — frappe-gantt timeline view</a:t>
            </a:r>
          </a:p>
          <a:p>
            <a:pPr>
              <a:spcAft>
                <a:spcPts val="200"/>
              </a:spcAft>
              <a:defRPr sz="1200" b="0">
                <a:solidFill>
                  <a:srgbClr val="E1E4E8"/>
                </a:solidFill>
                <a:latin typeface="Calibri" panose="020F0502020204030204"/>
              </a:defRPr>
            </a:pPr>
            <a:r>
              <a:t>▸  3D Sphere — Three.js spatial visualization</a:t>
            </a:r>
          </a:p>
          <a:p>
            <a:pPr>
              <a:spcAft>
                <a:spcPts val="200"/>
              </a:spcAft>
              <a:defRPr sz="1200" b="0">
                <a:solidFill>
                  <a:srgbClr val="E1E4E8"/>
                </a:solidFill>
                <a:latin typeface="Calibri" panose="020F0502020204030204"/>
              </a:defRPr>
            </a:pPr>
            <a:r>
              <a:t>▸  Dashboard — Stats, activity, project overview</a:t>
            </a:r>
          </a:p>
          <a:p>
            <a:pPr>
              <a:spcAft>
                <a:spcPts val="200"/>
              </a:spcAft>
              <a:defRPr sz="1200" b="0">
                <a:solidFill>
                  <a:srgbClr val="E1E4E8"/>
                </a:solidFill>
                <a:latin typeface="Calibri" panose="020F0502020204030204"/>
              </a:defRPr>
            </a:pPr>
            <a:r>
              <a:t>▸  List View — Sortable table with advanced filters</a:t>
            </a:r>
          </a:p>
        </p:txBody>
      </p:sp>
      <p:sp>
        <p:nvSpPr>
          <p:cNvPr id="22" name="Rectangle 21"/>
          <p:cNvSpPr/>
          <p:nvPr/>
        </p:nvSpPr>
        <p:spPr>
          <a:xfrm>
            <a:off x="6309360" y="4297680"/>
            <a:ext cx="5120640" cy="210312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4389120"/>
            <a:ext cx="4572000" cy="365760"/>
          </a:xfrm>
          <a:prstGeom prst="rect">
            <a:avLst/>
          </a:prstGeom>
          <a:noFill/>
        </p:spPr>
        <p:txBody>
          <a:bodyPr wrap="square">
            <a:spAutoFit/>
          </a:bodyPr>
          <a:lstStyle/>
          <a:p>
            <a:pPr algn="l">
              <a:defRPr sz="1800" b="1">
                <a:solidFill>
                  <a:srgbClr val="A5B4FC"/>
                </a:solidFill>
                <a:latin typeface="Calibri" panose="020F0502020204030204"/>
              </a:defRPr>
            </a:pPr>
            <a:r>
              <a:t>Export &amp; Internationalization</a:t>
            </a:r>
          </a:p>
        </p:txBody>
      </p:sp>
      <p:sp>
        <p:nvSpPr>
          <p:cNvPr id="24" name="TextBox 23"/>
          <p:cNvSpPr txBox="1"/>
          <p:nvPr/>
        </p:nvSpPr>
        <p:spPr>
          <a:xfrm>
            <a:off x="6583680" y="4846320"/>
            <a:ext cx="4572000" cy="1371600"/>
          </a:xfrm>
          <a:prstGeom prst="rect">
            <a:avLst/>
          </a:prstGeom>
          <a:noFill/>
        </p:spPr>
        <p:txBody>
          <a:bodyPr wrap="square">
            <a:spAutoFit/>
          </a:bodyPr>
          <a:lstStyle/>
          <a:p>
            <a:pPr>
              <a:spcAft>
                <a:spcPts val="200"/>
              </a:spcAft>
              <a:defRPr sz="1200" b="0">
                <a:solidFill>
                  <a:srgbClr val="E1E4E8"/>
                </a:solidFill>
                <a:latin typeface="Calibri" panose="020F0502020204030204"/>
              </a:defRPr>
            </a:pPr>
            <a:r>
              <a:t>▸  Export: XLSX (exceljs) · PDF (jspdf) · CSV</a:t>
            </a:r>
          </a:p>
          <a:p>
            <a:pPr>
              <a:spcAft>
                <a:spcPts val="200"/>
              </a:spcAft>
              <a:defRPr sz="1200" b="0">
                <a:solidFill>
                  <a:srgbClr val="E1E4E8"/>
                </a:solidFill>
                <a:latin typeface="Calibri" panose="020F0502020204030204"/>
              </a:defRPr>
            </a:pPr>
            <a:r>
              <a:t>▸  i18n: EN · ES · ZH · ID · AR (RTL)</a:t>
            </a:r>
          </a:p>
          <a:p>
            <a:pPr>
              <a:spcAft>
                <a:spcPts val="200"/>
              </a:spcAft>
              <a:defRPr sz="1200" b="0">
                <a:solidFill>
                  <a:srgbClr val="E1E4E8"/>
                </a:solidFill>
                <a:latin typeface="Calibri" panose="020F0502020204030204"/>
              </a:defRPr>
            </a:pPr>
            <a:r>
              <a:t>▸  Theme: Light/Dark toggle, persisted in localStorage</a:t>
            </a:r>
          </a:p>
          <a:p>
            <a:pPr>
              <a:spcAft>
                <a:spcPts val="200"/>
              </a:spcAft>
              <a:defRPr sz="1200" b="0">
                <a:solidFill>
                  <a:srgbClr val="E1E4E8"/>
                </a:solidFill>
                <a:latin typeface="Calibri" panose="020F0502020204030204"/>
              </a:defRPr>
            </a:pPr>
            <a:r>
              <a:t>▸  Keyboard shortcuts: Ctrl/Cmd+N · Ctrl/Cmd+F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7315200" cy="548640"/>
          </a:xfrm>
          <a:prstGeom prst="rect">
            <a:avLst/>
          </a:prstGeom>
          <a:noFill/>
        </p:spPr>
        <p:txBody>
          <a:bodyPr wrap="square">
            <a:spAutoFit/>
          </a:bodyPr>
          <a:lstStyle/>
          <a:p>
            <a:pPr algn="l">
              <a:defRPr sz="3200" b="1">
                <a:solidFill>
                  <a:srgbClr val="FFFFFF"/>
                </a:solidFill>
                <a:latin typeface="Calibri" panose="020F0502020204030204"/>
              </a:defRPr>
            </a:pPr>
            <a:r>
              <a:t>Architecture &amp; Tech Stack</a:t>
            </a:r>
          </a:p>
        </p:txBody>
      </p:sp>
      <p:sp>
        <p:nvSpPr>
          <p:cNvPr id="4" name="Rectangle 3"/>
          <p:cNvSpPr/>
          <p:nvPr/>
        </p:nvSpPr>
        <p:spPr>
          <a:xfrm>
            <a:off x="914400" y="1005840"/>
            <a:ext cx="18288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371600"/>
          <a:ext cx="10698480" cy="4114800"/>
        </p:xfrm>
        <a:graphic>
          <a:graphicData uri="http://schemas.openxmlformats.org/drawingml/2006/table">
            <a:tbl>
              <a:tblPr firstRow="1" bandRow="1">
                <a:tableStyleId>{5C22544A-7EE6-4342-B048-85BDC9FD1C3A}</a:tableStyleId>
              </a:tblPr>
              <a:tblGrid>
                <a:gridCol w="2011680"/>
                <a:gridCol w="5029200"/>
                <a:gridCol w="3657600"/>
              </a:tblGrid>
              <a:tr h="514350">
                <a:tc>
                  <a:txBody>
                    <a:bodyPr/>
                    <a:lstStyle/>
                    <a:p>
                      <a:pPr algn="l">
                        <a:defRPr sz="1400" b="1">
                          <a:solidFill>
                            <a:srgbClr val="FFFFFF"/>
                          </a:solidFill>
                          <a:latin typeface="Calibri" panose="020F0502020204030204"/>
                        </a:defRPr>
                      </a:pPr>
                      <a:r>
                        <a:t>Layer</a:t>
                      </a:r>
                    </a:p>
                  </a:txBody>
                  <a:tcPr marL="101600" marR="101600" marT="50800" marB="50800" anchor="ctr">
                    <a:solidFill>
                      <a:srgbClr val="6366F1"/>
                    </a:solidFill>
                  </a:tcPr>
                </a:tc>
                <a:tc>
                  <a:txBody>
                    <a:bodyPr/>
                    <a:lstStyle/>
                    <a:p>
                      <a:pPr algn="l">
                        <a:defRPr sz="1400" b="1">
                          <a:solidFill>
                            <a:srgbClr val="FFFFFF"/>
                          </a:solidFill>
                          <a:latin typeface="Calibri" panose="020F0502020204030204"/>
                        </a:defRPr>
                      </a:pPr>
                      <a:r>
                        <a:t>Technology</a:t>
                      </a:r>
                    </a:p>
                  </a:txBody>
                  <a:tcPr marL="101600" marR="101600" marT="50800" marB="50800" anchor="ctr">
                    <a:solidFill>
                      <a:srgbClr val="6366F1"/>
                    </a:solidFill>
                  </a:tcPr>
                </a:tc>
                <a:tc>
                  <a:txBody>
                    <a:bodyPr/>
                    <a:lstStyle/>
                    <a:p>
                      <a:pPr algn="l">
                        <a:defRPr sz="1400" b="1">
                          <a:solidFill>
                            <a:srgbClr val="FFFFFF"/>
                          </a:solidFill>
                          <a:latin typeface="Calibri" panose="020F0502020204030204"/>
                        </a:defRPr>
                      </a:pPr>
                      <a:r>
                        <a:t>Purpose</a:t>
                      </a:r>
                    </a:p>
                  </a:txBody>
                  <a:tcPr marL="101600" marR="101600" marT="50800" marB="50800" anchor="ctr">
                    <a:solidFill>
                      <a:srgbClr val="6366F1"/>
                    </a:solidFill>
                  </a:tcPr>
                </a:tc>
              </a:tr>
              <a:tr h="514350">
                <a:tc>
                  <a:txBody>
                    <a:bodyPr/>
                    <a:lstStyle/>
                    <a:p>
                      <a:pPr algn="l">
                        <a:defRPr sz="1200">
                          <a:solidFill>
                            <a:srgbClr val="E1E4E8"/>
                          </a:solidFill>
                          <a:latin typeface="Calibri" panose="020F0502020204030204"/>
                        </a:defRPr>
                      </a:pPr>
                      <a:r>
                        <a:t>Frontend</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React 19 + Vite 8 + Tailwind CSS 4</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UI framework, build tool, styling</a:t>
                      </a:r>
                    </a:p>
                  </a:txBody>
                  <a:tcPr marL="101600" marR="101600" marT="50800" marB="50800" anchor="ctr">
                    <a:solidFill>
                      <a:srgbClr val="222730"/>
                    </a:solidFill>
                  </a:tcPr>
                </a:tc>
              </a:tr>
              <a:tr h="514350">
                <a:tc>
                  <a:txBody>
                    <a:bodyPr/>
                    <a:lstStyle/>
                    <a:p>
                      <a:pPr algn="l">
                        <a:defRPr sz="1200">
                          <a:solidFill>
                            <a:srgbClr val="E1E4E8"/>
                          </a:solidFill>
                          <a:latin typeface="Calibri" panose="020F0502020204030204"/>
                        </a:defRPr>
                      </a:pPr>
                      <a:r>
                        <a:t>Drag &amp; Drop</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@dnd-kit (core@6, sortable@10, utilities@3)</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Kanban card reordering</a:t>
                      </a:r>
                    </a:p>
                  </a:txBody>
                  <a:tcPr marL="101600" marR="101600" marT="50800" marB="50800" anchor="ctr">
                    <a:solidFill>
                      <a:srgbClr val="1C1F26"/>
                    </a:solidFill>
                  </a:tcPr>
                </a:tc>
              </a:tr>
              <a:tr h="514350">
                <a:tc>
                  <a:txBody>
                    <a:bodyPr/>
                    <a:lstStyle/>
                    <a:p>
                      <a:pPr algn="l">
                        <a:defRPr sz="1200">
                          <a:solidFill>
                            <a:srgbClr val="E1E4E8"/>
                          </a:solidFill>
                          <a:latin typeface="Calibri" panose="020F0502020204030204"/>
                        </a:defRPr>
                      </a:pPr>
                      <a:r>
                        <a:t>Backend</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Supabase (Auth · PostgREST · Realtime · Storage)</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Fully managed serverless backend</a:t>
                      </a:r>
                    </a:p>
                  </a:txBody>
                  <a:tcPr marL="101600" marR="101600" marT="50800" marB="50800" anchor="ctr">
                    <a:solidFill>
                      <a:srgbClr val="222730"/>
                    </a:solidFill>
                  </a:tcPr>
                </a:tc>
              </a:tr>
              <a:tr h="514350">
                <a:tc>
                  <a:txBody>
                    <a:bodyPr/>
                    <a:lstStyle/>
                    <a:p>
                      <a:pPr algn="l">
                        <a:defRPr sz="1200">
                          <a:solidFill>
                            <a:srgbClr val="E1E4E8"/>
                          </a:solidFill>
                          <a:latin typeface="Calibri" panose="020F0502020204030204"/>
                        </a:defRPr>
                      </a:pPr>
                      <a:r>
                        <a:t>Database</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PostgreSQL + 29 SQL migrations</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Schema, RLS, triggers, RPCs</a:t>
                      </a:r>
                    </a:p>
                  </a:txBody>
                  <a:tcPr marL="101600" marR="101600" marT="50800" marB="50800" anchor="ctr">
                    <a:solidFill>
                      <a:srgbClr val="1C1F26"/>
                    </a:solidFill>
                  </a:tcPr>
                </a:tc>
              </a:tr>
              <a:tr h="514350">
                <a:tc>
                  <a:txBody>
                    <a:bodyPr/>
                    <a:lstStyle/>
                    <a:p>
                      <a:pPr algn="l">
                        <a:defRPr sz="1200">
                          <a:solidFill>
                            <a:srgbClr val="E1E4E8"/>
                          </a:solidFill>
                          <a:latin typeface="Calibri" panose="020F0502020204030204"/>
                        </a:defRPr>
                      </a:pPr>
                      <a:r>
                        <a:t>Testing</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Vitest 4 + Testing Library + jsdom</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30+ test files, CI-integrated</a:t>
                      </a:r>
                    </a:p>
                  </a:txBody>
                  <a:tcPr marL="101600" marR="101600" marT="50800" marB="50800" anchor="ctr">
                    <a:solidFill>
                      <a:srgbClr val="222730"/>
                    </a:solidFill>
                  </a:tcPr>
                </a:tc>
              </a:tr>
              <a:tr h="514350">
                <a:tc>
                  <a:txBody>
                    <a:bodyPr/>
                    <a:lstStyle/>
                    <a:p>
                      <a:pPr algn="l">
                        <a:defRPr sz="1200">
                          <a:solidFill>
                            <a:srgbClr val="E1E4E8"/>
                          </a:solidFill>
                          <a:latin typeface="Calibri" panose="020F0502020204030204"/>
                        </a:defRPr>
                      </a:pPr>
                      <a:r>
                        <a:t>CI/CD</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GitHub Actions</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Auto test + build on push/PR to main</a:t>
                      </a:r>
                    </a:p>
                  </a:txBody>
                  <a:tcPr marL="101600" marR="101600" marT="50800" marB="50800" anchor="ctr">
                    <a:solidFill>
                      <a:srgbClr val="1C1F26"/>
                    </a:solidFill>
                  </a:tcPr>
                </a:tc>
              </a:tr>
              <a:tr h="514350">
                <a:tc>
                  <a:txBody>
                    <a:bodyPr/>
                    <a:lstStyle/>
                    <a:p>
                      <a:pPr algn="l">
                        <a:defRPr sz="1200">
                          <a:solidFill>
                            <a:srgbClr val="E1E4E8"/>
                          </a:solidFill>
                          <a:latin typeface="Calibri" panose="020F0502020204030204"/>
                        </a:defRPr>
                      </a:pPr>
                      <a:r>
                        <a:t>Languages</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JSX (tsconfig for tooling only)</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No runtime TypeScript</a:t>
                      </a:r>
                    </a:p>
                  </a:txBody>
                  <a:tcPr marL="101600" marR="101600" marT="50800" marB="50800" anchor="ctr">
                    <a:solidFill>
                      <a:srgbClr val="222730"/>
                    </a:solidFill>
                  </a:tcPr>
                </a:tc>
              </a:tr>
            </a:tbl>
          </a:graphicData>
        </a:graphic>
      </p:graphicFrame>
      <p:sp>
        <p:nvSpPr>
          <p:cNvPr id="6" name="Rectangle 5"/>
          <p:cNvSpPr/>
          <p:nvPr/>
        </p:nvSpPr>
        <p:spPr>
          <a:xfrm>
            <a:off x="3200400" y="5486400"/>
            <a:ext cx="5760720" cy="3657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0" y="5504688"/>
            <a:ext cx="5760720" cy="365760"/>
          </a:xfrm>
          <a:prstGeom prst="rect">
            <a:avLst/>
          </a:prstGeom>
          <a:noFill/>
        </p:spPr>
        <p:txBody>
          <a:bodyPr wrap="square">
            <a:spAutoFit/>
          </a:bodyPr>
          <a:lstStyle/>
          <a:p>
            <a:pPr algn="ctr">
              <a:defRPr sz="1300" b="1">
                <a:solidFill>
                  <a:srgbClr val="FFFFFF"/>
                </a:solidFill>
                <a:latin typeface="Calibri" panose="020F0502020204030204"/>
              </a:defRPr>
            </a:pPr>
            <a:r>
              <a:t>No custom server — JAMstack + Serverless Architecture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7315200" cy="548640"/>
          </a:xfrm>
          <a:prstGeom prst="rect">
            <a:avLst/>
          </a:prstGeom>
          <a:noFill/>
        </p:spPr>
        <p:txBody>
          <a:bodyPr wrap="square">
            <a:spAutoFit/>
          </a:bodyPr>
          <a:lstStyle/>
          <a:p>
            <a:pPr algn="l">
              <a:defRPr sz="3200" b="1">
                <a:solidFill>
                  <a:srgbClr val="FFFFFF"/>
                </a:solidFill>
                <a:latin typeface="Calibri" panose="020F0502020204030204"/>
              </a:defRPr>
            </a:pPr>
            <a:r>
              <a:t>Technical Highlights</a:t>
            </a:r>
          </a:p>
        </p:txBody>
      </p:sp>
      <p:sp>
        <p:nvSpPr>
          <p:cNvPr id="4" name="Rectangle 3"/>
          <p:cNvSpPr/>
          <p:nvPr/>
        </p:nvSpPr>
        <p:spPr>
          <a:xfrm>
            <a:off x="914400" y="1005840"/>
            <a:ext cx="18288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5303520" cy="22860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508760"/>
            <a:ext cx="1463040" cy="2743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1463040" cy="274320"/>
          </a:xfrm>
          <a:prstGeom prst="rect">
            <a:avLst/>
          </a:prstGeom>
          <a:noFill/>
        </p:spPr>
        <p:txBody>
          <a:bodyPr wrap="square">
            <a:spAutoFit/>
          </a:bodyPr>
          <a:lstStyle/>
          <a:p>
            <a:pPr algn="ctr">
              <a:defRPr sz="900" b="1">
                <a:solidFill>
                  <a:srgbClr val="FFFFFF"/>
                </a:solidFill>
                <a:latin typeface="Calibri" panose="020F0502020204030204"/>
              </a:defRPr>
            </a:pPr>
            <a:r>
              <a:t>Algorithm</a:t>
            </a:r>
          </a:p>
        </p:txBody>
      </p:sp>
      <p:sp>
        <p:nvSpPr>
          <p:cNvPr id="8" name="TextBox 7"/>
          <p:cNvSpPr txBox="1"/>
          <p:nvPr/>
        </p:nvSpPr>
        <p:spPr>
          <a:xfrm>
            <a:off x="1005840" y="1874520"/>
            <a:ext cx="4846320" cy="320040"/>
          </a:xfrm>
          <a:prstGeom prst="rect">
            <a:avLst/>
          </a:prstGeom>
          <a:noFill/>
        </p:spPr>
        <p:txBody>
          <a:bodyPr wrap="square">
            <a:spAutoFit/>
          </a:bodyPr>
          <a:lstStyle/>
          <a:p>
            <a:pPr algn="l">
              <a:defRPr sz="1500" b="1">
                <a:solidFill>
                  <a:srgbClr val="FFFFFF"/>
                </a:solidFill>
                <a:latin typeface="Calibri" panose="020F0502020204030204"/>
              </a:defRPr>
            </a:pPr>
            <a:r>
              <a:t>positionBetween() — Float8 Positioning</a:t>
            </a:r>
          </a:p>
        </p:txBody>
      </p:sp>
      <p:sp>
        <p:nvSpPr>
          <p:cNvPr id="9" name="TextBox 8"/>
          <p:cNvSpPr txBox="1"/>
          <p:nvPr/>
        </p:nvSpPr>
        <p:spPr>
          <a:xfrm>
            <a:off x="1005840" y="2286000"/>
            <a:ext cx="4846320" cy="365760"/>
          </a:xfrm>
          <a:prstGeom prst="rect">
            <a:avLst/>
          </a:prstGeom>
          <a:noFill/>
        </p:spPr>
        <p:txBody>
          <a:bodyPr wrap="square">
            <a:spAutoFit/>
          </a:bodyPr>
          <a:lstStyle/>
          <a:p>
            <a:pPr algn="l">
              <a:defRPr sz="1200" b="0">
                <a:solidFill>
                  <a:srgbClr val="E1E4E8"/>
                </a:solidFill>
                <a:latin typeface="Calibri" panose="020F0502020204030204"/>
              </a:defRPr>
            </a:pPr>
            <a:r>
              <a:t>Midpoint calculation on reorder, max+1024 on insert.</a:t>
            </a:r>
          </a:p>
        </p:txBody>
      </p:sp>
      <p:sp>
        <p:nvSpPr>
          <p:cNvPr id="10" name="TextBox 9"/>
          <p:cNvSpPr txBox="1"/>
          <p:nvPr/>
        </p:nvSpPr>
        <p:spPr>
          <a:xfrm>
            <a:off x="1005840" y="2743200"/>
            <a:ext cx="4846320" cy="731520"/>
          </a:xfrm>
          <a:prstGeom prst="rect">
            <a:avLst/>
          </a:prstGeom>
          <a:noFill/>
        </p:spPr>
        <p:txBody>
          <a:bodyPr wrap="square">
            <a:spAutoFit/>
          </a:bodyPr>
          <a:lstStyle/>
          <a:p>
            <a:pPr algn="l">
              <a:defRPr sz="1200" b="0">
                <a:solidFill>
                  <a:srgbClr val="8B949E"/>
                </a:solidFill>
                <a:latin typeface="Calibri" panose="020F0502020204030204"/>
              </a:defRPr>
            </a:pPr>
            <a:r>
              <a:t>Zero re-indexing required — O(1) repositioning, unlimited scale.</a:t>
            </a:r>
          </a:p>
        </p:txBody>
      </p:sp>
      <p:sp>
        <p:nvSpPr>
          <p:cNvPr id="11" name="Rectangle 10"/>
          <p:cNvSpPr/>
          <p:nvPr/>
        </p:nvSpPr>
        <p:spPr>
          <a:xfrm>
            <a:off x="6400800" y="1371600"/>
            <a:ext cx="5303520" cy="22860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0" y="1508760"/>
            <a:ext cx="1463040" cy="2743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508760"/>
            <a:ext cx="1463040" cy="274320"/>
          </a:xfrm>
          <a:prstGeom prst="rect">
            <a:avLst/>
          </a:prstGeom>
          <a:noFill/>
        </p:spPr>
        <p:txBody>
          <a:bodyPr wrap="square">
            <a:spAutoFit/>
          </a:bodyPr>
          <a:lstStyle/>
          <a:p>
            <a:pPr algn="ctr">
              <a:defRPr sz="900" b="1">
                <a:solidFill>
                  <a:srgbClr val="FFFFFF"/>
                </a:solidFill>
                <a:latin typeface="Calibri" panose="020F0502020204030204"/>
              </a:defRPr>
            </a:pPr>
            <a:r>
              <a:t>Database</a:t>
            </a:r>
          </a:p>
        </p:txBody>
      </p:sp>
      <p:sp>
        <p:nvSpPr>
          <p:cNvPr id="14" name="TextBox 13"/>
          <p:cNvSpPr txBox="1"/>
          <p:nvPr/>
        </p:nvSpPr>
        <p:spPr>
          <a:xfrm>
            <a:off x="6675120" y="1874520"/>
            <a:ext cx="4846320" cy="320040"/>
          </a:xfrm>
          <a:prstGeom prst="rect">
            <a:avLst/>
          </a:prstGeom>
          <a:noFill/>
        </p:spPr>
        <p:txBody>
          <a:bodyPr wrap="square">
            <a:spAutoFit/>
          </a:bodyPr>
          <a:lstStyle/>
          <a:p>
            <a:pPr algn="l">
              <a:defRPr sz="1500" b="1">
                <a:solidFill>
                  <a:srgbClr val="FFFFFF"/>
                </a:solidFill>
                <a:latin typeface="Calibri" panose="020F0502020204030204"/>
              </a:defRPr>
            </a:pPr>
            <a:r>
              <a:t>29 SQL Migrations + Row-Level Security</a:t>
            </a:r>
          </a:p>
        </p:txBody>
      </p:sp>
      <p:sp>
        <p:nvSpPr>
          <p:cNvPr id="15" name="TextBox 14"/>
          <p:cNvSpPr txBox="1"/>
          <p:nvPr/>
        </p:nvSpPr>
        <p:spPr>
          <a:xfrm>
            <a:off x="6675120" y="2286000"/>
            <a:ext cx="4846320" cy="365760"/>
          </a:xfrm>
          <a:prstGeom prst="rect">
            <a:avLst/>
          </a:prstGeom>
          <a:noFill/>
        </p:spPr>
        <p:txBody>
          <a:bodyPr wrap="square">
            <a:spAutoFit/>
          </a:bodyPr>
          <a:lstStyle/>
          <a:p>
            <a:pPr algn="l">
              <a:defRPr sz="1200" b="0">
                <a:solidFill>
                  <a:srgbClr val="E1E4E8"/>
                </a:solidFill>
                <a:latin typeface="Calibri" panose="020F0502020204030204"/>
              </a:defRPr>
            </a:pPr>
            <a:r>
              <a:t>Versioned schema source of truth. RLS on every table.</a:t>
            </a:r>
          </a:p>
        </p:txBody>
      </p:sp>
      <p:sp>
        <p:nvSpPr>
          <p:cNvPr id="16" name="TextBox 15"/>
          <p:cNvSpPr txBox="1"/>
          <p:nvPr/>
        </p:nvSpPr>
        <p:spPr>
          <a:xfrm>
            <a:off x="6675120" y="2743200"/>
            <a:ext cx="4846320" cy="731520"/>
          </a:xfrm>
          <a:prstGeom prst="rect">
            <a:avLst/>
          </a:prstGeom>
          <a:noFill/>
        </p:spPr>
        <p:txBody>
          <a:bodyPr wrap="square">
            <a:spAutoFit/>
          </a:bodyPr>
          <a:lstStyle/>
          <a:p>
            <a:pPr algn="l">
              <a:defRPr sz="1200" b="0">
                <a:solidFill>
                  <a:srgbClr val="8B949E"/>
                </a:solidFill>
                <a:latin typeface="Calibri" panose="020F0502020204030204"/>
              </a:defRPr>
            </a:pPr>
            <a:r>
              <a:t>Column-level grants enforce immutable created_by. Role triggers.</a:t>
            </a:r>
          </a:p>
        </p:txBody>
      </p:sp>
      <p:sp>
        <p:nvSpPr>
          <p:cNvPr id="17" name="Rectangle 16"/>
          <p:cNvSpPr/>
          <p:nvPr/>
        </p:nvSpPr>
        <p:spPr>
          <a:xfrm>
            <a:off x="731520" y="3931920"/>
            <a:ext cx="5303520" cy="22860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4069080"/>
            <a:ext cx="1463040" cy="2743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69080"/>
            <a:ext cx="1463040" cy="274320"/>
          </a:xfrm>
          <a:prstGeom prst="rect">
            <a:avLst/>
          </a:prstGeom>
          <a:noFill/>
        </p:spPr>
        <p:txBody>
          <a:bodyPr wrap="square">
            <a:spAutoFit/>
          </a:bodyPr>
          <a:lstStyle/>
          <a:p>
            <a:pPr algn="ctr">
              <a:defRPr sz="900" b="1">
                <a:solidFill>
                  <a:srgbClr val="FFFFFF"/>
                </a:solidFill>
                <a:latin typeface="Calibri" panose="020F0502020204030204"/>
              </a:defRPr>
            </a:pPr>
            <a:r>
              <a:t>Real-time</a:t>
            </a:r>
          </a:p>
        </p:txBody>
      </p:sp>
      <p:sp>
        <p:nvSpPr>
          <p:cNvPr id="20" name="TextBox 19"/>
          <p:cNvSpPr txBox="1"/>
          <p:nvPr/>
        </p:nvSpPr>
        <p:spPr>
          <a:xfrm>
            <a:off x="1005840" y="4434840"/>
            <a:ext cx="4846320" cy="320040"/>
          </a:xfrm>
          <a:prstGeom prst="rect">
            <a:avLst/>
          </a:prstGeom>
          <a:noFill/>
        </p:spPr>
        <p:txBody>
          <a:bodyPr wrap="square">
            <a:spAutoFit/>
          </a:bodyPr>
          <a:lstStyle/>
          <a:p>
            <a:pPr algn="l">
              <a:defRPr sz="1500" b="1">
                <a:solidFill>
                  <a:srgbClr val="FFFFFF"/>
                </a:solidFill>
                <a:latin typeface="Calibri" panose="020F0502020204030204"/>
              </a:defRPr>
            </a:pPr>
            <a:r>
              <a:t>Supabase Realtime + Presence</a:t>
            </a:r>
          </a:p>
        </p:txBody>
      </p:sp>
      <p:sp>
        <p:nvSpPr>
          <p:cNvPr id="21" name="TextBox 20"/>
          <p:cNvSpPr txBox="1"/>
          <p:nvPr/>
        </p:nvSpPr>
        <p:spPr>
          <a:xfrm>
            <a:off x="1005840" y="4846320"/>
            <a:ext cx="4846320" cy="365760"/>
          </a:xfrm>
          <a:prstGeom prst="rect">
            <a:avLst/>
          </a:prstGeom>
          <a:noFill/>
        </p:spPr>
        <p:txBody>
          <a:bodyPr wrap="square">
            <a:spAutoFit/>
          </a:bodyPr>
          <a:lstStyle/>
          <a:p>
            <a:pPr algn="l">
              <a:defRPr sz="1200" b="0">
                <a:solidFill>
                  <a:srgbClr val="E1E4E8"/>
                </a:solidFill>
                <a:latin typeface="Calibri" panose="020F0502020204030204"/>
              </a:defRPr>
            </a:pPr>
            <a:r>
              <a:t>Channel 'board' subscribes to all task changes.</a:t>
            </a:r>
          </a:p>
        </p:txBody>
      </p:sp>
      <p:sp>
        <p:nvSpPr>
          <p:cNvPr id="22" name="TextBox 21"/>
          <p:cNvSpPr txBox="1"/>
          <p:nvPr/>
        </p:nvSpPr>
        <p:spPr>
          <a:xfrm>
            <a:off x="1005840" y="5303520"/>
            <a:ext cx="4846320" cy="731520"/>
          </a:xfrm>
          <a:prstGeom prst="rect">
            <a:avLst/>
          </a:prstGeom>
          <a:noFill/>
        </p:spPr>
        <p:txBody>
          <a:bodyPr wrap="square">
            <a:spAutoFit/>
          </a:bodyPr>
          <a:lstStyle/>
          <a:p>
            <a:pPr algn="l">
              <a:defRPr sz="1200" b="0">
                <a:solidFill>
                  <a:srgbClr val="8B949E"/>
                </a:solidFill>
                <a:latin typeface="Calibri" panose="020F0502020204030204"/>
              </a:defRPr>
            </a:pPr>
            <a:r>
              <a:t>Row re-fetch with assignee join on every INSERT/UPDATE.</a:t>
            </a:r>
          </a:p>
        </p:txBody>
      </p:sp>
      <p:sp>
        <p:nvSpPr>
          <p:cNvPr id="23" name="Rectangle 22"/>
          <p:cNvSpPr/>
          <p:nvPr/>
        </p:nvSpPr>
        <p:spPr>
          <a:xfrm>
            <a:off x="6400800" y="3931920"/>
            <a:ext cx="5303520" cy="22860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0" y="4069080"/>
            <a:ext cx="1463040" cy="2743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4069080"/>
            <a:ext cx="1463040" cy="274320"/>
          </a:xfrm>
          <a:prstGeom prst="rect">
            <a:avLst/>
          </a:prstGeom>
          <a:noFill/>
        </p:spPr>
        <p:txBody>
          <a:bodyPr wrap="square">
            <a:spAutoFit/>
          </a:bodyPr>
          <a:lstStyle/>
          <a:p>
            <a:pPr algn="ctr">
              <a:defRPr sz="900" b="1">
                <a:solidFill>
                  <a:srgbClr val="FFFFFF"/>
                </a:solidFill>
                <a:latin typeface="Calibri" panose="020F0502020204030204"/>
              </a:defRPr>
            </a:pPr>
            <a:r>
              <a:t>Testing</a:t>
            </a:r>
          </a:p>
        </p:txBody>
      </p:sp>
      <p:sp>
        <p:nvSpPr>
          <p:cNvPr id="26" name="TextBox 25"/>
          <p:cNvSpPr txBox="1"/>
          <p:nvPr/>
        </p:nvSpPr>
        <p:spPr>
          <a:xfrm>
            <a:off x="6675120" y="4434840"/>
            <a:ext cx="4846320" cy="320040"/>
          </a:xfrm>
          <a:prstGeom prst="rect">
            <a:avLst/>
          </a:prstGeom>
          <a:noFill/>
        </p:spPr>
        <p:txBody>
          <a:bodyPr wrap="square">
            <a:spAutoFit/>
          </a:bodyPr>
          <a:lstStyle/>
          <a:p>
            <a:pPr algn="l">
              <a:defRPr sz="1500" b="1">
                <a:solidFill>
                  <a:srgbClr val="FFFFFF"/>
                </a:solidFill>
                <a:latin typeface="Calibri" panose="020F0502020204030204"/>
              </a:defRPr>
            </a:pPr>
            <a:r>
              <a:t>Vitest 4 · 30+ Test Files · CI</a:t>
            </a:r>
          </a:p>
        </p:txBody>
      </p:sp>
      <p:sp>
        <p:nvSpPr>
          <p:cNvPr id="27" name="TextBox 26"/>
          <p:cNvSpPr txBox="1"/>
          <p:nvPr/>
        </p:nvSpPr>
        <p:spPr>
          <a:xfrm>
            <a:off x="6675120" y="4846320"/>
            <a:ext cx="4846320" cy="365760"/>
          </a:xfrm>
          <a:prstGeom prst="rect">
            <a:avLst/>
          </a:prstGeom>
          <a:noFill/>
        </p:spPr>
        <p:txBody>
          <a:bodyPr wrap="square">
            <a:spAutoFit/>
          </a:bodyPr>
          <a:lstStyle/>
          <a:p>
            <a:pPr algn="l">
              <a:defRPr sz="1200" b="0">
                <a:solidFill>
                  <a:srgbClr val="E1E4E8"/>
                </a:solidFill>
                <a:latin typeface="Calibri" panose="020F0502020204030204"/>
              </a:defRPr>
            </a:pPr>
            <a:r>
              <a:t>Component tests (Testing Library) + hook tests + API integration.</a:t>
            </a:r>
          </a:p>
        </p:txBody>
      </p:sp>
      <p:sp>
        <p:nvSpPr>
          <p:cNvPr id="28" name="TextBox 27"/>
          <p:cNvSpPr txBox="1"/>
          <p:nvPr/>
        </p:nvSpPr>
        <p:spPr>
          <a:xfrm>
            <a:off x="6675120" y="5303520"/>
            <a:ext cx="4846320" cy="731520"/>
          </a:xfrm>
          <a:prstGeom prst="rect">
            <a:avLst/>
          </a:prstGeom>
          <a:noFill/>
        </p:spPr>
        <p:txBody>
          <a:bodyPr wrap="square">
            <a:spAutoFit/>
          </a:bodyPr>
          <a:lstStyle/>
          <a:p>
            <a:pPr algn="l">
              <a:defRPr sz="1200" b="0">
                <a:solidFill>
                  <a:srgbClr val="8B949E"/>
                </a:solidFill>
                <a:latin typeface="Calibri" panose="020F0502020204030204"/>
              </a:defRPr>
            </a:pPr>
            <a:r>
              <a:t>Excluded api.test.js runs separately. 15s timeout, globals enabled.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7315200" cy="548640"/>
          </a:xfrm>
          <a:prstGeom prst="rect">
            <a:avLst/>
          </a:prstGeom>
          <a:noFill/>
        </p:spPr>
        <p:txBody>
          <a:bodyPr wrap="square">
            <a:spAutoFit/>
          </a:bodyPr>
          <a:lstStyle/>
          <a:p>
            <a:pPr algn="l">
              <a:defRPr sz="3200" b="1">
                <a:solidFill>
                  <a:srgbClr val="FFFFFF"/>
                </a:solidFill>
                <a:latin typeface="Calibri" panose="020F0502020204030204"/>
              </a:defRPr>
            </a:pPr>
            <a:r>
              <a:t>Challenges &amp; Solutions</a:t>
            </a:r>
          </a:p>
        </p:txBody>
      </p:sp>
      <p:sp>
        <p:nvSpPr>
          <p:cNvPr id="4" name="Rectangle 3"/>
          <p:cNvSpPr/>
          <p:nvPr/>
        </p:nvSpPr>
        <p:spPr>
          <a:xfrm>
            <a:off x="914400" y="1005840"/>
            <a:ext cx="18288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371600"/>
          <a:ext cx="10698480" cy="5029200"/>
        </p:xfrm>
        <a:graphic>
          <a:graphicData uri="http://schemas.openxmlformats.org/drawingml/2006/table">
            <a:tbl>
              <a:tblPr firstRow="1" bandRow="1">
                <a:tableStyleId>{5C22544A-7EE6-4342-B048-85BDC9FD1C3A}</a:tableStyleId>
              </a:tblPr>
              <a:tblGrid>
                <a:gridCol w="5029200"/>
                <a:gridCol w="5669280"/>
              </a:tblGrid>
              <a:tr h="718457">
                <a:tc>
                  <a:txBody>
                    <a:bodyPr/>
                    <a:lstStyle/>
                    <a:p>
                      <a:pPr algn="l">
                        <a:defRPr sz="1400" b="1">
                          <a:solidFill>
                            <a:srgbClr val="FFFFFF"/>
                          </a:solidFill>
                          <a:latin typeface="Calibri" panose="020F0502020204030204"/>
                        </a:defRPr>
                      </a:pPr>
                      <a:r>
                        <a:t>Challenge</a:t>
                      </a:r>
                    </a:p>
                  </a:txBody>
                  <a:tcPr marL="101600" marR="101600" marT="50800" marB="50800" anchor="ctr">
                    <a:solidFill>
                      <a:srgbClr val="6366F1"/>
                    </a:solidFill>
                  </a:tcPr>
                </a:tc>
                <a:tc>
                  <a:txBody>
                    <a:bodyPr/>
                    <a:lstStyle/>
                    <a:p>
                      <a:pPr algn="l">
                        <a:defRPr sz="1400" b="1">
                          <a:solidFill>
                            <a:srgbClr val="FFFFFF"/>
                          </a:solidFill>
                          <a:latin typeface="Calibri" panose="020F0502020204030204"/>
                        </a:defRPr>
                      </a:pPr>
                      <a:r>
                        <a:t>Solution</a:t>
                      </a:r>
                    </a:p>
                  </a:txBody>
                  <a:tcPr marL="101600" marR="101600" marT="50800" marB="50800" anchor="ctr">
                    <a:solidFill>
                      <a:srgbClr val="6366F1"/>
                    </a:solidFill>
                  </a:tcPr>
                </a:tc>
              </a:tr>
              <a:tr h="718457">
                <a:tc>
                  <a:txBody>
                    <a:bodyPr/>
                    <a:lstStyle/>
                    <a:p>
                      <a:pPr algn="l">
                        <a:defRPr sz="1200">
                          <a:solidFill>
                            <a:srgbClr val="E1E4E8"/>
                          </a:solidFill>
                          <a:latin typeface="Calibri" panose="020F0502020204030204"/>
                        </a:defRPr>
                      </a:pPr>
                      <a:r>
                        <a:t>@dnd-kit version mismatch</a:t>
                      </a:r>
                      <a:br/>
                      <a:r>
                        <a:t>(core@6, sortable@10, utilities@3)</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Careful import paths per major;</a:t>
                      </a:r>
                      <a:br/>
                      <a:r>
                        <a:t>no version upgrade attempted</a:t>
                      </a:r>
                    </a:p>
                  </a:txBody>
                  <a:tcPr marL="101600" marR="101600" marT="50800" marB="50800" anchor="ctr">
                    <a:solidFill>
                      <a:srgbClr val="222730"/>
                    </a:solidFill>
                  </a:tcPr>
                </a:tc>
              </a:tr>
              <a:tr h="718457">
                <a:tc>
                  <a:txBody>
                    <a:bodyPr/>
                    <a:lstStyle/>
                    <a:p>
                      <a:pPr algn="l">
                        <a:defRPr sz="1200">
                          <a:solidFill>
                            <a:srgbClr val="E1E4E8"/>
                          </a:solidFill>
                          <a:latin typeface="Calibri" panose="020F0502020204030204"/>
                        </a:defRPr>
                      </a:pPr>
                      <a:r>
                        <a:t>MCP migrations applied remotely —</a:t>
                      </a:r>
                      <a:br/>
                      <a:r>
                        <a:t>local .sql files desynchronized</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Manual supabase db pull after each</a:t>
                      </a:r>
                      <a:br/>
                      <a:r>
                        <a:t>remote change to capture drift</a:t>
                      </a:r>
                    </a:p>
                  </a:txBody>
                  <a:tcPr marL="101600" marR="101600" marT="50800" marB="50800" anchor="ctr">
                    <a:solidFill>
                      <a:srgbClr val="1C1F26"/>
                    </a:solidFill>
                  </a:tcPr>
                </a:tc>
              </a:tr>
              <a:tr h="718457">
                <a:tc>
                  <a:txBody>
                    <a:bodyPr/>
                    <a:lstStyle/>
                    <a:p>
                      <a:pPr algn="l">
                        <a:defRPr sz="1200">
                          <a:solidFill>
                            <a:srgbClr val="E1E4E8"/>
                          </a:solidFill>
                          <a:latin typeface="Calibri" panose="020F0502020204030204"/>
                        </a:defRPr>
                      </a:pPr>
                      <a:r>
                        <a:t>Priority column added out-of-band</a:t>
                      </a:r>
                      <a:br/>
                      <a:r>
                        <a:t>— broke column-level UPDATE grants</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Reconciliation migration 20260630120000</a:t>
                      </a:r>
                      <a:br/>
                      <a:r>
                        <a:t>re-stated complete column grant set</a:t>
                      </a:r>
                    </a:p>
                  </a:txBody>
                  <a:tcPr marL="101600" marR="101600" marT="50800" marB="50800" anchor="ctr">
                    <a:solidFill>
                      <a:srgbClr val="222730"/>
                    </a:solidFill>
                  </a:tcPr>
                </a:tc>
              </a:tr>
              <a:tr h="718457">
                <a:tc>
                  <a:txBody>
                    <a:bodyPr/>
                    <a:lstStyle/>
                    <a:p>
                      <a:pPr algn="l">
                        <a:defRPr sz="1200">
                          <a:solidFill>
                            <a:srgbClr val="E1E4E8"/>
                          </a:solidFill>
                          <a:latin typeface="Calibri" panose="020F0502020204030204"/>
                        </a:defRPr>
                      </a:pPr>
                      <a:r>
                        <a:t>Realtime payloads lack joined fields</a:t>
                      </a:r>
                      <a:br/>
                      <a:r>
                        <a:t>(assignee profile data missing)</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Re-fetch single row with join on every</a:t>
                      </a:r>
                      <a:br/>
                      <a:r>
                        <a:t>INSERT/UPDATE before merging</a:t>
                      </a:r>
                    </a:p>
                  </a:txBody>
                  <a:tcPr marL="101600" marR="101600" marT="50800" marB="50800" anchor="ctr">
                    <a:solidFill>
                      <a:srgbClr val="1C1F26"/>
                    </a:solidFill>
                  </a:tcPr>
                </a:tc>
              </a:tr>
              <a:tr h="718457">
                <a:tc>
                  <a:txBody>
                    <a:bodyPr/>
                    <a:lstStyle/>
                    <a:p>
                      <a:pPr algn="l">
                        <a:defRPr sz="1200">
                          <a:solidFill>
                            <a:srgbClr val="E1E4E8"/>
                          </a:solidFill>
                          <a:latin typeface="Calibri" panose="020F0502020204030204"/>
                        </a:defRPr>
                      </a:pPr>
                      <a:r>
                        <a:t>RLS evolved through 6 iterations</a:t>
                      </a:r>
                      <a:br/>
                      <a:r>
                        <a:t>before admin/member/unknown locked</a:t>
                      </a:r>
                    </a:p>
                  </a:txBody>
                  <a:tcPr marL="101600" marR="101600" marT="50800" marB="50800" anchor="ctr">
                    <a:solidFill>
                      <a:srgbClr val="222730"/>
                    </a:solidFill>
                  </a:tcPr>
                </a:tc>
                <a:tc>
                  <a:txBody>
                    <a:bodyPr/>
                    <a:lstStyle/>
                    <a:p>
                      <a:pPr algn="l">
                        <a:defRPr sz="1200">
                          <a:solidFill>
                            <a:srgbClr val="E1E4E8"/>
                          </a:solidFill>
                          <a:latin typeface="Calibri" panose="020F0502020204030204"/>
                        </a:defRPr>
                      </a:pPr>
                      <a:r>
                        <a:t>enforce_member_task_edit trigger limits</a:t>
                      </a:r>
                      <a:br/>
                      <a:r>
                        <a:t>members to status+position changes</a:t>
                      </a:r>
                    </a:p>
                  </a:txBody>
                  <a:tcPr marL="101600" marR="101600" marT="50800" marB="50800" anchor="ctr">
                    <a:solidFill>
                      <a:srgbClr val="222730"/>
                    </a:solidFill>
                  </a:tcPr>
                </a:tc>
              </a:tr>
              <a:tr h="718458">
                <a:tc>
                  <a:txBody>
                    <a:bodyPr/>
                    <a:lstStyle/>
                    <a:p>
                      <a:pPr algn="l">
                        <a:defRPr sz="1200">
                          <a:solidFill>
                            <a:srgbClr val="E1E4E8"/>
                          </a:solidFill>
                          <a:latin typeface="Calibri" panose="020F0502020204030204"/>
                        </a:defRPr>
                      </a:pPr>
                      <a:r>
                        <a:t>Rolldown strict JSX indentation</a:t>
                      </a:r>
                      <a:br/>
                      <a:r>
                        <a:t>causes production build failures</a:t>
                      </a:r>
                    </a:p>
                  </a:txBody>
                  <a:tcPr marL="101600" marR="101600" marT="50800" marB="50800" anchor="ctr">
                    <a:solidFill>
                      <a:srgbClr val="1C1F26"/>
                    </a:solidFill>
                  </a:tcPr>
                </a:tc>
                <a:tc>
                  <a:txBody>
                    <a:bodyPr/>
                    <a:lstStyle/>
                    <a:p>
                      <a:pPr algn="l">
                        <a:defRPr sz="1200">
                          <a:solidFill>
                            <a:srgbClr val="E1E4E8"/>
                          </a:solidFill>
                          <a:latin typeface="Calibri" panose="020F0502020204030204"/>
                        </a:defRPr>
                      </a:pPr>
                      <a:r>
                        <a:t>Consistent formatting enforced in</a:t>
                      </a:r>
                      <a:br/>
                      <a:r>
                        <a:t>code review; ESLint + Prettier</a:t>
                      </a:r>
                    </a:p>
                  </a:txBody>
                  <a:tcPr marL="101600" marR="101600" marT="50800" marB="50800" anchor="ctr">
                    <a:solidFill>
                      <a:srgbClr val="1C1F26"/>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7315200" cy="548640"/>
          </a:xfrm>
          <a:prstGeom prst="rect">
            <a:avLst/>
          </a:prstGeom>
          <a:noFill/>
        </p:spPr>
        <p:txBody>
          <a:bodyPr wrap="square">
            <a:spAutoFit/>
          </a:bodyPr>
          <a:lstStyle/>
          <a:p>
            <a:pPr algn="l">
              <a:defRPr sz="3200" b="1">
                <a:solidFill>
                  <a:srgbClr val="FFFFFF"/>
                </a:solidFill>
                <a:latin typeface="Calibri" panose="020F0502020204030204"/>
              </a:defRPr>
            </a:pPr>
            <a:r>
              <a:t>Individual Contributions</a:t>
            </a:r>
          </a:p>
        </p:txBody>
      </p:sp>
      <p:sp>
        <p:nvSpPr>
          <p:cNvPr id="4" name="Rectangle 3"/>
          <p:cNvSpPr/>
          <p:nvPr/>
        </p:nvSpPr>
        <p:spPr>
          <a:xfrm>
            <a:off x="914400" y="1005840"/>
            <a:ext cx="18288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3474720" cy="50292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11680" y="1554480"/>
            <a:ext cx="914400" cy="9144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2800" b="1">
                <a:solidFill>
                  <a:srgbClr val="FFFFFF"/>
                </a:solidFill>
              </a:defRPr>
            </a:pPr>
            <a:r>
              <a:t>孔</a:t>
            </a:r>
          </a:p>
        </p:txBody>
      </p:sp>
      <p:sp>
        <p:nvSpPr>
          <p:cNvPr id="7" name="TextBox 6"/>
          <p:cNvSpPr txBox="1"/>
          <p:nvPr/>
        </p:nvSpPr>
        <p:spPr>
          <a:xfrm>
            <a:off x="914400" y="2651760"/>
            <a:ext cx="3108960" cy="320040"/>
          </a:xfrm>
          <a:prstGeom prst="rect">
            <a:avLst/>
          </a:prstGeom>
          <a:noFill/>
        </p:spPr>
        <p:txBody>
          <a:bodyPr wrap="square">
            <a:spAutoFit/>
          </a:bodyPr>
          <a:lstStyle/>
          <a:p>
            <a:pPr algn="ctr">
              <a:defRPr sz="1400" b="1">
                <a:solidFill>
                  <a:srgbClr val="FFFFFF"/>
                </a:solidFill>
                <a:latin typeface="Calibri" panose="020F0502020204030204"/>
              </a:defRPr>
            </a:pPr>
            <a:r>
              <a:t>@goanarbolkong</a:t>
            </a:r>
          </a:p>
        </p:txBody>
      </p:sp>
      <p:sp>
        <p:nvSpPr>
          <p:cNvPr id="8" name="TextBox 7"/>
          <p:cNvSpPr txBox="1"/>
          <p:nvPr/>
        </p:nvSpPr>
        <p:spPr>
          <a:xfrm>
            <a:off x="914400" y="2971800"/>
            <a:ext cx="3108960" cy="274320"/>
          </a:xfrm>
          <a:prstGeom prst="rect">
            <a:avLst/>
          </a:prstGeom>
          <a:noFill/>
        </p:spPr>
        <p:txBody>
          <a:bodyPr wrap="square">
            <a:spAutoFit/>
          </a:bodyPr>
          <a:lstStyle/>
          <a:p>
            <a:pPr algn="ctr">
              <a:defRPr sz="1100" b="0">
                <a:solidFill>
                  <a:srgbClr val="8B949E"/>
                </a:solidFill>
                <a:latin typeface="Calibri" panose="020F0502020204030204"/>
              </a:defRPr>
            </a:pPr>
            <a:r>
              <a:t>(孔刚)</a:t>
            </a:r>
          </a:p>
        </p:txBody>
      </p:sp>
      <p:sp>
        <p:nvSpPr>
          <p:cNvPr id="9" name="TextBox 8"/>
          <p:cNvSpPr txBox="1"/>
          <p:nvPr/>
        </p:nvSpPr>
        <p:spPr>
          <a:xfrm>
            <a:off x="914400" y="3291840"/>
            <a:ext cx="3108960" cy="274320"/>
          </a:xfrm>
          <a:prstGeom prst="rect">
            <a:avLst/>
          </a:prstGeom>
          <a:noFill/>
        </p:spPr>
        <p:txBody>
          <a:bodyPr wrap="square">
            <a:spAutoFit/>
          </a:bodyPr>
          <a:lstStyle/>
          <a:p>
            <a:pPr algn="ctr">
              <a:defRPr sz="1100" b="1">
                <a:solidFill>
                  <a:srgbClr val="6366F1"/>
                </a:solidFill>
                <a:latin typeface="Calibri" panose="020F0502020204030204"/>
              </a:defRPr>
            </a:pPr>
            <a:r>
              <a:t>Frontend &amp; Backend Lead</a:t>
            </a:r>
          </a:p>
        </p:txBody>
      </p:sp>
      <p:sp>
        <p:nvSpPr>
          <p:cNvPr id="10" name="Rectangle 9"/>
          <p:cNvSpPr/>
          <p:nvPr/>
        </p:nvSpPr>
        <p:spPr>
          <a:xfrm>
            <a:off x="1097280" y="3657600"/>
            <a:ext cx="2743200" cy="254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40480"/>
            <a:ext cx="2926080" cy="2286000"/>
          </a:xfrm>
          <a:prstGeom prst="rect">
            <a:avLst/>
          </a:prstGeom>
          <a:noFill/>
        </p:spPr>
        <p:txBody>
          <a:bodyPr wrap="square">
            <a:spAutoFit/>
          </a:bodyPr>
          <a:lstStyle/>
          <a:p>
            <a:pPr algn="l">
              <a:defRPr sz="1100" b="0">
                <a:solidFill>
                  <a:srgbClr val="E1E4E8"/>
                </a:solidFill>
                <a:latin typeface="Calibri" panose="020F0502020204030204"/>
              </a:defRPr>
            </a:pPr>
            <a:r>
              <a:t>Drag-and-drop integration with @dnd-kit</a:t>
            </a:r>
            <a:br/>
            <a:r>
              <a:t>Gantt chart &amp; 3D Sphere visualizations</a:t>
            </a:r>
            <a:br/>
            <a:r>
              <a:t>ExportMenu (XLSX/PDF/CSV), LabelManager</a:t>
            </a:r>
            <a:br/>
            <a:r>
              <a:t>ListView, TaskModal, priority selectors</a:t>
            </a:r>
            <a:br/>
            <a:r>
              <a:t>ProjectSettingsModal with color/icon picker</a:t>
            </a:r>
          </a:p>
        </p:txBody>
      </p:sp>
      <p:sp>
        <p:nvSpPr>
          <p:cNvPr id="12" name="Rectangle 11"/>
          <p:cNvSpPr/>
          <p:nvPr/>
        </p:nvSpPr>
        <p:spPr>
          <a:xfrm>
            <a:off x="4480559" y="1371600"/>
            <a:ext cx="3474720" cy="50292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0719" y="1554480"/>
            <a:ext cx="914400" cy="914400"/>
          </a:xfrm>
          <a:prstGeom prst="ellipse">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2800" b="1">
                <a:solidFill>
                  <a:srgbClr val="FFFFFF"/>
                </a:solidFill>
              </a:defRPr>
            </a:pPr>
            <a:r>
              <a:t>周</a:t>
            </a:r>
          </a:p>
        </p:txBody>
      </p:sp>
      <p:sp>
        <p:nvSpPr>
          <p:cNvPr id="14" name="TextBox 13"/>
          <p:cNvSpPr txBox="1"/>
          <p:nvPr/>
        </p:nvSpPr>
        <p:spPr>
          <a:xfrm>
            <a:off x="4663439" y="2651760"/>
            <a:ext cx="3108960" cy="320040"/>
          </a:xfrm>
          <a:prstGeom prst="rect">
            <a:avLst/>
          </a:prstGeom>
          <a:noFill/>
        </p:spPr>
        <p:txBody>
          <a:bodyPr wrap="square">
            <a:spAutoFit/>
          </a:bodyPr>
          <a:lstStyle/>
          <a:p>
            <a:pPr algn="ctr">
              <a:defRPr sz="1400" b="1">
                <a:solidFill>
                  <a:srgbClr val="FFFFFF"/>
                </a:solidFill>
                <a:latin typeface="Calibri" panose="020F0502020204030204"/>
              </a:defRPr>
            </a:pPr>
            <a:r>
              <a:t>@MemerZxZ</a:t>
            </a:r>
          </a:p>
        </p:txBody>
      </p:sp>
      <p:sp>
        <p:nvSpPr>
          <p:cNvPr id="15" name="TextBox 14"/>
          <p:cNvSpPr txBox="1"/>
          <p:nvPr/>
        </p:nvSpPr>
        <p:spPr>
          <a:xfrm>
            <a:off x="4663439" y="2971800"/>
            <a:ext cx="3108960" cy="274320"/>
          </a:xfrm>
          <a:prstGeom prst="rect">
            <a:avLst/>
          </a:prstGeom>
          <a:noFill/>
        </p:spPr>
        <p:txBody>
          <a:bodyPr wrap="square">
            <a:spAutoFit/>
          </a:bodyPr>
          <a:lstStyle/>
          <a:p>
            <a:pPr algn="ctr">
              <a:defRPr sz="1100" b="0">
                <a:solidFill>
                  <a:srgbClr val="8B949E"/>
                </a:solidFill>
                <a:latin typeface="Calibri" panose="020F0502020204030204"/>
              </a:defRPr>
            </a:pPr>
            <a:r>
              <a:t>(周奕龙)</a:t>
            </a:r>
          </a:p>
        </p:txBody>
      </p:sp>
      <p:sp>
        <p:nvSpPr>
          <p:cNvPr id="16" name="TextBox 15"/>
          <p:cNvSpPr txBox="1"/>
          <p:nvPr/>
        </p:nvSpPr>
        <p:spPr>
          <a:xfrm>
            <a:off x="4663439" y="3291840"/>
            <a:ext cx="3108960" cy="274320"/>
          </a:xfrm>
          <a:prstGeom prst="rect">
            <a:avLst/>
          </a:prstGeom>
          <a:noFill/>
        </p:spPr>
        <p:txBody>
          <a:bodyPr wrap="square">
            <a:spAutoFit/>
          </a:bodyPr>
          <a:lstStyle/>
          <a:p>
            <a:pPr algn="ctr">
              <a:defRPr sz="1100" b="1">
                <a:solidFill>
                  <a:srgbClr val="3FB950"/>
                </a:solidFill>
                <a:latin typeface="Calibri" panose="020F0502020204030204"/>
              </a:defRPr>
            </a:pPr>
            <a:r>
              <a:t>Backend Lead</a:t>
            </a:r>
          </a:p>
        </p:txBody>
      </p:sp>
      <p:sp>
        <p:nvSpPr>
          <p:cNvPr id="17" name="Rectangle 16"/>
          <p:cNvSpPr/>
          <p:nvPr/>
        </p:nvSpPr>
        <p:spPr>
          <a:xfrm>
            <a:off x="4846319" y="3657600"/>
            <a:ext cx="2743200" cy="25400"/>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79" y="3840480"/>
            <a:ext cx="2926080" cy="2286000"/>
          </a:xfrm>
          <a:prstGeom prst="rect">
            <a:avLst/>
          </a:prstGeom>
          <a:noFill/>
        </p:spPr>
        <p:txBody>
          <a:bodyPr wrap="square">
            <a:spAutoFit/>
          </a:bodyPr>
          <a:lstStyle/>
          <a:p>
            <a:pPr algn="l">
              <a:defRPr sz="1100" b="0">
                <a:solidFill>
                  <a:srgbClr val="E1E4E8"/>
                </a:solidFill>
                <a:latin typeface="Calibri" panose="020F0502020204030204"/>
              </a:defRPr>
            </a:pPr>
            <a:r>
              <a:t>All 29 database migrations &amp; schema design</a:t>
            </a:r>
            <a:br/>
            <a:r>
              <a:t>RPCs: admin_set_role, check_blocked_tasks,</a:t>
            </a:r>
            <a:br/>
            <a:r>
              <a:t>  get_filtered_tasks, export_all_data</a:t>
            </a:r>
            <a:br/>
            <a:r>
              <a:t>Row-Level Security policies &amp; triggers</a:t>
            </a:r>
            <a:br/>
            <a:r>
              <a:t>Task dependencies, notifications, system_logs</a:t>
            </a:r>
          </a:p>
        </p:txBody>
      </p:sp>
      <p:sp>
        <p:nvSpPr>
          <p:cNvPr id="19" name="Rectangle 18"/>
          <p:cNvSpPr/>
          <p:nvPr/>
        </p:nvSpPr>
        <p:spPr>
          <a:xfrm>
            <a:off x="8229598" y="1371600"/>
            <a:ext cx="3474720" cy="502920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509758" y="155448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defRPr sz="2800" b="1">
                <a:solidFill>
                  <a:srgbClr val="FFFFFF"/>
                </a:solidFill>
              </a:defRPr>
            </a:pPr>
            <a:r>
              <a:t>陈</a:t>
            </a:r>
          </a:p>
        </p:txBody>
      </p:sp>
      <p:sp>
        <p:nvSpPr>
          <p:cNvPr id="21" name="TextBox 20"/>
          <p:cNvSpPr txBox="1"/>
          <p:nvPr/>
        </p:nvSpPr>
        <p:spPr>
          <a:xfrm>
            <a:off x="8412478" y="2651760"/>
            <a:ext cx="3108960" cy="320040"/>
          </a:xfrm>
          <a:prstGeom prst="rect">
            <a:avLst/>
          </a:prstGeom>
          <a:noFill/>
        </p:spPr>
        <p:txBody>
          <a:bodyPr wrap="square">
            <a:spAutoFit/>
          </a:bodyPr>
          <a:lstStyle/>
          <a:p>
            <a:pPr algn="ctr">
              <a:defRPr sz="1400" b="1">
                <a:solidFill>
                  <a:srgbClr val="FFFFFF"/>
                </a:solidFill>
                <a:latin typeface="Calibri" panose="020F0502020204030204"/>
              </a:defRPr>
            </a:pPr>
            <a:r>
              <a:t>@Echeq</a:t>
            </a:r>
          </a:p>
        </p:txBody>
      </p:sp>
      <p:sp>
        <p:nvSpPr>
          <p:cNvPr id="22" name="TextBox 21"/>
          <p:cNvSpPr txBox="1"/>
          <p:nvPr/>
        </p:nvSpPr>
        <p:spPr>
          <a:xfrm>
            <a:off x="8412478" y="2971800"/>
            <a:ext cx="3108960" cy="274320"/>
          </a:xfrm>
          <a:prstGeom prst="rect">
            <a:avLst/>
          </a:prstGeom>
          <a:noFill/>
        </p:spPr>
        <p:txBody>
          <a:bodyPr wrap="square">
            <a:spAutoFit/>
          </a:bodyPr>
          <a:lstStyle/>
          <a:p>
            <a:pPr algn="ctr">
              <a:defRPr sz="1100" b="0">
                <a:solidFill>
                  <a:srgbClr val="8B949E"/>
                </a:solidFill>
                <a:latin typeface="Calibri" panose="020F0502020204030204"/>
              </a:defRPr>
            </a:pPr>
            <a:r>
              <a:t>(陈昌发)</a:t>
            </a:r>
          </a:p>
        </p:txBody>
      </p:sp>
      <p:sp>
        <p:nvSpPr>
          <p:cNvPr id="23" name="TextBox 22"/>
          <p:cNvSpPr txBox="1"/>
          <p:nvPr/>
        </p:nvSpPr>
        <p:spPr>
          <a:xfrm>
            <a:off x="8412478" y="3291840"/>
            <a:ext cx="3108960" cy="274320"/>
          </a:xfrm>
          <a:prstGeom prst="rect">
            <a:avLst/>
          </a:prstGeom>
          <a:noFill/>
        </p:spPr>
        <p:txBody>
          <a:bodyPr wrap="square">
            <a:spAutoFit/>
          </a:bodyPr>
          <a:lstStyle/>
          <a:p>
            <a:pPr algn="ctr">
              <a:defRPr sz="1100" b="1">
                <a:solidFill>
                  <a:srgbClr val="F59E0B"/>
                </a:solidFill>
                <a:latin typeface="Calibri" panose="020F0502020204030204"/>
              </a:defRPr>
            </a:pPr>
            <a:r>
              <a:t>Project Manager &amp; QA</a:t>
            </a:r>
          </a:p>
        </p:txBody>
      </p:sp>
      <p:sp>
        <p:nvSpPr>
          <p:cNvPr id="24" name="Rectangle 23"/>
          <p:cNvSpPr/>
          <p:nvPr/>
        </p:nvSpPr>
        <p:spPr>
          <a:xfrm>
            <a:off x="8595358" y="3657600"/>
            <a:ext cx="2743200" cy="25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18" y="3840480"/>
            <a:ext cx="2926080" cy="2286000"/>
          </a:xfrm>
          <a:prstGeom prst="rect">
            <a:avLst/>
          </a:prstGeom>
          <a:noFill/>
        </p:spPr>
        <p:txBody>
          <a:bodyPr wrap="square">
            <a:spAutoFit/>
          </a:bodyPr>
          <a:lstStyle/>
          <a:p>
            <a:pPr algn="l">
              <a:defRPr sz="1100" b="0">
                <a:solidFill>
                  <a:srgbClr val="E1E4E8"/>
                </a:solidFill>
                <a:latin typeface="Calibri" panose="020F0502020204030204"/>
              </a:defRPr>
            </a:pPr>
            <a:r>
              <a:t>AGENTS.md, documentation &amp; task tracking</a:t>
            </a:r>
            <a:br/>
            <a:r>
              <a:t>ErrorBoundary, NotFound, EmptyState components</a:t>
            </a:r>
            <a:br/>
            <a:r>
              <a:t>30+ test files (component + hook + API)</a:t>
            </a:r>
            <a:br/>
            <a:r>
              <a:t>CI/CD GitHub Actions pipeline</a:t>
            </a:r>
            <a:br/>
            <a:r>
              <a:t>Presentation preparation &amp; user manual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7315200" cy="548640"/>
          </a:xfrm>
          <a:prstGeom prst="rect">
            <a:avLst/>
          </a:prstGeom>
          <a:noFill/>
        </p:spPr>
        <p:txBody>
          <a:bodyPr wrap="square">
            <a:spAutoFit/>
          </a:bodyPr>
          <a:lstStyle/>
          <a:p>
            <a:pPr algn="l">
              <a:defRPr sz="3200" b="1">
                <a:solidFill>
                  <a:srgbClr val="FFFFFF"/>
                </a:solidFill>
                <a:latin typeface="Calibri" panose="020F0502020204030204"/>
              </a:defRPr>
            </a:pPr>
            <a:r>
              <a:t>Lessons Learned</a:t>
            </a:r>
          </a:p>
        </p:txBody>
      </p:sp>
      <p:sp>
        <p:nvSpPr>
          <p:cNvPr id="4" name="Rectangle 3"/>
          <p:cNvSpPr/>
          <p:nvPr/>
        </p:nvSpPr>
        <p:spPr>
          <a:xfrm>
            <a:off x="914400" y="1005840"/>
            <a:ext cx="18288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371600"/>
            <a:ext cx="320040" cy="32004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6" name="TextBox 5"/>
          <p:cNvSpPr txBox="1"/>
          <p:nvPr/>
        </p:nvSpPr>
        <p:spPr>
          <a:xfrm>
            <a:off x="1417320" y="1346200"/>
            <a:ext cx="4114800" cy="320040"/>
          </a:xfrm>
          <a:prstGeom prst="rect">
            <a:avLst/>
          </a:prstGeom>
          <a:noFill/>
        </p:spPr>
        <p:txBody>
          <a:bodyPr wrap="square">
            <a:spAutoFit/>
          </a:bodyPr>
          <a:lstStyle/>
          <a:p>
            <a:pPr algn="l">
              <a:defRPr sz="1500" b="1">
                <a:solidFill>
                  <a:srgbClr val="FFFFFF"/>
                </a:solidFill>
                <a:latin typeface="Calibri" panose="020F0502020204030204"/>
              </a:defRPr>
            </a:pPr>
            <a:r>
              <a:t>Serverless Architecture Works</a:t>
            </a:r>
          </a:p>
        </p:txBody>
      </p:sp>
      <p:sp>
        <p:nvSpPr>
          <p:cNvPr id="7" name="TextBox 6"/>
          <p:cNvSpPr txBox="1"/>
          <p:nvPr/>
        </p:nvSpPr>
        <p:spPr>
          <a:xfrm>
            <a:off x="1417320" y="1645920"/>
            <a:ext cx="9601200" cy="640080"/>
          </a:xfrm>
          <a:prstGeom prst="rect">
            <a:avLst/>
          </a:prstGeom>
          <a:noFill/>
        </p:spPr>
        <p:txBody>
          <a:bodyPr wrap="square">
            <a:spAutoFit/>
          </a:bodyPr>
          <a:lstStyle/>
          <a:p>
            <a:pPr algn="l">
              <a:defRPr sz="1200" b="0">
                <a:solidFill>
                  <a:srgbClr val="8B949E"/>
                </a:solidFill>
                <a:latin typeface="Calibri" panose="020F0502020204030204"/>
              </a:defRPr>
            </a:pPr>
            <a:r>
              <a:t>Supabase eliminated all backend operations — zero servers to maintain, zero DevOps overhead. Development focused entirely on product features.</a:t>
            </a:r>
          </a:p>
        </p:txBody>
      </p:sp>
      <p:sp>
        <p:nvSpPr>
          <p:cNvPr id="8" name="Oval 7"/>
          <p:cNvSpPr/>
          <p:nvPr/>
        </p:nvSpPr>
        <p:spPr>
          <a:xfrm>
            <a:off x="914400" y="2377440"/>
            <a:ext cx="320040" cy="32004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9" name="TextBox 8"/>
          <p:cNvSpPr txBox="1"/>
          <p:nvPr/>
        </p:nvSpPr>
        <p:spPr>
          <a:xfrm>
            <a:off x="1417320" y="2352040"/>
            <a:ext cx="4114800" cy="320040"/>
          </a:xfrm>
          <a:prstGeom prst="rect">
            <a:avLst/>
          </a:prstGeom>
          <a:noFill/>
        </p:spPr>
        <p:txBody>
          <a:bodyPr wrap="square">
            <a:spAutoFit/>
          </a:bodyPr>
          <a:lstStyle/>
          <a:p>
            <a:pPr algn="l">
              <a:defRPr sz="1500" b="1">
                <a:solidFill>
                  <a:srgbClr val="FFFFFF"/>
                </a:solidFill>
                <a:latin typeface="Calibri" panose="020F0502020204030204"/>
              </a:defRPr>
            </a:pPr>
            <a:r>
              <a:t>Real-time is Deceptively Hard</a:t>
            </a:r>
          </a:p>
        </p:txBody>
      </p:sp>
      <p:sp>
        <p:nvSpPr>
          <p:cNvPr id="10" name="TextBox 9"/>
          <p:cNvSpPr txBox="1"/>
          <p:nvPr/>
        </p:nvSpPr>
        <p:spPr>
          <a:xfrm>
            <a:off x="1417320" y="2651760"/>
            <a:ext cx="9601200" cy="640080"/>
          </a:xfrm>
          <a:prstGeom prst="rect">
            <a:avLst/>
          </a:prstGeom>
          <a:noFill/>
        </p:spPr>
        <p:txBody>
          <a:bodyPr wrap="square">
            <a:spAutoFit/>
          </a:bodyPr>
          <a:lstStyle/>
          <a:p>
            <a:pPr algn="l">
              <a:defRPr sz="1200" b="0">
                <a:solidFill>
                  <a:srgbClr val="8B949E"/>
                </a:solidFill>
                <a:latin typeface="Calibri" panose="020F0502020204030204"/>
              </a:defRPr>
            </a:pPr>
            <a:r>
              <a:t>Broadcasting changes is easy. The real challenge is merge logic: re-fetching joined data on every change and handling concurrent edits.</a:t>
            </a:r>
          </a:p>
        </p:txBody>
      </p:sp>
      <p:sp>
        <p:nvSpPr>
          <p:cNvPr id="11" name="Oval 10"/>
          <p:cNvSpPr/>
          <p:nvPr/>
        </p:nvSpPr>
        <p:spPr>
          <a:xfrm>
            <a:off x="914400" y="3383280"/>
            <a:ext cx="320040" cy="32004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2" name="TextBox 11"/>
          <p:cNvSpPr txBox="1"/>
          <p:nvPr/>
        </p:nvSpPr>
        <p:spPr>
          <a:xfrm>
            <a:off x="1417320" y="3357880"/>
            <a:ext cx="4114800" cy="320040"/>
          </a:xfrm>
          <a:prstGeom prst="rect">
            <a:avLst/>
          </a:prstGeom>
          <a:noFill/>
        </p:spPr>
        <p:txBody>
          <a:bodyPr wrap="square">
            <a:spAutoFit/>
          </a:bodyPr>
          <a:lstStyle/>
          <a:p>
            <a:pPr algn="l">
              <a:defRPr sz="1500" b="1">
                <a:solidFill>
                  <a:srgbClr val="FFFFFF"/>
                </a:solidFill>
                <a:latin typeface="Calibri" panose="020F0502020204030204"/>
              </a:defRPr>
            </a:pPr>
            <a:r>
              <a:t>Float8 Positioning is Elegant</a:t>
            </a:r>
          </a:p>
        </p:txBody>
      </p:sp>
      <p:sp>
        <p:nvSpPr>
          <p:cNvPr id="13" name="TextBox 12"/>
          <p:cNvSpPr txBox="1"/>
          <p:nvPr/>
        </p:nvSpPr>
        <p:spPr>
          <a:xfrm>
            <a:off x="1417320" y="3657600"/>
            <a:ext cx="9601200" cy="640080"/>
          </a:xfrm>
          <a:prstGeom prst="rect">
            <a:avLst/>
          </a:prstGeom>
          <a:noFill/>
        </p:spPr>
        <p:txBody>
          <a:bodyPr wrap="square">
            <a:spAutoFit/>
          </a:bodyPr>
          <a:lstStyle/>
          <a:p>
            <a:pPr algn="l">
              <a:defRPr sz="1200" b="0">
                <a:solidFill>
                  <a:srgbClr val="8B949E"/>
                </a:solidFill>
                <a:latin typeface="Calibri" panose="020F0502020204030204"/>
              </a:defRPr>
            </a:pPr>
            <a:r>
              <a:t>The midpoint algorithm avoids re-indexing entirely. positionBetween() handles insert, reorder, and edge cases in one simple function.</a:t>
            </a:r>
          </a:p>
        </p:txBody>
      </p:sp>
      <p:sp>
        <p:nvSpPr>
          <p:cNvPr id="14" name="Oval 13"/>
          <p:cNvSpPr/>
          <p:nvPr/>
        </p:nvSpPr>
        <p:spPr>
          <a:xfrm>
            <a:off x="914400" y="4389120"/>
            <a:ext cx="320040" cy="32004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5" name="TextBox 14"/>
          <p:cNvSpPr txBox="1"/>
          <p:nvPr/>
        </p:nvSpPr>
        <p:spPr>
          <a:xfrm>
            <a:off x="1417320" y="4363720"/>
            <a:ext cx="4114800" cy="320040"/>
          </a:xfrm>
          <a:prstGeom prst="rect">
            <a:avLst/>
          </a:prstGeom>
          <a:noFill/>
        </p:spPr>
        <p:txBody>
          <a:bodyPr wrap="square">
            <a:spAutoFit/>
          </a:bodyPr>
          <a:lstStyle/>
          <a:p>
            <a:pPr algn="l">
              <a:defRPr sz="1500" b="1">
                <a:solidFill>
                  <a:srgbClr val="FFFFFF"/>
                </a:solidFill>
                <a:latin typeface="Calibri" panose="020F0502020204030204"/>
              </a:defRPr>
            </a:pPr>
            <a:r>
              <a:t>Migrations as Source of Truth</a:t>
            </a:r>
          </a:p>
        </p:txBody>
      </p:sp>
      <p:sp>
        <p:nvSpPr>
          <p:cNvPr id="16" name="TextBox 15"/>
          <p:cNvSpPr txBox="1"/>
          <p:nvPr/>
        </p:nvSpPr>
        <p:spPr>
          <a:xfrm>
            <a:off x="1417320" y="4663440"/>
            <a:ext cx="9601200" cy="640080"/>
          </a:xfrm>
          <a:prstGeom prst="rect">
            <a:avLst/>
          </a:prstGeom>
          <a:noFill/>
        </p:spPr>
        <p:txBody>
          <a:bodyPr wrap="square">
            <a:spAutoFit/>
          </a:bodyPr>
          <a:lstStyle/>
          <a:p>
            <a:pPr algn="l">
              <a:defRPr sz="1200" b="0">
                <a:solidFill>
                  <a:srgbClr val="8B949E"/>
                </a:solidFill>
                <a:latin typeface="Calibri" panose="020F0502020204030204"/>
              </a:defRPr>
            </a:pPr>
            <a:r>
              <a:t>29 versioned SQL files give full schema history, reliable rollback, and make database changes reviewable like application code.</a:t>
            </a:r>
          </a:p>
        </p:txBody>
      </p:sp>
      <p:sp>
        <p:nvSpPr>
          <p:cNvPr id="17" name="Oval 16"/>
          <p:cNvSpPr/>
          <p:nvPr/>
        </p:nvSpPr>
        <p:spPr>
          <a:xfrm>
            <a:off x="914400" y="5394960"/>
            <a:ext cx="320040" cy="32004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18" name="TextBox 17"/>
          <p:cNvSpPr txBox="1"/>
          <p:nvPr/>
        </p:nvSpPr>
        <p:spPr>
          <a:xfrm>
            <a:off x="1417320" y="5369560"/>
            <a:ext cx="4114800" cy="320040"/>
          </a:xfrm>
          <a:prstGeom prst="rect">
            <a:avLst/>
          </a:prstGeom>
          <a:noFill/>
        </p:spPr>
        <p:txBody>
          <a:bodyPr wrap="square">
            <a:spAutoFit/>
          </a:bodyPr>
          <a:lstStyle/>
          <a:p>
            <a:pPr algn="l">
              <a:defRPr sz="1500" b="1">
                <a:solidFill>
                  <a:srgbClr val="FFFFFF"/>
                </a:solidFill>
                <a:latin typeface="Calibri" panose="020F0502020204030204"/>
              </a:defRPr>
            </a:pPr>
            <a:r>
              <a:t>Testing Pays Off</a:t>
            </a:r>
          </a:p>
        </p:txBody>
      </p:sp>
      <p:sp>
        <p:nvSpPr>
          <p:cNvPr id="19" name="TextBox 18"/>
          <p:cNvSpPr txBox="1"/>
          <p:nvPr/>
        </p:nvSpPr>
        <p:spPr>
          <a:xfrm>
            <a:off x="1417320" y="5669280"/>
            <a:ext cx="9601200" cy="640080"/>
          </a:xfrm>
          <a:prstGeom prst="rect">
            <a:avLst/>
          </a:prstGeom>
          <a:noFill/>
        </p:spPr>
        <p:txBody>
          <a:bodyPr wrap="square">
            <a:spAutoFit/>
          </a:bodyPr>
          <a:lstStyle/>
          <a:p>
            <a:pPr algn="l">
              <a:defRPr sz="1200" b="0">
                <a:solidFill>
                  <a:srgbClr val="8B949E"/>
                </a:solidFill>
                <a:latin typeface="Calibri" panose="020F0502020204030204"/>
              </a:defRPr>
            </a:pPr>
            <a:r>
              <a:t>30+ tests with mocked Supabase caught regressions early. Vitest's Vite integration made tests fast — the suite runs in seconds.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54880" y="457200"/>
            <a:ext cx="2743200" cy="6400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0" y="475488"/>
            <a:ext cx="2743200" cy="640080"/>
          </a:xfrm>
          <a:prstGeom prst="rect">
            <a:avLst/>
          </a:prstGeom>
          <a:noFill/>
        </p:spPr>
        <p:txBody>
          <a:bodyPr wrap="square">
            <a:spAutoFit/>
          </a:bodyPr>
          <a:lstStyle/>
          <a:p>
            <a:pPr algn="ctr">
              <a:defRPr sz="2200" b="1">
                <a:solidFill>
                  <a:srgbClr val="FFFFFF"/>
                </a:solidFill>
                <a:latin typeface="Calibri" panose="020F0502020204030204"/>
              </a:defRPr>
            </a:pPr>
            <a:r>
              <a:t>LIVE DEMO</a:t>
            </a:r>
          </a:p>
        </p:txBody>
      </p:sp>
      <p:sp>
        <p:nvSpPr>
          <p:cNvPr id="5" name="Rectangle 4"/>
          <p:cNvSpPr/>
          <p:nvPr/>
        </p:nvSpPr>
        <p:spPr>
          <a:xfrm>
            <a:off x="914400" y="1280160"/>
            <a:ext cx="10332720" cy="381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45920"/>
            <a:ext cx="3291840" cy="164592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783080"/>
            <a:ext cx="365760" cy="36576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1</a:t>
            </a:r>
          </a:p>
        </p:txBody>
      </p:sp>
      <p:sp>
        <p:nvSpPr>
          <p:cNvPr id="8" name="TextBox 7"/>
          <p:cNvSpPr txBox="1"/>
          <p:nvPr/>
        </p:nvSpPr>
        <p:spPr>
          <a:xfrm>
            <a:off x="1554480" y="1783080"/>
            <a:ext cx="2468880" cy="365760"/>
          </a:xfrm>
          <a:prstGeom prst="rect">
            <a:avLst/>
          </a:prstGeom>
          <a:noFill/>
        </p:spPr>
        <p:txBody>
          <a:bodyPr wrap="square">
            <a:spAutoFit/>
          </a:bodyPr>
          <a:lstStyle/>
          <a:p>
            <a:pPr algn="l">
              <a:defRPr sz="1400" b="1">
                <a:solidFill>
                  <a:srgbClr val="FFFFFF"/>
                </a:solidFill>
                <a:latin typeface="Calibri" panose="020F0502020204030204"/>
              </a:defRPr>
            </a:pPr>
            <a:r>
              <a:t>Sign in / Create account</a:t>
            </a:r>
          </a:p>
        </p:txBody>
      </p:sp>
      <p:sp>
        <p:nvSpPr>
          <p:cNvPr id="9" name="TextBox 8"/>
          <p:cNvSpPr txBox="1"/>
          <p:nvPr/>
        </p:nvSpPr>
        <p:spPr>
          <a:xfrm>
            <a:off x="1097280" y="2286000"/>
            <a:ext cx="2926080" cy="914400"/>
          </a:xfrm>
          <a:prstGeom prst="rect">
            <a:avLst/>
          </a:prstGeom>
          <a:noFill/>
        </p:spPr>
        <p:txBody>
          <a:bodyPr wrap="square">
            <a:spAutoFit/>
          </a:bodyPr>
          <a:lstStyle/>
          <a:p>
            <a:pPr algn="l">
              <a:defRPr sz="1100" b="0">
                <a:solidFill>
                  <a:srgbClr val="8B949E"/>
                </a:solidFill>
                <a:latin typeface="Calibri" panose="020F0502020204030204"/>
              </a:defRPr>
            </a:pPr>
            <a:r>
              <a:t>Supabase Auth with email + password</a:t>
            </a:r>
          </a:p>
        </p:txBody>
      </p:sp>
      <p:sp>
        <p:nvSpPr>
          <p:cNvPr id="10" name="Rectangle 9"/>
          <p:cNvSpPr/>
          <p:nvPr/>
        </p:nvSpPr>
        <p:spPr>
          <a:xfrm>
            <a:off x="4480560" y="1645920"/>
            <a:ext cx="3291840" cy="164592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20" y="1783080"/>
            <a:ext cx="365760" cy="36576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a:t>
            </a:r>
          </a:p>
        </p:txBody>
      </p:sp>
      <p:sp>
        <p:nvSpPr>
          <p:cNvPr id="12" name="TextBox 11"/>
          <p:cNvSpPr txBox="1"/>
          <p:nvPr/>
        </p:nvSpPr>
        <p:spPr>
          <a:xfrm>
            <a:off x="5120640" y="1783080"/>
            <a:ext cx="2468880" cy="365760"/>
          </a:xfrm>
          <a:prstGeom prst="rect">
            <a:avLst/>
          </a:prstGeom>
          <a:noFill/>
        </p:spPr>
        <p:txBody>
          <a:bodyPr wrap="square">
            <a:spAutoFit/>
          </a:bodyPr>
          <a:lstStyle/>
          <a:p>
            <a:pPr algn="l">
              <a:defRPr sz="1400" b="1">
                <a:solidFill>
                  <a:srgbClr val="FFFFFF"/>
                </a:solidFill>
                <a:latin typeface="Calibri" panose="020F0502020204030204"/>
              </a:defRPr>
            </a:pPr>
            <a:r>
              <a:t>Create a project &amp; add tasks</a:t>
            </a:r>
          </a:p>
        </p:txBody>
      </p:sp>
      <p:sp>
        <p:nvSpPr>
          <p:cNvPr id="13" name="TextBox 12"/>
          <p:cNvSpPr txBox="1"/>
          <p:nvPr/>
        </p:nvSpPr>
        <p:spPr>
          <a:xfrm>
            <a:off x="4663440" y="2286000"/>
            <a:ext cx="2926080" cy="914400"/>
          </a:xfrm>
          <a:prstGeom prst="rect">
            <a:avLst/>
          </a:prstGeom>
          <a:noFill/>
        </p:spPr>
        <p:txBody>
          <a:bodyPr wrap="square">
            <a:spAutoFit/>
          </a:bodyPr>
          <a:lstStyle/>
          <a:p>
            <a:pPr algn="l">
              <a:defRPr sz="1100" b="0">
                <a:solidFill>
                  <a:srgbClr val="8B949E"/>
                </a:solidFill>
                <a:latin typeface="Calibri" panose="020F0502020204030204"/>
              </a:defRPr>
            </a:pPr>
            <a:r>
              <a:t>Set priority, due date, labels, assignee</a:t>
            </a:r>
          </a:p>
        </p:txBody>
      </p:sp>
      <p:sp>
        <p:nvSpPr>
          <p:cNvPr id="14" name="Rectangle 13"/>
          <p:cNvSpPr/>
          <p:nvPr/>
        </p:nvSpPr>
        <p:spPr>
          <a:xfrm>
            <a:off x="8046720" y="1645920"/>
            <a:ext cx="3291840" cy="164592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83880" y="1783080"/>
            <a:ext cx="365760" cy="36576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3</a:t>
            </a:r>
          </a:p>
        </p:txBody>
      </p:sp>
      <p:sp>
        <p:nvSpPr>
          <p:cNvPr id="16" name="TextBox 15"/>
          <p:cNvSpPr txBox="1"/>
          <p:nvPr/>
        </p:nvSpPr>
        <p:spPr>
          <a:xfrm>
            <a:off x="8686800" y="1783080"/>
            <a:ext cx="2468880" cy="365760"/>
          </a:xfrm>
          <a:prstGeom prst="rect">
            <a:avLst/>
          </a:prstGeom>
          <a:noFill/>
        </p:spPr>
        <p:txBody>
          <a:bodyPr wrap="square">
            <a:spAutoFit/>
          </a:bodyPr>
          <a:lstStyle/>
          <a:p>
            <a:pPr algn="l">
              <a:defRPr sz="1400" b="1">
                <a:solidFill>
                  <a:srgbClr val="FFFFFF"/>
                </a:solidFill>
                <a:latin typeface="Calibri" panose="020F0502020204030204"/>
              </a:defRPr>
            </a:pPr>
            <a:r>
              <a:t>Drag &amp; drop between columns</a:t>
            </a:r>
          </a:p>
        </p:txBody>
      </p:sp>
      <p:sp>
        <p:nvSpPr>
          <p:cNvPr id="17" name="TextBox 16"/>
          <p:cNvSpPr txBox="1"/>
          <p:nvPr/>
        </p:nvSpPr>
        <p:spPr>
          <a:xfrm>
            <a:off x="8229600" y="2286000"/>
            <a:ext cx="2926080" cy="914400"/>
          </a:xfrm>
          <a:prstGeom prst="rect">
            <a:avLst/>
          </a:prstGeom>
          <a:noFill/>
        </p:spPr>
        <p:txBody>
          <a:bodyPr wrap="square">
            <a:spAutoFit/>
          </a:bodyPr>
          <a:lstStyle/>
          <a:p>
            <a:pPr algn="l">
              <a:defRPr sz="1100" b="0">
                <a:solidFill>
                  <a:srgbClr val="8B949E"/>
                </a:solidFill>
                <a:latin typeface="Calibri" panose="020F0502020204030204"/>
              </a:defRPr>
            </a:pPr>
            <a:r>
              <a:t>Todo → Doing → Done, reorder within</a:t>
            </a:r>
          </a:p>
        </p:txBody>
      </p:sp>
      <p:sp>
        <p:nvSpPr>
          <p:cNvPr id="18" name="Rectangle 17"/>
          <p:cNvSpPr/>
          <p:nvPr/>
        </p:nvSpPr>
        <p:spPr>
          <a:xfrm>
            <a:off x="914400" y="3657600"/>
            <a:ext cx="3291840" cy="164592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794760"/>
            <a:ext cx="365760" cy="36576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a:t>
            </a:r>
          </a:p>
        </p:txBody>
      </p:sp>
      <p:sp>
        <p:nvSpPr>
          <p:cNvPr id="20" name="TextBox 19"/>
          <p:cNvSpPr txBox="1"/>
          <p:nvPr/>
        </p:nvSpPr>
        <p:spPr>
          <a:xfrm>
            <a:off x="1554480" y="3794760"/>
            <a:ext cx="2468880" cy="365760"/>
          </a:xfrm>
          <a:prstGeom prst="rect">
            <a:avLst/>
          </a:prstGeom>
          <a:noFill/>
        </p:spPr>
        <p:txBody>
          <a:bodyPr wrap="square">
            <a:spAutoFit/>
          </a:bodyPr>
          <a:lstStyle/>
          <a:p>
            <a:pPr algn="l">
              <a:defRPr sz="1400" b="1">
                <a:solidFill>
                  <a:srgbClr val="FFFFFF"/>
                </a:solidFill>
                <a:latin typeface="Calibri" panose="020F0502020204030204"/>
              </a:defRPr>
            </a:pPr>
            <a:r>
              <a:t>Real-time sync</a:t>
            </a:r>
          </a:p>
        </p:txBody>
      </p:sp>
      <p:sp>
        <p:nvSpPr>
          <p:cNvPr id="21" name="TextBox 20"/>
          <p:cNvSpPr txBox="1"/>
          <p:nvPr/>
        </p:nvSpPr>
        <p:spPr>
          <a:xfrm>
            <a:off x="1097280" y="4297680"/>
            <a:ext cx="2926080" cy="914400"/>
          </a:xfrm>
          <a:prstGeom prst="rect">
            <a:avLst/>
          </a:prstGeom>
          <a:noFill/>
        </p:spPr>
        <p:txBody>
          <a:bodyPr wrap="square">
            <a:spAutoFit/>
          </a:bodyPr>
          <a:lstStyle/>
          <a:p>
            <a:pPr algn="l">
              <a:defRPr sz="1100" b="0">
                <a:solidFill>
                  <a:srgbClr val="8B949E"/>
                </a:solidFill>
                <a:latin typeface="Calibri" panose="020F0502020204030204"/>
              </a:defRPr>
            </a:pPr>
            <a:r>
              <a:t>Open second browser → see changes instantly</a:t>
            </a:r>
          </a:p>
        </p:txBody>
      </p:sp>
      <p:sp>
        <p:nvSpPr>
          <p:cNvPr id="22" name="Rectangle 21"/>
          <p:cNvSpPr/>
          <p:nvPr/>
        </p:nvSpPr>
        <p:spPr>
          <a:xfrm>
            <a:off x="4480560" y="3657600"/>
            <a:ext cx="3291840" cy="164592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617720" y="3794760"/>
            <a:ext cx="365760" cy="36576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5</a:t>
            </a:r>
          </a:p>
        </p:txBody>
      </p:sp>
      <p:sp>
        <p:nvSpPr>
          <p:cNvPr id="24" name="TextBox 23"/>
          <p:cNvSpPr txBox="1"/>
          <p:nvPr/>
        </p:nvSpPr>
        <p:spPr>
          <a:xfrm>
            <a:off x="5120640" y="3794760"/>
            <a:ext cx="2468880" cy="365760"/>
          </a:xfrm>
          <a:prstGeom prst="rect">
            <a:avLst/>
          </a:prstGeom>
          <a:noFill/>
        </p:spPr>
        <p:txBody>
          <a:bodyPr wrap="square">
            <a:spAutoFit/>
          </a:bodyPr>
          <a:lstStyle/>
          <a:p>
            <a:pPr algn="l">
              <a:defRPr sz="1400" b="1">
                <a:solidFill>
                  <a:srgbClr val="FFFFFF"/>
                </a:solidFill>
                <a:latin typeface="Calibri" panose="020F0502020204030204"/>
              </a:defRPr>
            </a:pPr>
            <a:r>
              <a:t>Switch views</a:t>
            </a:r>
          </a:p>
        </p:txBody>
      </p:sp>
      <p:sp>
        <p:nvSpPr>
          <p:cNvPr id="25" name="TextBox 24"/>
          <p:cNvSpPr txBox="1"/>
          <p:nvPr/>
        </p:nvSpPr>
        <p:spPr>
          <a:xfrm>
            <a:off x="4663440" y="4297680"/>
            <a:ext cx="2926080" cy="914400"/>
          </a:xfrm>
          <a:prstGeom prst="rect">
            <a:avLst/>
          </a:prstGeom>
          <a:noFill/>
        </p:spPr>
        <p:txBody>
          <a:bodyPr wrap="square">
            <a:spAutoFit/>
          </a:bodyPr>
          <a:lstStyle/>
          <a:p>
            <a:pPr algn="l">
              <a:defRPr sz="1100" b="0">
                <a:solidFill>
                  <a:srgbClr val="8B949E"/>
                </a:solidFill>
                <a:latin typeface="Calibri" panose="020F0502020204030204"/>
              </a:defRPr>
            </a:pPr>
            <a:r>
              <a:t>Kanban → Gantt chart → 3D Sphere → List</a:t>
            </a:r>
          </a:p>
        </p:txBody>
      </p:sp>
      <p:sp>
        <p:nvSpPr>
          <p:cNvPr id="26" name="Rectangle 25"/>
          <p:cNvSpPr/>
          <p:nvPr/>
        </p:nvSpPr>
        <p:spPr>
          <a:xfrm>
            <a:off x="8046720" y="3657600"/>
            <a:ext cx="3291840" cy="164592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183880" y="3794760"/>
            <a:ext cx="365760" cy="36576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6</a:t>
            </a:r>
          </a:p>
        </p:txBody>
      </p:sp>
      <p:sp>
        <p:nvSpPr>
          <p:cNvPr id="28" name="TextBox 27"/>
          <p:cNvSpPr txBox="1"/>
          <p:nvPr/>
        </p:nvSpPr>
        <p:spPr>
          <a:xfrm>
            <a:off x="8686800" y="3794760"/>
            <a:ext cx="2468880" cy="365760"/>
          </a:xfrm>
          <a:prstGeom prst="rect">
            <a:avLst/>
          </a:prstGeom>
          <a:noFill/>
        </p:spPr>
        <p:txBody>
          <a:bodyPr wrap="square">
            <a:spAutoFit/>
          </a:bodyPr>
          <a:lstStyle/>
          <a:p>
            <a:pPr algn="l">
              <a:defRPr sz="1400" b="1">
                <a:solidFill>
                  <a:srgbClr val="FFFFFF"/>
                </a:solidFill>
                <a:latin typeface="Calibri" panose="020F0502020204030204"/>
              </a:defRPr>
            </a:pPr>
            <a:r>
              <a:t>Export data</a:t>
            </a:r>
          </a:p>
        </p:txBody>
      </p:sp>
      <p:sp>
        <p:nvSpPr>
          <p:cNvPr id="29" name="TextBox 28"/>
          <p:cNvSpPr txBox="1"/>
          <p:nvPr/>
        </p:nvSpPr>
        <p:spPr>
          <a:xfrm>
            <a:off x="8229600" y="4297680"/>
            <a:ext cx="2926080" cy="914400"/>
          </a:xfrm>
          <a:prstGeom prst="rect">
            <a:avLst/>
          </a:prstGeom>
          <a:noFill/>
        </p:spPr>
        <p:txBody>
          <a:bodyPr wrap="square">
            <a:spAutoFit/>
          </a:bodyPr>
          <a:lstStyle/>
          <a:p>
            <a:pPr algn="l">
              <a:defRPr sz="1100" b="0">
                <a:solidFill>
                  <a:srgbClr val="8B949E"/>
                </a:solidFill>
                <a:latin typeface="Calibri" panose="020F0502020204030204"/>
              </a:defRPr>
            </a:pPr>
            <a:r>
              <a:t>Download as XLSX or PDF</a:t>
            </a:r>
          </a:p>
        </p:txBody>
      </p:sp>
      <p:sp>
        <p:nvSpPr>
          <p:cNvPr id="30" name="Rectangle 29"/>
          <p:cNvSpPr/>
          <p:nvPr/>
        </p:nvSpPr>
        <p:spPr>
          <a:xfrm>
            <a:off x="3200400" y="5943600"/>
            <a:ext cx="5760720" cy="411480"/>
          </a:xfrm>
          <a:prstGeom prst="rect">
            <a:avLst/>
          </a:prstGeom>
          <a:solidFill>
            <a:srgbClr val="2227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0" y="5961888"/>
            <a:ext cx="5760720" cy="411480"/>
          </a:xfrm>
          <a:prstGeom prst="rect">
            <a:avLst/>
          </a:prstGeom>
          <a:noFill/>
        </p:spPr>
        <p:txBody>
          <a:bodyPr wrap="square">
            <a:spAutoFit/>
          </a:bodyPr>
          <a:lstStyle/>
          <a:p>
            <a:pPr algn="ctr">
              <a:defRPr sz="1300" b="0">
                <a:solidFill>
                  <a:srgbClr val="A5B4FC"/>
                </a:solidFill>
                <a:latin typeface="Calibri" panose="020F0502020204030204"/>
              </a:defRPr>
            </a:pPr>
            <a:r>
              <a:t>Demo time: ~2 minutes — watch the full workflow in action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914400"/>
          </a:xfrm>
          <a:prstGeom prst="rect">
            <a:avLst/>
          </a:prstGeom>
          <a:noFill/>
        </p:spPr>
        <p:txBody>
          <a:bodyPr wrap="square">
            <a:spAutoFit/>
          </a:bodyPr>
          <a:lstStyle/>
          <a:p>
            <a:pPr algn="ctr">
              <a:defRPr sz="4800" b="1">
                <a:solidFill>
                  <a:srgbClr val="FFFFFF"/>
                </a:solidFill>
                <a:latin typeface="Calibri" panose="020F0502020204030204"/>
              </a:defRPr>
            </a:pPr>
            <a:r>
              <a:t>Thank You</a:t>
            </a:r>
          </a:p>
        </p:txBody>
      </p:sp>
      <p:sp>
        <p:nvSpPr>
          <p:cNvPr id="4" name="TextBox 3"/>
          <p:cNvSpPr txBox="1"/>
          <p:nvPr/>
        </p:nvSpPr>
        <p:spPr>
          <a:xfrm>
            <a:off x="914400" y="3017520"/>
            <a:ext cx="10332720" cy="457200"/>
          </a:xfrm>
          <a:prstGeom prst="rect">
            <a:avLst/>
          </a:prstGeom>
          <a:noFill/>
        </p:spPr>
        <p:txBody>
          <a:bodyPr wrap="square">
            <a:spAutoFit/>
          </a:bodyPr>
          <a:lstStyle/>
          <a:p>
            <a:pPr algn="ctr">
              <a:defRPr sz="2400" b="0">
                <a:solidFill>
                  <a:srgbClr val="A5B4FC"/>
                </a:solidFill>
                <a:latin typeface="Calibri" panose="020F0502020204030204"/>
              </a:defRPr>
            </a:pPr>
            <a:r>
              <a:t>Questions?</a:t>
            </a:r>
          </a:p>
        </p:txBody>
      </p:sp>
      <p:sp>
        <p:nvSpPr>
          <p:cNvPr id="5" name="TextBox 4"/>
          <p:cNvSpPr txBox="1"/>
          <p:nvPr/>
        </p:nvSpPr>
        <p:spPr>
          <a:xfrm>
            <a:off x="914400" y="4114800"/>
            <a:ext cx="10332720" cy="365760"/>
          </a:xfrm>
          <a:prstGeom prst="rect">
            <a:avLst/>
          </a:prstGeom>
          <a:noFill/>
        </p:spPr>
        <p:txBody>
          <a:bodyPr wrap="square">
            <a:spAutoFit/>
          </a:bodyPr>
          <a:lstStyle/>
          <a:p>
            <a:pPr algn="ctr">
              <a:defRPr sz="1400" b="0">
                <a:solidFill>
                  <a:srgbClr val="8B949E"/>
                </a:solidFill>
                <a:latin typeface="Calibri" panose="020F0502020204030204"/>
              </a:defRPr>
            </a:pPr>
            <a:r>
              <a:t>Built with React 19 · Supabase · Vite 8 · Tailwind CSS 4 · @dnd-kit</a:t>
            </a:r>
          </a:p>
        </p:txBody>
      </p:sp>
      <p:sp>
        <p:nvSpPr>
          <p:cNvPr id="6" name="Rectangle 5"/>
          <p:cNvSpPr/>
          <p:nvPr/>
        </p:nvSpPr>
        <p:spPr>
          <a:xfrm>
            <a:off x="4114800" y="5029200"/>
            <a:ext cx="3931920" cy="457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5047488"/>
            <a:ext cx="3931920" cy="457200"/>
          </a:xfrm>
          <a:prstGeom prst="rect">
            <a:avLst/>
          </a:prstGeom>
          <a:noFill/>
        </p:spPr>
        <p:txBody>
          <a:bodyPr wrap="square">
            <a:spAutoFit/>
          </a:bodyPr>
          <a:lstStyle/>
          <a:p>
            <a:pPr algn="ctr">
              <a:defRPr sz="1300" b="1">
                <a:solidFill>
                  <a:srgbClr val="FFFFFF"/>
                </a:solidFill>
                <a:latin typeface="Calibri" panose="020F0502020204030204"/>
              </a:defRPr>
            </a:pPr>
            <a:r>
              <a:t>github.com/Echeq/MiniSemesterProject</a:t>
            </a:r>
          </a:p>
        </p:txBody>
      </p:sp>
      <p:sp>
        <p:nvSpPr>
          <p:cNvPr id="8" name="TextBox 7"/>
          <p:cNvSpPr txBox="1"/>
          <p:nvPr/>
        </p:nvSpPr>
        <p:spPr>
          <a:xfrm>
            <a:off x="914400" y="5943600"/>
            <a:ext cx="10332720" cy="365760"/>
          </a:xfrm>
          <a:prstGeom prst="rect">
            <a:avLst/>
          </a:prstGeom>
          <a:noFill/>
        </p:spPr>
        <p:txBody>
          <a:bodyPr wrap="square">
            <a:spAutoFit/>
          </a:bodyPr>
          <a:lstStyle/>
          <a:p>
            <a:pPr algn="ctr">
              <a:defRPr sz="1200" b="0">
                <a:solidFill>
                  <a:srgbClr val="8B949E"/>
                </a:solidFill>
                <a:latin typeface="Calibri" panose="020F0502020204030204"/>
              </a:defRPr>
            </a:pPr>
            <a:r>
              <a:t>@goanarbolkong  ·  @MemerZxZ  ·  @Echeq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7137</Words>
  <Application>WPS 演示</Application>
  <PresentationFormat>On-screen Show (4:3)</PresentationFormat>
  <Paragraphs>465</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SimSun</vt:lpstr>
      <vt:lpstr>Wingdings</vt:lpstr>
      <vt:lpstr>Arial</vt:lpstr>
      <vt:lpstr>Calibri</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陈昌发 Elvis</cp:lastModifiedBy>
  <cp:revision>3</cp:revision>
  <dcterms:created xsi:type="dcterms:W3CDTF">2013-01-27T09:14:00Z</dcterms:created>
  <dcterms:modified xsi:type="dcterms:W3CDTF">2026-07-01T12:54:02Z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14DF95C91763432C990814E26A4EEEB9_12</vt:lpwstr>
  </property>
  <property fmtid="{D5CDD505-2E9C-101B-9397-08002B2CF9AE}" pid="3" name="KSOProductBuildVer">
    <vt:lpwstr>2052-12.1.0.26895</vt:lpwstr>
  </property>
</Properties>
</file>