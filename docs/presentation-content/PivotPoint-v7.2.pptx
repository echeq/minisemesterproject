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everyone. Today we present PivotPoint, a real-time collaborative Kanban dashboard built with React 19 and Supabase. We are Group 5 from the Software Engineering Training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have 11 topics today, from project overview through the live demo. The presentation is bilingual — Chinese and English — for our international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Many project management tools are fragmented, lack real-time sync, are complex to deploy, expensive, and rigid. PivotPoint solves all this with a unified, real-time, serverless approach. It's designed for small teams who need a lightweight alternative to tools like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journey starts with environment validation, then authentication via Supabase Auth. A role gate determines access. The first user becomes admin. Invited users become members. Everyone else is unknown and must request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 management is the core module. It supports full CRUD, drag-and-drop with @dnd-kit, a float8 positioning algorithm that avoids re-indexing, P0-P3 priorities, smart views, assignments with dependencies and circular detection, and custom labels per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Real-time collaboration is powered by Supabase Realtime. Every change broadcasts instantly. We track online presence, active editors, and send database-triggered notifications. A sequence diagram on the left shows the full data flow from user action to UI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PivotPoint offers 5 view modes: Kanban, Gantt chart, 3D Sphere, Dashboard, and List view. Users can export to XLSX, PDF, or CSV. The interface supports 5 languages including Arabic RTL. Light/dark themes and keyboard shortcuts complete the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diagram shows the full stack. React 19 on the frontend communicates with Supabase via the supabase-js SDK. Supabase provides Auth, PostgREST API, Realtime, and Storage. The database is PostgreSQL with 29 versioned migrations. Vitest powers testing and GitHub Actions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faced 6 major challenges. The @dnd-kit version mismatch required careful import paths. MCP migrations caused local drift. A priority column added outside migrations broke column grants. Realtime payloads lacked join data. RLS took 6 iterations. And Rolldown's strict formatting required consistent code style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technical highlights. First, the float8 positioning algorithm. Second, 29 versioned SQL migrations with Row-Level Security. Third, Supabase Realtime with re-fetch pattern. Fourth, comprehensive testing with Vitest and mocked Supabase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team members. @goanarbolkong led frontend development, including drag-and-drop, visualizations, and exports. @MemerZxZ designed all database migrations, RPCs, and RLS. @Echeq managed documentation, testing, CI/CD,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key lessons. Serverless works. Real-time is harder than it looks. The float8 positioning algorithm is elegant. Teamwork with clear roles was essential. Versioned SQL migrations provide reliable schema management. And comprehensive testing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for the live demo. We'll walk through 6 steps in about 2 minutes: signing in, creating a project and tasks, drag-and-drop, demonstrating real-time sync across two browsers, switching views, and exporting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attention. We've demonstrated that React 19 and Supabase can build a production-grade, real-time collaborative application. The source code is on GitHub. Thank you in 5 languages. We're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 panose="020F0502020204030204"/>
              </a:defRPr>
            </a:pPr>
            <a:r>
              <a:t>PivotPoint 实时协同看板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Calibri" panose="020F0502020204030204"/>
              </a:defRPr>
            </a:pPr>
            <a:r>
              <a:t>PivotPoint — Real-time Collaborative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A5B4FC"/>
                </a:solidFill>
                <a:latin typeface="Calibri" panose="020F0502020204030204"/>
              </a:defRPr>
            </a:pPr>
            <a:r>
              <a:t>第五组 — 软件工程实训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1833" y="3566160"/>
            <a:ext cx="315785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 panose="020F0502020204030204"/>
              </a:defRPr>
            </a:pPr>
            <a:r>
              <a:t>Group </a:t>
            </a:r>
            <a:r>
              <a:rPr lang="en-US"/>
              <a:t>3</a:t>
            </a:r>
            <a:r>
              <a:t> — Software Engineering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 panose="020F0502020204030204"/>
              </a:defRPr>
            </a:pPr>
            <a:r>
              <a:t>React 19 · Supabase · Vite 8 · Tailwind CSS 4 · @dnd-kit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E1E4E8"/>
                </a:solidFill>
                <a:latin typeface="Calibri" panose="020F0502020204030204"/>
              </a:defRPr>
            </a:pPr>
            <a:r>
              <a:t>@goanarbolkong · @MemerZxZ · @Echeq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4A4D55"/>
                </a:solidFill>
                <a:latin typeface="Calibri" panose="020F0502020204030204"/>
              </a:defRPr>
            </a:pPr>
            <a:r>
              <a:t>July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6035040"/>
            <a:ext cx="39319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8084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会议议程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Agenda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31520" y="157988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01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项目概览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Project Overview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9" name="Oval 8"/>
          <p:cNvSpPr/>
          <p:nvPr/>
        </p:nvSpPr>
        <p:spPr>
          <a:xfrm>
            <a:off x="4389120" y="157988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02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核心业务流程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0" y="18105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Core Business Process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046720" y="157988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03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核心功能：任务管理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0" y="18105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Core Features: Task Management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31520" y="235712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04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23317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核心功能：实时协作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8720" y="2587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Core Features: Real-time Collaboration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389120" y="235712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05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23317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核心功能：视图与导出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2587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Core Features: Views &amp; Export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46720" y="235712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06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233172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架构与技术栈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3920" y="258775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Architecture &amp; Tech Stack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31520" y="31343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07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88720" y="31089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挑战与解决方案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3364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Challenges &amp; Solutions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89120" y="31343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08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31089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技术亮点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0" y="3364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Technical Highlights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046720" y="31343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09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03920" y="31089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个人贡献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03920" y="3364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Individual Contributions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31520" y="391160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10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720" y="38862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经验与收获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8720" y="41422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Lessons Learned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389120" y="391160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11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46320" y="38862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现场演示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46320" y="414223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Live Demo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8084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</a:rPr>
              <a:t>项目概览</a:t>
            </a:r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</a:rPr>
              <a:t>Project Overview</a:t>
            </a:r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9875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面向需要轻量级 Jira 替代方案的小团队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For small teams needing a lightweight Jira alternative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F222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✕ 痛点 Problems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</a:rPr>
              <a:t>Pain Points</a:t>
            </a:r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66344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工具碎片化，信息分散在不同平台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Fragmented tools, scattered information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66344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缺乏实时同步，进度更新延迟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No real-time sync, delayed progress updates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466344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部署复杂，基础设施成本高昂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Complex deployment, high infrastructure costs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66344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工作流僵化，难以定制适配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Rigid workflows, hard to customize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466344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按席位收费，团队扩展成本高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Per-seat licensing, expensive at scale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5303520" cy="393192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✓ PivotPoint 解决方案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</a:rPr>
              <a:t>Our Solution</a:t>
            </a:r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484632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统一看板：任务、项目、标签一体化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All-in-one Kanban: tasks, projects, labels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484632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毫秒级实时同步，基于 Supabase Realtime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Millisecond real-time sync via Realtime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484632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零服务器运维，完全 Serverless 架构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Zero server ops, fully serverless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84632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5种视图、5种语言、RBAC 权限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5 views, 5 languages, RBAC permissions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846320" cy="485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面向团队协作优化，开箱即用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  <a:p>
            <a:pPr algn="l">
              <a:spcAft>
                <a:spcPts val="400"/>
              </a:spcAft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• Team-optimized, out-of-the-box experience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86000" y="6309360"/>
            <a:ext cx="758952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6327648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  <a:cs typeface="Microsoft JhengHei UI" panose="020B0604030504040204" charset="-120"/>
              </a:rPr>
              <a:t>轻量 · 实时 · 可定制 — 重新定义团队协作</a:t>
            </a:r>
            <a:endParaRPr>
              <a:latin typeface="Microsoft JhengHei UI" panose="020B0604030504040204" charset="-120"/>
              <a:ea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rPr>
                <a:latin typeface="Microsoft JhengHei UI" panose="020B0604030504040204" charset="-120"/>
                <a:ea typeface="Microsoft JhengHei UI" panose="020B0604030504040204" charset="-120"/>
              </a:rPr>
              <a:t>3</a:t>
            </a:r>
            <a:endParaRPr>
              <a:latin typeface="Microsoft JhengHei UI" panose="020B0604030504040204" charset="-120"/>
              <a:ea typeface="Microsoft JhengHei UI" panose="020B060403050404020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26212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核心业务流程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</a:rPr>
              <a:t>Core Business Process</a:t>
            </a:r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pic>
        <p:nvPicPr>
          <p:cNvPr id="6" name="Picture 5" descr="business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970" y="1025525"/>
            <a:ext cx="3666490" cy="54667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30365" y="1188720"/>
            <a:ext cx="5339080" cy="530352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13245" y="1280160"/>
            <a:ext cx="47917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5B4FC"/>
                </a:solidFill>
                <a:latin typeface="Calibri" panose="020F0502020204030204"/>
              </a:defRPr>
            </a:pPr>
            <a:r>
              <a:rPr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角色规则 Role Rules</a:t>
            </a:r>
            <a:endParaRPr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6913245" y="1737360"/>
            <a:ext cx="46545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16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第一个注册 → 管理员</a:t>
            </a:r>
            <a:endParaRPr sz="16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913245" y="1938655"/>
            <a:ext cx="46545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rPr sz="1200">
                <a:latin typeface="Microsoft JhengHei" panose="020B0604030504040204" charset="-120"/>
                <a:ea typeface="Microsoft JhengHei" panose="020B0604030504040204" charset="-120"/>
              </a:rPr>
              <a:t>1st signup → Admin</a:t>
            </a:r>
            <a:endParaRPr sz="120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6913245" y="2103120"/>
            <a:ext cx="46545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rPr sz="14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完全权限 Full CRUD</a:t>
            </a:r>
            <a:endParaRPr sz="14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913245" y="2423160"/>
            <a:ext cx="46545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16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受邀 → 成员</a:t>
            </a:r>
            <a:endParaRPr sz="16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6913245" y="2624455"/>
            <a:ext cx="46545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rPr sz="1200">
                <a:latin typeface="Microsoft JhengHei" panose="020B0604030504040204" charset="-120"/>
                <a:ea typeface="Microsoft JhengHei" panose="020B0604030504040204" charset="-120"/>
              </a:rPr>
              <a:t>Invited → Member</a:t>
            </a:r>
            <a:endParaRPr sz="120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913245" y="2788920"/>
            <a:ext cx="46545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rPr sz="14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查看 + 拖拽 View + Drag</a:t>
            </a:r>
            <a:endParaRPr sz="14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6913245" y="3108960"/>
            <a:ext cx="46545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rPr sz="16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默认 → 未知用户</a:t>
            </a:r>
            <a:endParaRPr sz="16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6913245" y="3310255"/>
            <a:ext cx="46545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rPr sz="1200">
                <a:latin typeface="Microsoft JhengHei" panose="020B0604030504040204" charset="-120"/>
                <a:ea typeface="Microsoft JhengHei" panose="020B0604030504040204" charset="-120"/>
              </a:rPr>
              <a:t>Default → Unknown</a:t>
            </a:r>
            <a:endParaRPr sz="120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913245" y="3474720"/>
            <a:ext cx="465455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rPr sz="14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申请访问 Request access</a:t>
            </a:r>
            <a:endParaRPr sz="14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13245" y="3840480"/>
            <a:ext cx="4654550" cy="235585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96125" y="3931920"/>
            <a:ext cx="41071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 panose="020F0502020204030204"/>
              </a:defRPr>
            </a:pPr>
            <a:r>
              <a:rPr sz="20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RLS 行级安全</a:t>
            </a:r>
            <a:endParaRPr sz="20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96125" y="4160520"/>
            <a:ext cx="41071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rPr sz="1600">
                <a:latin typeface="Microsoft JhengHei" panose="020B0604030504040204" charset="-120"/>
                <a:ea typeface="Microsoft JhengHei" panose="020B0604030504040204" charset="-120"/>
              </a:rPr>
              <a:t>Row-Level Security</a:t>
            </a:r>
            <a:endParaRPr sz="160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96125" y="4389120"/>
            <a:ext cx="410718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rPr sz="18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管理员：全部可见</a:t>
            </a:r>
            <a:br>
              <a:rPr sz="18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</a:br>
            <a:r>
              <a:rPr sz="18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Members：项目+共享看板</a:t>
            </a:r>
            <a:br>
              <a:rPr sz="18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</a:br>
            <a:r>
              <a:rPr sz="1800"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Unknown：无权限</a:t>
            </a:r>
            <a:endParaRPr sz="180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96125" y="5257800"/>
            <a:ext cx="41071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rPr sz="1600">
                <a:latin typeface="Microsoft JhengHei" panose="020B0604030504040204" charset="-120"/>
                <a:ea typeface="Microsoft JhengHei" panose="020B0604030504040204" charset="-120"/>
              </a:rPr>
              <a:t>Admin: all tasks</a:t>
            </a:r>
            <a:br>
              <a:rPr sz="1600">
                <a:latin typeface="Microsoft JhengHei" panose="020B0604030504040204" charset="-120"/>
                <a:ea typeface="Microsoft JhengHei" panose="020B0604030504040204" charset="-120"/>
              </a:rPr>
            </a:br>
            <a:r>
              <a:rPr sz="1600">
                <a:latin typeface="Microsoft JhengHei" panose="020B0604030504040204" charset="-120"/>
                <a:ea typeface="Microsoft JhengHei" panose="020B0604030504040204" charset="-120"/>
              </a:rPr>
              <a:t>Member: project + shared</a:t>
            </a:r>
            <a:br>
              <a:rPr sz="1600">
                <a:latin typeface="Microsoft JhengHei" panose="020B0604030504040204" charset="-120"/>
                <a:ea typeface="Microsoft JhengHei" panose="020B0604030504040204" charset="-120"/>
              </a:rPr>
            </a:br>
            <a:r>
              <a:rPr sz="1600">
                <a:latin typeface="Microsoft JhengHei" panose="020B0604030504040204" charset="-120"/>
                <a:ea typeface="Microsoft JhengHei" panose="020B0604030504040204" charset="-120"/>
              </a:rPr>
              <a:t>Unknown: no access</a:t>
            </a:r>
            <a:endParaRPr sz="1600">
              <a:latin typeface="Microsoft JhengHei" panose="020B0604030504040204" charset="-120"/>
              <a:ea typeface="Microsoft JhengHei" panose="020B060403050404020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核心功能：任务管理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Core Features: Task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74980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2560320"/>
              </a:tblGrid>
              <a:tr h="6629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功能 Feature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功能 Feature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实现 Implementation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实现 Implementation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优势 Benefit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优势 Benefit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增删改查 CRUD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Create, read, update, delete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通过 Supabase 实现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Via Supabase PostgREST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完整任务生命周期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Full task lifecycle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拖拽排序 Drag &amp; Drop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跨列拖拽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@dnd-kit 集成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@dnd-kit cross-column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直观操作，零学习成本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Intuitive, no learning curve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定位算法 Positioning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float8 positionBetween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中点重排，max+1024 插入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Midpoint reorder, no re-index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O(1) 重排，无需索引重建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O(1) reorder, unlimited scale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优先级 Priority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P0(紧急) – P3(低)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颜色编码 + 数据库 CHECK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Color-coded, DB CHECK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快速识别关键任务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Focus on critical tasks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智能视图 Smart Views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我的·即将到期·逾期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客户端过滤器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Client-side filters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即时过滤，无需查询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Instant filtering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分配与依赖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Assign + Dependencies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用户选择器 + 循环检测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Assignee + circular guard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明确责任，防止误完成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Clear accountability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标签 Labels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自定义彩色标签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按项目管理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Per-project labels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灵活分类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Flexible categorization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188720"/>
            <a:ext cx="3566160" cy="530352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5661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TASK MANAGEMENT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886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TASK MANAGEMENT UI)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核心功能：实时协作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Core Features: Real-time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time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400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188720"/>
            <a:ext cx="4937760" cy="530352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280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alibri" panose="020F0502020204030204"/>
              </a:defRPr>
            </a:pPr>
            <a:r>
              <a:t>协作功能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实时同步 Live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20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Broadcasts every change to all connected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774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在线状态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5603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See who's online in real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017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编辑互斥 Edit Mutex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20040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See who's editing which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657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智能通知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404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DB triggers: due_soon, overdue, assignment, mention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94960"/>
            <a:ext cx="6400800" cy="118872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715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REAL-TIME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035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REAL-TIME COLLABORATION)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核心功能：视图与导出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Core Features: Views &amp;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291840" cy="16002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 panose="020F0502020204030204"/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看板 Kanban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默认视图，@dnd-kit 拖拽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Default, drag-and-drop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291840" cy="16002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 panose="020F0502020204030204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2801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甘特图 Gantt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frappe-gantt 时间线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Timeline visualization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188720"/>
            <a:ext cx="3291840" cy="16002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280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 panose="020F0502020204030204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2801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3D 球体 3D Sphere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Three.js 空间可视化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965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Spatial visualization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17520"/>
            <a:ext cx="3291840" cy="16002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 panose="020F0502020204030204"/>
              </a:defRPr>
            </a:pPr>
            <a: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089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仪表盘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统计与活动概览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94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Stats &amp; activity overview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017520"/>
            <a:ext cx="3291840" cy="16002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108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 panose="020F0502020204030204"/>
              </a:defRPr>
            </a:pPr>
            <a:r>
              <a:t>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列表视图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可排序表格 + 高级筛选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794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Sortable table + filters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6858000" cy="201168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6634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5B4FC"/>
                </a:solidFill>
                <a:latin typeface="Calibri" panose="020F0502020204030204"/>
              </a:defRPr>
            </a:pPr>
            <a:r>
              <a:t>导出 Export · 国际化 i18n · 主题 Theme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29200"/>
            <a:ext cx="6400800" cy="449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 panose="020F0502020204030204"/>
              </a:defRPr>
            </a:pPr>
            <a:r>
              <a:t>▸ 导出：XLSX (exceljs) · PDF (jspdf) · CSV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▸ Export: XLSX (exceljs) · PDF (jspdf) ·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376672"/>
            <a:ext cx="6400800" cy="449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 panose="020F0502020204030204"/>
              </a:defRPr>
            </a:pPr>
            <a:r>
              <a:t>▸ 国际化：EN · ES · ZH · ID · AR (RTL)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▸ i18n: EN · ES · ZH · ID · AR (RTL)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24144"/>
            <a:ext cx="6400800" cy="449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 panose="020F0502020204030204"/>
              </a:defRPr>
            </a:pPr>
            <a:r>
              <a:t>▸ 主题：亮/暗切换，localStorage 持久化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▸ Theme: Light/Dark toggle, persisted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071616"/>
            <a:ext cx="6400800" cy="449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 panose="020F0502020204030204"/>
              </a:defRPr>
            </a:pPr>
            <a:r>
              <a:t>▸ 快捷键：Ctrl/Cmd+N 新建 · Ctrl/Cmd+F 搜索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▸ Shortcuts: Ctrl/Cmd+N new, Ctrl/Cmd+F search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572000"/>
            <a:ext cx="3931920" cy="201168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53035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VIEWS 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6235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VIEWS INTERFACE)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架构与技术栈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858000" cy="4114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188720"/>
          <a:ext cx="4480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1554480"/>
              </a:tblGrid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层级 Layer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层级 Layer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技术 Technology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技术 Technology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用途 Purpose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用途 Purpose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前端 Frontend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Frontend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React 19 + Vite 8 + Tailwind 4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React 19 + Vite 8 + Tailwind 4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UI 框架 + 构建 + 样式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UI + build + styling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拖拽 DnD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DnD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@dnd-kit (core@6, sortable@10)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@dnd-kit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看板卡片拖拽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Kanban card DnD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后端 Backend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Backend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Supabase (Auth·PostgREST·Realtime)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Supabase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全托管 Serverless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Managed serverless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数据库 DB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DB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PostgreSQL + 29 迁移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PostgreSQL + 29 migrations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RLS + 触发器 + RPC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RLS + triggers + RPCs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测试 Testing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Testing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Vitest 4 + Testing Library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Vitest 4 + Testing Library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30+ 测试文件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30+ test files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CI/CD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CI/CD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GitHub Actions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GitHub Actions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推送到 main 自动测试构建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Auto test+build on push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5394960"/>
            <a:ext cx="68580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41324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无自定义服务器 — JAMstack + Serverless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669280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No custom server — JAMstack + Serverless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035040"/>
              </a:tblGrid>
              <a:tr h="75764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问题 Problem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问题 Problem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解决方案 Solution</a:t>
                      </a:r>
                    </a:p>
                    <a:p>
                      <a:pPr>
                        <a:defRPr sz="1000">
                          <a:solidFill>
                            <a:srgbClr val="A5B4FC"/>
                          </a:solidFill>
                          <a:latin typeface="Calibri" panose="020F0502020204030204"/>
                        </a:defRPr>
                      </a:pPr>
                      <a:r>
                        <a:t>解决方案 Solution</a:t>
                      </a:r>
                    </a:p>
                  </a:txBody>
                  <a:tcPr marL="76200" marR="76200" marT="38100" marB="38100" anchor="ctr">
                    <a:solidFill>
                      <a:srgbClr val="6366F1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@dnd-kit 版本不兼容 (core@6, sortable@10)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@dnd-kit version mismatch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按主版本精确导入路径，不升级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Careful import paths per major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MCP 远程迁移导致本地文件不同步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MCP migrations drift locally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远程变更后手动执行 supabase db pull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Manual supabase db pull to sync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Priority 列在迁移外添加，破坏列级权限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Priority added out-of-band, broke grants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迁移 20260630120000 重新声明完整授权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Reconciliation migration re-stated grants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Realtime 负载缺少联表字段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Realtime payloads lack joins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每次变更重新抓取单行 + join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Re-fetch single row with join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RLS 经历 6 次迭代才最终锁定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RLS took 6 iterations to finalize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enforce_member_task_edit 触发器限制拖拽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Trigger limits members to drag-only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Rolldown 对 JSX 缩进敏感，生产构建失败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Rolldown strict JSX indentation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Code review 强制执行一致格式</a:t>
                      </a:r>
                    </a:p>
                    <a:p>
                      <a:pPr>
                        <a:defRPr sz="900">
                          <a:solidFill>
                            <a:srgbClr val="8B949E"/>
                          </a:solidFill>
                          <a:latin typeface="Calibri" panose="020F0502020204030204"/>
                        </a:defRPr>
                      </a:pPr>
                      <a:r>
                        <a:t>Consistent formatting in code review</a:t>
                      </a:r>
                    </a:p>
                  </a:txBody>
                  <a:tcPr marL="76200" marR="76200" marT="38100" marB="38100" anchor="ctr">
                    <a:solidFill>
                      <a:srgbClr val="2227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Technical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246888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1280160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 panose="020F0502020204030204"/>
              </a:defRPr>
            </a:pPr>
            <a:r>
              <a:t>算法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positionBetween() — Float8 定位 Float8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重排时取中点，插入时 max+1024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Midpoint on reorder, max+1024 on insert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零索引重建 — O(1) 重排，无限扩展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Zero re-indexing, O(1) reorder, unlimited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394960" cy="246888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280160"/>
            <a:ext cx="1280160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 panose="020F0502020204030204"/>
              </a:defRPr>
            </a:pPr>
            <a:r>
              <a:t>数据库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29 次 SQL 迁移 + 行级安全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版本化模式，RLS 覆盖所有表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29 versioned SQL migrations, RLS on every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列级权限确保 created_by 不可变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Column-level grants enforce immutable created_by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394960" cy="246888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1280160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23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 panose="020F0502020204030204"/>
              </a:defRPr>
            </a:pPr>
            <a:r>
              <a:t>实时技术 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Supabase Realtime + Presence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channel('board') 订阅所有任务变更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Channel subscribes to all task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每次变更重新抓取 + 联表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Row re-fetch with join on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931920"/>
            <a:ext cx="5394960" cy="246888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023360"/>
            <a:ext cx="1280160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23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 panose="020F0502020204030204"/>
              </a:defRPr>
            </a:pPr>
            <a:r>
              <a:t>测试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Vitest 4 · 30+ 测试文件 ·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09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组件测试 + Hook 测试 + API 集成测试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83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Component + hook + API integration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49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E1E4E8"/>
                </a:solidFill>
                <a:latin typeface="Calibri" panose="020F0502020204030204"/>
              </a:defRPr>
            </a:pPr>
            <a:r>
              <a:t>15 秒超时，全局启用，模拟 Supabase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23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15s timeout, globals enabled, mock Supabase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个人贡献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Individual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474720" cy="53949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1325880"/>
            <a:ext cx="1005840" cy="10058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@goanarbolkong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(孔刚)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  <a:latin typeface="Calibri" panose="020F0502020204030204"/>
              </a:defRPr>
            </a:pPr>
            <a:r>
              <a:t>前端负责人 Frontend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83280"/>
            <a:ext cx="27432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3566160"/>
            <a:ext cx="2377440" cy="4572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8444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📷 FOTO / 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4A4D55"/>
                </a:solidFill>
                <a:latin typeface="Calibri" panose="020F0502020204030204"/>
              </a:defRPr>
            </a:pPr>
            <a:r>
              <a:t>(Pon tu foto aquí / Place photo here)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拖拽集成 @dnd-kit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Drag-and-drop with @dnd-kit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甘特图 + 3D 球体可视化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9087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Gantt chart + 3D Sphere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导出菜单 XLSX/PDF/CSV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ExportMenu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标签管理 LabelManager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3095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LabelManager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列表视图 + 优先级选择器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ListView + Priority selectors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1188720"/>
            <a:ext cx="3474720" cy="53949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69279" y="1325880"/>
            <a:ext cx="1005840" cy="10058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2514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@MemerZxZ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2788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(周奕龙)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30175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FB950"/>
                </a:solidFill>
                <a:latin typeface="Calibri" panose="020F0502020204030204"/>
              </a:defRPr>
            </a:pPr>
            <a:r>
              <a:t>后端负责人 Backend 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19" y="3383280"/>
            <a:ext cx="2743200" cy="25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199" y="3566160"/>
            <a:ext cx="2377440" cy="4572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199" y="358444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📷 FOTO / 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3794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4A4D55"/>
                </a:solidFill>
                <a:latin typeface="Calibri" panose="020F0502020204030204"/>
              </a:defRPr>
            </a:pPr>
            <a:r>
              <a:t>(Pon tu foto aquí / Place photo here)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420624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全部 29 个数据库迁移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37083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All 29 database migrations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452628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RPC: admin_set_role, check_blocked_tasks 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39" y="469087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RPCs: admin_set_role, etc.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39" y="48463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RLS 策略 + 触发器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39" y="501091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RLS policies + triggers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39" y="516636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任务依赖 + 通知系统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39" y="533095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Task dependencies + 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39" y="548640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系统日志 + 审计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39" y="565099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System logs + audit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8" y="1188720"/>
            <a:ext cx="3474720" cy="53949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8318" y="132588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8" y="2514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@Echeq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58" y="27889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(陈昌发)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58" y="30175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项目经理与质量保证 PM &amp; QA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8" y="3383280"/>
            <a:ext cx="27432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78238" y="3566160"/>
            <a:ext cx="2377440" cy="4572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38" y="358444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📷 FOTO / PHOTO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38" y="3794760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4A4D55"/>
                </a:solidFill>
                <a:latin typeface="Calibri" panose="020F0502020204030204"/>
              </a:defRPr>
            </a:pPr>
            <a:r>
              <a:t>(Pon tu foto aquí / Place photo here)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8" y="420624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AGENTS.md + 文档管理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8" y="437083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AGENTS.md + documentation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8" y="452628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ErrorBoundary + EmptyState 组件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78" y="469087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ErrorBoundary + EmptyState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78" y="48463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30+ 测试文件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78" y="501091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30+ test files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8" y="516636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CI/CD GitHub Actions 流水线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78" y="533095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CI/CD pipeline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78" y="548640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E1E4E8"/>
                </a:solidFill>
                <a:latin typeface="Calibri" panose="020F0502020204030204"/>
              </a:defRPr>
            </a:pPr>
            <a:r>
              <a:t>✓ 演示文稿 + 用户手册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78" y="5650992"/>
            <a:ext cx="31089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 panose="020F0502020204030204"/>
              </a:defRPr>
            </a:pPr>
            <a:r>
              <a:t>Presentation + user manual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经验与收获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29844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8016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Serverless 架构行之有效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9047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Serverless Architecture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Supabase 消除了所有后端运维，零服务器维护，开发完全专注于产品功能。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Supabase eliminated all backend ops. Zero servers to maintain — pure product focus.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29844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8016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实时同步看似简单实则复杂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9047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Real-time is Deceptively 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广播变更很容易，真正的挑战是合并逻辑：每次变更重新抓取联表数据，处理并发编辑。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4884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Broadcasting is easy. The real challenge is merge logic: re-fetching joins on every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900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71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Float8 定位算法优雅高效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8211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Float8 Positioning is Elegant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中点算法完全避免索引重建。positionBetween() 一个函数处理插入、重排、边界情况。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404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No re-indexing. One function handles insert, reorder, and edge cases.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8036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29900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9718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团队协作是成功的关键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18211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Teamwork is the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42900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三个人各司其职（前端、后端、QA），清晰分工 + 每日同步 = 高效交付。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404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Three roles, clear分工, daily syncs = efficient delivery.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6817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6344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SQL 迁移作为唯一真相源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7375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Migrations as Source of Truth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29 个版本化 SQL 文件提供完整模式历史，可回滚，可审查，如同应用代码。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29 versioned SQL files: full history, reliable rollback, reviewable like code.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72000"/>
            <a:ext cx="5394960" cy="1508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46817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66344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自动化测试回报巨大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873752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Testing Pays 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12064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30+ 测试配合 Mock Supabase 早期捕获回归。Vitest 的 Vite 集成使测试仅需数秒。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5321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30+ tests with mocked Supabase caught regressions. Suite runs in seconds.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"/>
            <a:ext cx="30175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29260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现场演示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6692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 panose="020F0502020204030204"/>
              </a:defRPr>
            </a:pPr>
            <a: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51560"/>
            <a:ext cx="103327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46304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登录 / 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Sign in / Create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Supabase 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468880"/>
            <a:ext cx="3108960" cy="59436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917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DEMO 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17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DEMO STEP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98848" y="146304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463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创建项目 + 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6916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Create project +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46304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46304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30s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11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设置优先级、标签、负责人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468880"/>
            <a:ext cx="3108960" cy="59436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4917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DEMO 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117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DEMO STEP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37160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56448" y="146304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463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拖拽操作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69164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Drag &amp; drop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0" y="146304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146304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20s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011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跨列移动 + 重排序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2468880"/>
            <a:ext cx="3108960" cy="594360"/>
          </a:xfrm>
          <a:prstGeom prst="rect">
            <a:avLst/>
          </a:prstGeom>
          <a:solidFill>
            <a:srgbClr val="222730"/>
          </a:solidFill>
          <a:ln w="25400">
            <a:solidFill>
              <a:srgbClr val="CF222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24917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222E"/>
                </a:solidFill>
                <a:latin typeface="Calibri" panose="020F0502020204030204"/>
              </a:defRPr>
            </a:pPr>
            <a:r>
              <a:t>IMAGEN DE DEMO STEP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8117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 panose="020F0502020204030204"/>
              </a:defRPr>
            </a:pPr>
            <a:r>
              <a:t>(Screenshot of DEMO STEP 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47472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" y="35661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5661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实时同步演示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7947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Real-time sync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56616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35661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30s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打开两个浏览器，观察即时同步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47472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498848" y="35661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5661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切换视图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7947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Switch views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356616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35661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20s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看板 → 甘特图 → 3D 球体 → 列表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3474720"/>
            <a:ext cx="3383280" cy="182880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56448" y="3566160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5661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导出数据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79476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 panose="020F0502020204030204"/>
              </a:defRPr>
            </a:pPr>
            <a:r>
              <a:t>Export 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07040" y="3566160"/>
            <a:ext cx="685800" cy="2286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07040" y="35661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5B4FC"/>
                </a:solidFill>
                <a:latin typeface="Calibri" panose="020F0502020204030204"/>
              </a:defRPr>
            </a:pPr>
            <a:r>
              <a:t>10s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4114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1E4E8"/>
                </a:solidFill>
                <a:latin typeface="Calibri" panose="020F0502020204030204"/>
              </a:defRPr>
            </a:pPr>
            <a:r>
              <a:t>下载 XLSX / PDF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6126480"/>
            <a:ext cx="5760720" cy="365760"/>
          </a:xfrm>
          <a:prstGeom prst="rect">
            <a:avLst/>
          </a:prstGeom>
          <a:solidFill>
            <a:srgbClr val="22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6144768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Calibri" panose="020F0502020204030204"/>
              </a:defRPr>
            </a:pPr>
            <a:r>
              <a:t>预计时长：~2 分钟 — 完整流程演示 Expected: ~2 min full walkthrough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 panose="020F0502020204030204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0">
                <a:solidFill>
                  <a:srgbClr val="A5B4FC"/>
                </a:solidFill>
                <a:latin typeface="Calibri" panose="020F0502020204030204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 panose="020F0502020204030204"/>
              </a:defRPr>
            </a:pPr>
            <a:r>
              <a:t>谢谢 · Thank You · Gracias · Terima Kasih · شكراً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E1E4E8"/>
                </a:solidFill>
                <a:latin typeface="Calibri" panose="020F0502020204030204"/>
              </a:defRPr>
            </a:pPr>
            <a:r>
              <a:t>问答环节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 panose="020F0502020204030204"/>
              </a:defRPr>
            </a:pPr>
            <a:r>
              <a:t>React 19 · Supabase · Vite 8 · Tailwind CSS 4 · @dnd-kit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846320"/>
            <a:ext cx="484632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86460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github.com/Echeq/MiniSemesterProject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120640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Calibri" panose="020F0502020204030204"/>
              </a:defRPr>
            </a:pPr>
            <a:r>
              <a:t>Star us on GitHub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4A4D55"/>
                </a:solidFill>
                <a:latin typeface="Calibri" panose="020F0502020204030204"/>
              </a:defRPr>
            </a:pPr>
            <a:r>
              <a:t>@goanarbolkong · @MemerZxZ · @Echeq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4A4D55"/>
                </a:solidFill>
                <a:latin typeface="Calibri" panose="020F0502020204030204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2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3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4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5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6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7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8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ags/tag9.xml><?xml version="1.0" encoding="utf-8"?>
<p:tagLst xmlns:p="http://schemas.openxmlformats.org/presentationml/2006/main">
  <p:tag name="KSO_WM_DIAGRAM_VIRTUALLY_FRAME" val="{&quot;height&quot;:160.95,&quot;left&quot;:544.35,&quot;top&quot;:136.8,&quot;width&quot;:366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8136</Words>
  <Application>WPS 演示</Application>
  <PresentationFormat>On-screen Show (4:3)</PresentationFormat>
  <Paragraphs>786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Microsoft JhengHei</vt:lpstr>
      <vt:lpstr>Calibri</vt:lpstr>
      <vt:lpstr>Microsoft JhengHei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陈昌发 Elvis</cp:lastModifiedBy>
  <cp:revision>7</cp:revision>
  <dcterms:created xsi:type="dcterms:W3CDTF">2013-01-27T09:14:00Z</dcterms:created>
  <dcterms:modified xsi:type="dcterms:W3CDTF">2026-07-01T13:11:19Z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40090170C0C04A6D91DF439B9954256C_12</vt:lpwstr>
  </property>
  <property fmtid="{D5CDD505-2E9C-101B-9397-08002B2CF9AE}" pid="3" name="KSOProductBuildVer">
    <vt:lpwstr>2052-12.1.0.26895</vt:lpwstr>
  </property>
</Properties>
</file>