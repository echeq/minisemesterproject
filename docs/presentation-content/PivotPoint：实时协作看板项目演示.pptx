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700" y="6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01.07.2026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Hello everyone, and welcome to this project demonstration. Today, I will introduce you to a real-time collaboration dashboard called "PivotPoint". This is a modern project management tool built with cutting-edge web technologies such as React 19 and Supabase. It is designed to address many of the pain points in current team collaboration, providing an out-of-the-box, efficient, and real-time solution.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presentation will cover six core sections. First, we'll analyze the common challenges in current project management. Next, I'll introduce our solution, PivotPoint, including its core features and value. Then, we'll delve into its system architecture, tech stack, and the implementation details of key features. Finally, we'll walk through the development workflow and conclude the project.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First, let's look at the project background. We found that despite the abundance of project management tools on the market, they all share common issues. For example, tools are fragmented, creating information silos; they lack true real-time collaboration; deployment is complex with high operational costs; and they are expensive with poor customizability. These pain points are the starting point of our project. What teams really need is a lightweight, real-time, cost-effective, and customizable solution.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To solve these pain points, we introduce PivotPoint. Its core value proposition is to provide an "out-of-the-box" real-time collaboration dashboard. PivotPoint not only offers an intuitive drag-and-drop board but also powerful real-time data sync, role-based access control (RBAC), multiple views and export options, and even internationalization support to meet the needs of global teams.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Next, we'll dive into PivotPoint's system architecture and tech stack. On the frontend, we use modern technologies like React 19, Vite 8, and Tailwind CSS 4 to ensure development efficiency and application performance. The backend is entirely built on Supabase, a serverless architecture that provides a full suite of services including authentication, database, real-time communication, etc., greatly simplifying the development and deployment process. The underlying database is the powerful PostgreSQL.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is the core business flow diagram of PivotPoint. Users first go through environment checks, then login authentication. The system assigns different permissions based on user roles—Admin, Member, or Unknown. After authentication, users can access the dashboard for real-time collaboration, switch views, or export data. The entire process is clear and intuitive.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diagram provides a more detailed view of our system architecture. The frontend is a typical React application built with Vite and styled with Tailwind CSS. All business logic is encapsulated in custom Hooks. The backend is fully powered by Supabase, a BaaS (Backend as a Service) that automatically exposes the PostgreSQL database as an API via PostgREST and enables real-time communication through its Realtime service.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Now let's take a deep dive into the core features. First is Task Management. We've implemented complete CRUD operations and achieved smooth drag-and-drop sorting through the @dnd-kit library. Notably, we've adopted an intelligent positioning algorithm to optimize reordering performance. In addition, tasks support rich attributes such as priority, deadlines, assignments, dependencies, and tags, fully meeting the needs of project management.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Real-time collaboration is the essence of PivotPoint. This slide illustrates the real-time data flow: user actions update the database via the Supabase client library, Supabase Realtime captures changes and broadcasts them to all clients, which then update their interfaces. We've also implemented features like online status, edit mutex, and smart notifications, greatly enhancing team collaboration efficiency and experience.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To meet different work habits and scenarios, PivotPoint offers a variety of views, including classic Kanban, Gantt charts for planning, unique 3D sphere views, data dashboards for overview, and list views. Additionally, we support one-click export of data to Excel, PDF, or CSV formats. Furthermore, our product supports 5 languages and provides RTL layout for languages like Arabic, truly achieving internationalization.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Security is the cornerstone of enterprise applications. PivotPoint ensures data security through Role-Based Access Control (RBAC) and database Row-Level Security (RLS). We define three roles: Administrators, Members, and Unknown users, each with different permissions. All database tables are configured with RLS policies, fundamentally ensuring that users can only access data they are authorized for.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is the detailed list of our tech stack. On the frontend, we've chosen the golden trio of React 19, Vite 8, and Tailwind CSS 4, with Vitest for testing. On the backend, we rely entirely on Supabase and PostgreSQL. These choices are all aimed at achieving efficient development, exceptional performance, and simple deployment.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is our database ER diagram. As you can see, the design is very standardized. The core tables include the profiles table for user info, tasks table for tasks, project tables, member tables, etc. We ensure data consistency and integrity through foreign keys and constraints, e.g., limiting the length of titles and descriptions, and specifying priority value ranges.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In terms of development and deployment, we follow the best practices of modern frontend development. Developers can prepare the environment, start the local database, run tests and build the project with just a few simple commands. We use GitHub Actions to implement CI/CD, ensuring code quality. The project structure is also very clear, with frontend and database code separated and high modularity, making it easy to maintain and extend.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Next is the project demo session. Through practical operations, I will showcase the core features of PivotPoint to everyone, including user authentication, project and task creation, drag-and-drop sorting, member assignment, view switching, data export, and the most critical real-time synchronization feature. Additionally, I will also demonstrate the admin's backend management functions.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In conclusion, PivotPoint proves that modern tech stacks like React and Supabase can build powerful, easy-to-deploy enterprise applications. Our highlights include a modern tech stack, serverless architecture, real-time collaboration, high customizability, and robust security. Thank you for your attention! The source code is available on GitHub.</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Thank you again for your time. If you are interested in our project, feel free to visit our GitHub repository to check out the source code or leave your valuable feedback. Thank you!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2.jpeg"/><Relationship Id="rId7" Type="http://schemas.openxmlformats.org/officeDocument/2006/relationships/image" Target="../media/image11.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2.jpeg"/><Relationship Id="rId7" Type="http://schemas.openxmlformats.org/officeDocument/2006/relationships/image" Target="../media/image16.jpe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20.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22.svg"/><Relationship Id="rId4" Type="http://schemas.openxmlformats.org/officeDocument/2006/relationships/image" Target="../media/image21.svg"/></Relationships>
</file>

<file path=ppt/slides/_rels/slide8.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jpeg"/><Relationship Id="rId7" Type="http://schemas.openxmlformats.org/officeDocument/2006/relationships/image" Target="../media/image26.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 Id="rId9" Type="http://schemas.openxmlformats.org/officeDocument/2006/relationships/image" Target="../media/image20.sv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29.svg"/><Relationship Id="rId5" Type="http://schemas.openxmlformats.org/officeDocument/2006/relationships/image" Target="../media/image23.svg"/><Relationship Id="rId4" Type="http://schemas.openxmlformats.org/officeDocument/2006/relationships/image" Target="../media/image28.sv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33.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32.jpeg"/><Relationship Id="rId5" Type="http://schemas.openxmlformats.org/officeDocument/2006/relationships/image" Target="../media/image31.jpeg"/><Relationship Id="rId4" Type="http://schemas.openxmlformats.org/officeDocument/2006/relationships/image" Target="../media/image30.jpeg"/></Relationships>
</file>

<file path=ppt/slides/_rels/slide11.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2.jpeg"/><Relationship Id="rId7" Type="http://schemas.openxmlformats.org/officeDocument/2006/relationships/image" Target="../media/image36.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35.svg"/><Relationship Id="rId5" Type="http://schemas.openxmlformats.org/officeDocument/2006/relationships/image" Target="../media/image11.svg"/><Relationship Id="rId4" Type="http://schemas.openxmlformats.org/officeDocument/2006/relationships/image" Target="../media/image34.sv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40.sv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39.svg"/><Relationship Id="rId5" Type="http://schemas.openxmlformats.org/officeDocument/2006/relationships/image" Target="../media/image18.svg"/><Relationship Id="rId4" Type="http://schemas.openxmlformats.org/officeDocument/2006/relationships/image" Target="../media/image38.sv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44.sv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43.jpeg"/><Relationship Id="rId5" Type="http://schemas.openxmlformats.org/officeDocument/2006/relationships/image" Target="../media/image42.svg"/><Relationship Id="rId4" Type="http://schemas.openxmlformats.org/officeDocument/2006/relationships/image" Target="../media/image41.svg"/></Relationships>
</file>

<file path=ppt/slides/_rels/slide15.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2.jpeg"/><Relationship Id="rId7" Type="http://schemas.openxmlformats.org/officeDocument/2006/relationships/image" Target="../media/image47.sv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46.svg"/><Relationship Id="rId11" Type="http://schemas.openxmlformats.org/officeDocument/2006/relationships/image" Target="../media/image11.svg"/><Relationship Id="rId5" Type="http://schemas.openxmlformats.org/officeDocument/2006/relationships/image" Target="../media/image24.svg"/><Relationship Id="rId10" Type="http://schemas.openxmlformats.org/officeDocument/2006/relationships/image" Target="../media/image10.svg"/><Relationship Id="rId4" Type="http://schemas.openxmlformats.org/officeDocument/2006/relationships/image" Target="../media/image45.svg"/><Relationship Id="rId9" Type="http://schemas.openxmlformats.org/officeDocument/2006/relationships/image" Target="../media/image49.svg"/></Relationships>
</file>

<file path=ppt/slides/_rels/slide16.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image" Target="../media/image2.jpeg"/><Relationship Id="rId7" Type="http://schemas.openxmlformats.org/officeDocument/2006/relationships/image" Target="../media/image52.sv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48.svg"/><Relationship Id="rId5" Type="http://schemas.openxmlformats.org/officeDocument/2006/relationships/image" Target="../media/image51.svg"/><Relationship Id="rId4" Type="http://schemas.openxmlformats.org/officeDocument/2006/relationships/image" Target="../media/image50.svg"/></Relationships>
</file>

<file path=ppt/slides/_rels/slide17.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55.sv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5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540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FFFFFF"/>
                </a:solidFill>
                <a:latin typeface="Noto Sans SC"/>
                <a:ea typeface="Noto Sans SC"/>
                <a:cs typeface="Noto Sans SC"/>
                <a:sym typeface="Noto Sans SC"/>
              </a:rPr>
              <a:t>PivotPoint: Real-time Collaboration Dashboard</a:t>
            </a:r>
            <a:endParaRPr lang="en-US" sz="1100"/>
          </a:p>
        </p:txBody>
      </p:sp>
      <p:sp>
        <p:nvSpPr>
          <p:cNvPr id="4" name="AutoShape 4"/>
          <p:cNvSpPr/>
          <p:nvPr/>
        </p:nvSpPr>
        <p:spPr>
          <a:xfrm>
            <a:off x="0" y="3810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800" b="0" i="0" u="none" strike="noStrike">
                <a:solidFill>
                  <a:srgbClr val="FFFFFF">
                    <a:alpha val="85098"/>
                  </a:srgbClr>
                </a:solidFill>
                <a:latin typeface="Noto Sans SC"/>
                <a:ea typeface="Noto Sans SC"/>
                <a:cs typeface="Noto Sans SC"/>
                <a:sym typeface="Noto Sans SC"/>
              </a:rPr>
              <a:t>A Modern Project Management Tool Built with React 19 and Supabase</a:t>
            </a:r>
            <a:endParaRPr lang="en-US" sz="1100"/>
          </a:p>
        </p:txBody>
      </p:sp>
      <p:sp>
        <p:nvSpPr>
          <p:cNvPr id="5" name="AutoShape 5"/>
          <p:cNvSpPr/>
          <p:nvPr/>
        </p:nvSpPr>
        <p:spPr>
          <a:xfrm>
            <a:off x="5461000" y="5080000"/>
            <a:ext cx="1270000" cy="381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09600" y="5651500"/>
            <a:ext cx="10972800" cy="762000"/>
          </a:xfrm>
          <a:prstGeom prst="roundRect">
            <a:avLst>
              <a:gd name="adj" fmla="val 0"/>
            </a:avLst>
          </a:prstGeom>
          <a:solidFill>
            <a:srgbClr val="FFFFFF">
              <a:alpha val="8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863600" y="5778500"/>
            <a:ext cx="571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FFFFFF">
                    <a:alpha val="70196"/>
                  </a:srgbClr>
                </a:solidFill>
                <a:latin typeface="Noto Sans SC"/>
                <a:ea typeface="Noto Sans SC"/>
                <a:cs typeface="Noto Sans SC"/>
                <a:sym typeface="Noto Sans SC"/>
              </a:rPr>
              <a:t>Tech Stack: React 19 · Supabase · Vite 8 · Tailwind CSS 4</a:t>
            </a:r>
            <a:endParaRPr lang="en-US" sz="1100"/>
          </a:p>
        </p:txBody>
      </p:sp>
      <p:cxnSp>
        <p:nvCxnSpPr>
          <p:cNvPr id="8" name="Connector 8"/>
          <p:cNvCxnSpPr/>
          <p:nvPr/>
        </p:nvCxnSpPr>
        <p:spPr>
          <a:xfrm rot="5314074">
            <a:off x="6477000" y="6026229"/>
            <a:ext cx="50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9" name="AutoShape 9"/>
          <p:cNvSpPr/>
          <p:nvPr/>
        </p:nvSpPr>
        <p:spPr>
          <a:xfrm>
            <a:off x="6985000" y="5778500"/>
            <a:ext cx="431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FFFFFF">
                    <a:alpha val="90196"/>
                  </a:srgbClr>
                </a:solidFill>
                <a:latin typeface="Noto Sans SC"/>
                <a:ea typeface="Noto Sans SC"/>
                <a:cs typeface="Noto Sans SC"/>
                <a:sym typeface="Noto Sans SC"/>
              </a:rPr>
              <a:t>Speaker: [Your Name] | Date: July 2026</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Agenda</a:t>
            </a:r>
            <a:endParaRPr lang="en-US" sz="1100"/>
          </a:p>
        </p:txBody>
      </p:sp>
      <p:sp>
        <p:nvSpPr>
          <p:cNvPr id="4" name="AutoShape 4"/>
          <p:cNvSpPr/>
          <p:nvPr/>
        </p:nvSpPr>
        <p:spPr>
          <a:xfrm>
            <a:off x="762000" y="1905000"/>
            <a:ext cx="5207000" cy="1206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905000"/>
            <a:ext cx="76200" cy="1206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2006600"/>
            <a:ext cx="76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2DD4BF"/>
                </a:solidFill>
                <a:latin typeface="Noto Sans SC"/>
                <a:ea typeface="Noto Sans SC"/>
                <a:cs typeface="Noto Sans SC"/>
                <a:sym typeface="Noto Sans SC"/>
              </a:rPr>
              <a:t>01</a:t>
            </a:r>
            <a:endParaRPr lang="en-US" sz="1100"/>
          </a:p>
        </p:txBody>
      </p:sp>
      <p:cxnSp>
        <p:nvCxnSpPr>
          <p:cNvPr id="7" name="Connector 7"/>
          <p:cNvCxnSpPr/>
          <p:nvPr/>
        </p:nvCxnSpPr>
        <p:spPr>
          <a:xfrm rot="5354166">
            <a:off x="1492250" y="2501942"/>
            <a:ext cx="9525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8" name="AutoShape 8"/>
          <p:cNvSpPr/>
          <p:nvPr/>
        </p:nvSpPr>
        <p:spPr>
          <a:xfrm>
            <a:off x="2159000" y="2006600"/>
            <a:ext cx="361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1F2937"/>
                </a:solidFill>
                <a:latin typeface="Noto Sans SC"/>
                <a:ea typeface="Noto Sans SC"/>
                <a:cs typeface="Noto Sans SC"/>
                <a:sym typeface="Noto Sans SC"/>
              </a:rPr>
              <a:t>Project Background &amp; Pain Points (The Problem)</a:t>
            </a:r>
            <a:endParaRPr lang="en-US" sz="1100"/>
          </a:p>
          <a:p>
            <a:pPr marL="0" indent="0" algn="l">
              <a:lnSpc>
                <a:spcPct val="100000"/>
              </a:lnSpc>
            </a:pPr>
            <a:r>
              <a:rPr lang="en-US" sz="1100" b="0" i="0" u="none" strike="noStrike">
                <a:solidFill>
                  <a:srgbClr val="4B5563"/>
                </a:solidFill>
                <a:latin typeface="Noto Sans SC"/>
                <a:ea typeface="Noto Sans SC"/>
                <a:cs typeface="Noto Sans SC"/>
                <a:sym typeface="Noto Sans SC"/>
              </a:rPr>
              <a:t>Discuss the common issues and industry pain points of current project management tools in collaboration efficiency, information synchronization, and process control.</a:t>
            </a:r>
          </a:p>
        </p:txBody>
      </p:sp>
      <p:sp>
        <p:nvSpPr>
          <p:cNvPr id="9" name="AutoShape 9"/>
          <p:cNvSpPr/>
          <p:nvPr/>
        </p:nvSpPr>
        <p:spPr>
          <a:xfrm>
            <a:off x="762000" y="3365500"/>
            <a:ext cx="5207000" cy="1206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762000" y="3365500"/>
            <a:ext cx="76200" cy="1206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016000" y="3467100"/>
            <a:ext cx="76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2DD4BF"/>
                </a:solidFill>
                <a:latin typeface="Noto Sans SC"/>
                <a:ea typeface="Noto Sans SC"/>
                <a:cs typeface="Noto Sans SC"/>
                <a:sym typeface="Noto Sans SC"/>
              </a:rPr>
              <a:t>02</a:t>
            </a:r>
            <a:endParaRPr lang="en-US" sz="1100"/>
          </a:p>
        </p:txBody>
      </p:sp>
      <p:cxnSp>
        <p:nvCxnSpPr>
          <p:cNvPr id="12" name="Connector 12"/>
          <p:cNvCxnSpPr/>
          <p:nvPr/>
        </p:nvCxnSpPr>
        <p:spPr>
          <a:xfrm rot="5354166">
            <a:off x="1492250" y="3962442"/>
            <a:ext cx="9525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13" name="AutoShape 13"/>
          <p:cNvSpPr/>
          <p:nvPr/>
        </p:nvSpPr>
        <p:spPr>
          <a:xfrm>
            <a:off x="2159000" y="3467100"/>
            <a:ext cx="361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1F2937"/>
                </a:solidFill>
                <a:latin typeface="Noto Sans SC"/>
                <a:ea typeface="Noto Sans SC"/>
                <a:cs typeface="Noto Sans SC"/>
                <a:sym typeface="Noto Sans SC"/>
              </a:rPr>
              <a:t>The Solution: PivotPoint Overview</a:t>
            </a:r>
            <a:endParaRPr lang="en-US" sz="1100"/>
          </a:p>
          <a:p>
            <a:pPr marL="0" indent="0" algn="l">
              <a:lnSpc>
                <a:spcPct val="100000"/>
              </a:lnSpc>
            </a:pPr>
            <a:r>
              <a:rPr lang="en-US" sz="1100" b="0" i="0" u="none" strike="noStrike">
                <a:solidFill>
                  <a:srgbClr val="4B5563"/>
                </a:solidFill>
                <a:latin typeface="Noto Sans SC"/>
                <a:ea typeface="Noto Sans SC"/>
                <a:cs typeface="Noto Sans SC"/>
                <a:sym typeface="Noto Sans SC"/>
              </a:rPr>
              <a:t>Introduce PivotPoint's core value proposition and explain how it addresses the core bottlenecks of traditional tools through innovative design.</a:t>
            </a:r>
          </a:p>
        </p:txBody>
      </p:sp>
      <p:sp>
        <p:nvSpPr>
          <p:cNvPr id="14" name="AutoShape 14"/>
          <p:cNvSpPr/>
          <p:nvPr/>
        </p:nvSpPr>
        <p:spPr>
          <a:xfrm>
            <a:off x="762000" y="4826000"/>
            <a:ext cx="5207000" cy="1206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762000" y="4826000"/>
            <a:ext cx="76200" cy="1206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1016000" y="4927600"/>
            <a:ext cx="76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2DD4BF"/>
                </a:solidFill>
                <a:latin typeface="Noto Sans SC"/>
                <a:ea typeface="Noto Sans SC"/>
                <a:cs typeface="Noto Sans SC"/>
                <a:sym typeface="Noto Sans SC"/>
              </a:rPr>
              <a:t>03</a:t>
            </a:r>
            <a:endParaRPr lang="en-US" sz="1100"/>
          </a:p>
        </p:txBody>
      </p:sp>
      <p:cxnSp>
        <p:nvCxnSpPr>
          <p:cNvPr id="17" name="Connector 17"/>
          <p:cNvCxnSpPr/>
          <p:nvPr/>
        </p:nvCxnSpPr>
        <p:spPr>
          <a:xfrm rot="5354166">
            <a:off x="1492250" y="5422942"/>
            <a:ext cx="9525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18" name="AutoShape 18"/>
          <p:cNvSpPr/>
          <p:nvPr/>
        </p:nvSpPr>
        <p:spPr>
          <a:xfrm>
            <a:off x="2159000" y="4927600"/>
            <a:ext cx="361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1F2937"/>
                </a:solidFill>
                <a:latin typeface="Noto Sans SC"/>
                <a:ea typeface="Noto Sans SC"/>
                <a:cs typeface="Noto Sans SC"/>
                <a:sym typeface="Noto Sans SC"/>
              </a:rPr>
              <a:t>System Architecture &amp; Tech Stack</a:t>
            </a:r>
            <a:endParaRPr lang="en-US" sz="1100"/>
          </a:p>
          <a:p>
            <a:pPr marL="0" indent="0" algn="l">
              <a:lnSpc>
                <a:spcPct val="100000"/>
              </a:lnSpc>
            </a:pPr>
            <a:r>
              <a:rPr lang="en-US" sz="1100" b="0" i="0" u="none" strike="noStrike">
                <a:solidFill>
                  <a:srgbClr val="4B5563"/>
                </a:solidFill>
                <a:latin typeface="Noto Sans SC"/>
                <a:ea typeface="Noto Sans SC"/>
                <a:cs typeface="Noto Sans SC"/>
                <a:sym typeface="Noto Sans SC"/>
              </a:rPr>
              <a:t>Deep dive into the project's front-end and back-end layered architecture, database selection strategy, and core technical components supporting high availability.</a:t>
            </a:r>
          </a:p>
        </p:txBody>
      </p:sp>
      <p:sp>
        <p:nvSpPr>
          <p:cNvPr id="19" name="AutoShape 19"/>
          <p:cNvSpPr/>
          <p:nvPr/>
        </p:nvSpPr>
        <p:spPr>
          <a:xfrm>
            <a:off x="6223000" y="1905000"/>
            <a:ext cx="5207000" cy="1206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223000" y="1905000"/>
            <a:ext cx="76200" cy="1206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6477000" y="2006600"/>
            <a:ext cx="76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2DD4BF"/>
                </a:solidFill>
                <a:latin typeface="Noto Sans SC"/>
                <a:ea typeface="Noto Sans SC"/>
                <a:cs typeface="Noto Sans SC"/>
                <a:sym typeface="Noto Sans SC"/>
              </a:rPr>
              <a:t>04</a:t>
            </a:r>
            <a:endParaRPr lang="en-US" sz="1100"/>
          </a:p>
        </p:txBody>
      </p:sp>
      <p:cxnSp>
        <p:nvCxnSpPr>
          <p:cNvPr id="22" name="Connector 22"/>
          <p:cNvCxnSpPr/>
          <p:nvPr/>
        </p:nvCxnSpPr>
        <p:spPr>
          <a:xfrm rot="5354166">
            <a:off x="6953250" y="2501942"/>
            <a:ext cx="9525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23" name="AutoShape 23"/>
          <p:cNvSpPr/>
          <p:nvPr/>
        </p:nvSpPr>
        <p:spPr>
          <a:xfrm>
            <a:off x="7620000" y="2006600"/>
            <a:ext cx="361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1F2937"/>
                </a:solidFill>
                <a:latin typeface="Noto Sans SC"/>
                <a:ea typeface="Noto Sans SC"/>
                <a:cs typeface="Noto Sans SC"/>
                <a:sym typeface="Noto Sans SC"/>
              </a:rPr>
              <a:t>Key Features Deep Dive</a:t>
            </a:r>
            <a:endParaRPr lang="en-US" sz="1100"/>
          </a:p>
          <a:p>
            <a:pPr marL="0" indent="0" algn="l">
              <a:lnSpc>
                <a:spcPct val="100000"/>
              </a:lnSpc>
            </a:pPr>
            <a:r>
              <a:rPr lang="en-US" sz="1100" b="0" i="0" u="none" strike="noStrike">
                <a:solidFill>
                  <a:srgbClr val="4B5563"/>
                </a:solidFill>
                <a:latin typeface="Noto Sans SC"/>
                <a:ea typeface="Noto Sans SC"/>
                <a:cs typeface="Noto Sans SC"/>
                <a:sym typeface="Noto Sans SC"/>
              </a:rPr>
              <a:t>Showcase core functional modules such as full-lifecycle task management, real-time team collaboration dashboards, and multi-dimensional data views in detail.</a:t>
            </a:r>
          </a:p>
        </p:txBody>
      </p:sp>
      <p:sp>
        <p:nvSpPr>
          <p:cNvPr id="24" name="AutoShape 24"/>
          <p:cNvSpPr/>
          <p:nvPr/>
        </p:nvSpPr>
        <p:spPr>
          <a:xfrm>
            <a:off x="6223000" y="3365500"/>
            <a:ext cx="5207000" cy="1206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6223000" y="3365500"/>
            <a:ext cx="76200" cy="1206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6477000" y="3467100"/>
            <a:ext cx="76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2DD4BF"/>
                </a:solidFill>
                <a:latin typeface="Noto Sans SC"/>
                <a:ea typeface="Noto Sans SC"/>
                <a:cs typeface="Noto Sans SC"/>
                <a:sym typeface="Noto Sans SC"/>
              </a:rPr>
              <a:t>05</a:t>
            </a:r>
            <a:endParaRPr lang="en-US" sz="1100"/>
          </a:p>
        </p:txBody>
      </p:sp>
      <p:cxnSp>
        <p:nvCxnSpPr>
          <p:cNvPr id="27" name="Connector 27"/>
          <p:cNvCxnSpPr/>
          <p:nvPr/>
        </p:nvCxnSpPr>
        <p:spPr>
          <a:xfrm rot="5354166">
            <a:off x="6953250" y="3962442"/>
            <a:ext cx="9525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28" name="AutoShape 28"/>
          <p:cNvSpPr/>
          <p:nvPr/>
        </p:nvSpPr>
        <p:spPr>
          <a:xfrm>
            <a:off x="7620000" y="3467100"/>
            <a:ext cx="361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1F2937"/>
                </a:solidFill>
                <a:latin typeface="Noto Sans SC"/>
                <a:ea typeface="Noto Sans SC"/>
                <a:cs typeface="Noto Sans SC"/>
                <a:sym typeface="Noto Sans SC"/>
              </a:rPr>
              <a:t>Development Workflow</a:t>
            </a:r>
            <a:endParaRPr lang="en-US" sz="1100"/>
          </a:p>
          <a:p>
            <a:pPr marL="0" indent="0" algn="l">
              <a:lnSpc>
                <a:spcPct val="100000"/>
              </a:lnSpc>
            </a:pPr>
            <a:r>
              <a:rPr lang="en-US" sz="1100" b="0" i="0" u="none" strike="noStrike">
                <a:solidFill>
                  <a:srgbClr val="4B5563"/>
                </a:solidFill>
                <a:latin typeface="Noto Sans SC"/>
                <a:ea typeface="Noto Sans SC"/>
                <a:cs typeface="Noto Sans SC"/>
                <a:sym typeface="Noto Sans SC"/>
              </a:rPr>
              <a:t>Outline the complete engineering practice process from requirement iteration, agile development, automated testing to CI/CD pipeline deployment.</a:t>
            </a:r>
          </a:p>
        </p:txBody>
      </p:sp>
      <p:sp>
        <p:nvSpPr>
          <p:cNvPr id="29" name="AutoShape 29"/>
          <p:cNvSpPr/>
          <p:nvPr/>
        </p:nvSpPr>
        <p:spPr>
          <a:xfrm>
            <a:off x="6223000" y="4826000"/>
            <a:ext cx="5207000" cy="1206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6223000" y="4826000"/>
            <a:ext cx="76200" cy="1206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6477000" y="4927600"/>
            <a:ext cx="76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2DD4BF"/>
                </a:solidFill>
                <a:latin typeface="Noto Sans SC"/>
                <a:ea typeface="Noto Sans SC"/>
                <a:cs typeface="Noto Sans SC"/>
                <a:sym typeface="Noto Sans SC"/>
              </a:rPr>
              <a:t>06</a:t>
            </a:r>
            <a:endParaRPr lang="en-US" sz="1100"/>
          </a:p>
        </p:txBody>
      </p:sp>
      <p:cxnSp>
        <p:nvCxnSpPr>
          <p:cNvPr id="32" name="Connector 32"/>
          <p:cNvCxnSpPr/>
          <p:nvPr/>
        </p:nvCxnSpPr>
        <p:spPr>
          <a:xfrm rot="5354166">
            <a:off x="6953250" y="5422942"/>
            <a:ext cx="9525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33" name="AutoShape 33"/>
          <p:cNvSpPr/>
          <p:nvPr/>
        </p:nvSpPr>
        <p:spPr>
          <a:xfrm>
            <a:off x="7620000" y="4927600"/>
            <a:ext cx="361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1F2937"/>
                </a:solidFill>
                <a:latin typeface="Noto Sans SC"/>
                <a:ea typeface="Noto Sans SC"/>
                <a:cs typeface="Noto Sans SC"/>
                <a:sym typeface="Noto Sans SC"/>
              </a:rPr>
              <a:t>Demo &amp; Conclusion</a:t>
            </a:r>
            <a:endParaRPr lang="en-US" sz="1100"/>
          </a:p>
          <a:p>
            <a:pPr marL="0" indent="0" algn="l">
              <a:lnSpc>
                <a:spcPct val="100000"/>
              </a:lnSpc>
            </a:pPr>
            <a:r>
              <a:rPr lang="en-US" sz="1100" b="0" i="0" u="none" strike="noStrike">
                <a:solidFill>
                  <a:srgbClr val="4B5563"/>
                </a:solidFill>
                <a:latin typeface="Noto Sans SC"/>
                <a:ea typeface="Noto Sans SC"/>
                <a:cs typeface="Noto Sans SC"/>
                <a:sym typeface="Noto Sans SC"/>
              </a:rPr>
              <a:t>Visually present the functional effects through a live product demo, and summarize the project achievements, application prospects, and future plans.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a:ea typeface="Noto Sans SC"/>
                <a:cs typeface="Noto Sans SC"/>
                <a:sym typeface="Noto Sans SC"/>
              </a:rPr>
              <a:t>01 Project Background &amp; Pain Points</a:t>
            </a:r>
            <a:endParaRPr lang="en-US" sz="1100"/>
          </a:p>
        </p:txBody>
      </p:sp>
      <p:pic>
        <p:nvPicPr>
          <p:cNvPr id="4" name="Picture 4"/>
          <p:cNvPicPr>
            <a:picLocks noChangeAspect="1"/>
          </p:cNvPicPr>
          <p:nvPr/>
        </p:nvPicPr>
        <p:blipFill>
          <a:blip r:embed="rId4"/>
          <a:srcRect l="6727" r="6727"/>
          <a:stretch>
            <a:fillRect/>
          </a:stretch>
        </p:blipFill>
        <p:spPr>
          <a:xfrm>
            <a:off x="762000" y="1778000"/>
            <a:ext cx="4318000" cy="2794000"/>
          </a:xfrm>
          <a:prstGeom prst="rect">
            <a:avLst/>
          </a:prstGeom>
          <a:noFill/>
          <a:ln w="25400" cap="flat" cmpd="sng">
            <a:solidFill>
              <a:srgbClr val="2DD4BF">
                <a:alpha val="50000"/>
              </a:srgbClr>
            </a:solidFill>
            <a:prstDash val="solid"/>
            <a:round/>
          </a:ln>
        </p:spPr>
      </p:pic>
      <p:sp>
        <p:nvSpPr>
          <p:cNvPr id="5" name="AutoShape 5"/>
          <p:cNvSpPr/>
          <p:nvPr/>
        </p:nvSpPr>
        <p:spPr>
          <a:xfrm>
            <a:off x="762000" y="4699000"/>
            <a:ext cx="431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Traditional project management tools often rely on complex local deployments and heavy infrastructure maintenance, like tangled server lines. They not only have high setup barriers but also bring exorbitant operational costs and management burdens.</a:t>
            </a:r>
            <a:endParaRPr lang="en-US" sz="1100"/>
          </a:p>
        </p:txBody>
      </p:sp>
      <p:cxnSp>
        <p:nvCxnSpPr>
          <p:cNvPr id="6" name="Connector 6"/>
          <p:cNvCxnSpPr/>
          <p:nvPr/>
        </p:nvCxnSpPr>
        <p:spPr>
          <a:xfrm rot="5389257">
            <a:off x="3556000" y="3803660"/>
            <a:ext cx="4064000" cy="12700"/>
          </a:xfrm>
          <a:prstGeom prst="straightConnector1">
            <a:avLst/>
          </a:prstGeom>
          <a:solidFill>
            <a:srgbClr val="DEE0E3">
              <a:alpha val="100000"/>
            </a:srgbClr>
          </a:solidFill>
          <a:ln w="12700" cap="flat" cmpd="sng">
            <a:solidFill>
              <a:srgbClr val="1F2937">
                <a:alpha val="15000"/>
              </a:srgbClr>
            </a:solidFill>
            <a:prstDash val="dash"/>
            <a:round/>
            <a:headEnd type="none" w="med" len="med"/>
            <a:tailEnd type="none" w="med" len="med"/>
          </a:ln>
        </p:spPr>
      </p:cxnSp>
      <p:sp>
        <p:nvSpPr>
          <p:cNvPr id="7" name="AutoShape 7"/>
          <p:cNvSpPr/>
          <p:nvPr/>
        </p:nvSpPr>
        <p:spPr>
          <a:xfrm>
            <a:off x="5842000" y="1778000"/>
            <a:ext cx="2857500" cy="1651000"/>
          </a:xfrm>
          <a:prstGeom prst="roundRect">
            <a:avLst>
              <a:gd name="adj" fmla="val 0"/>
            </a:avLst>
          </a:prstGeom>
          <a:solidFill>
            <a:srgbClr val="FFFFFF">
              <a:alpha val="6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32500" y="1968500"/>
            <a:ext cx="304800" cy="304800"/>
          </a:xfrm>
          <a:prstGeom prst="rect">
            <a:avLst/>
          </a:prstGeom>
        </p:spPr>
      </p:pic>
      <p:sp>
        <p:nvSpPr>
          <p:cNvPr id="9" name="AutoShape 9"/>
          <p:cNvSpPr/>
          <p:nvPr/>
        </p:nvSpPr>
        <p:spPr>
          <a:xfrm>
            <a:off x="6413500" y="1968500"/>
            <a:ext cx="215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Tool Fragmentation &amp; Silos</a:t>
            </a:r>
            <a:endParaRPr lang="en-US" sz="1100"/>
          </a:p>
        </p:txBody>
      </p:sp>
      <p:sp>
        <p:nvSpPr>
          <p:cNvPr id="10" name="AutoShape 10"/>
          <p:cNvSpPr/>
          <p:nvPr/>
        </p:nvSpPr>
        <p:spPr>
          <a:xfrm>
            <a:off x="6032500" y="2387600"/>
            <a:ext cx="2476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B5563"/>
                </a:solidFill>
                <a:latin typeface="Noto Sans SC"/>
                <a:ea typeface="Noto Sans SC"/>
                <a:cs typeface="Noto Sans SC"/>
                <a:sym typeface="Noto Sans SC"/>
              </a:rPr>
              <a:t>Teams use different tools for collaboration, scattering information across platforms. Integration is hard, making a unified project view impossible and efficiency plummeting.</a:t>
            </a:r>
            <a:endParaRPr lang="en-US" sz="1100"/>
          </a:p>
        </p:txBody>
      </p:sp>
      <p:sp>
        <p:nvSpPr>
          <p:cNvPr id="11" name="AutoShape 11"/>
          <p:cNvSpPr/>
          <p:nvPr/>
        </p:nvSpPr>
        <p:spPr>
          <a:xfrm>
            <a:off x="8890000" y="1778000"/>
            <a:ext cx="2857500" cy="1651000"/>
          </a:xfrm>
          <a:prstGeom prst="roundRect">
            <a:avLst>
              <a:gd name="adj" fmla="val 0"/>
            </a:avLst>
          </a:prstGeom>
          <a:solidFill>
            <a:srgbClr val="FFFFFF">
              <a:alpha val="6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080500" y="1968500"/>
            <a:ext cx="304800" cy="304800"/>
          </a:xfrm>
          <a:prstGeom prst="rect">
            <a:avLst/>
          </a:prstGeom>
        </p:spPr>
      </p:pic>
      <p:sp>
        <p:nvSpPr>
          <p:cNvPr id="13" name="AutoShape 13"/>
          <p:cNvSpPr/>
          <p:nvPr/>
        </p:nvSpPr>
        <p:spPr>
          <a:xfrm>
            <a:off x="9461500" y="1968500"/>
            <a:ext cx="215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Lack of Real-time Collaboration</a:t>
            </a:r>
            <a:endParaRPr lang="en-US" sz="1100"/>
          </a:p>
        </p:txBody>
      </p:sp>
      <p:sp>
        <p:nvSpPr>
          <p:cNvPr id="14" name="AutoShape 14"/>
          <p:cNvSpPr/>
          <p:nvPr/>
        </p:nvSpPr>
        <p:spPr>
          <a:xfrm>
            <a:off x="9080500" y="2387600"/>
            <a:ext cx="2476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B5563"/>
                </a:solidFill>
                <a:latin typeface="Noto Sans SC"/>
                <a:ea typeface="Noto Sans SC"/>
                <a:cs typeface="Noto Sans SC"/>
                <a:sym typeface="Noto Sans SC"/>
              </a:rPr>
              <a:t>Relying on manual refreshes or delayed sync, information flow lags. It fails to meet the need for instant progress sharing and problem communication.</a:t>
            </a:r>
            <a:endParaRPr lang="en-US" sz="1100"/>
          </a:p>
        </p:txBody>
      </p:sp>
      <p:sp>
        <p:nvSpPr>
          <p:cNvPr id="15" name="AutoShape 15"/>
          <p:cNvSpPr/>
          <p:nvPr/>
        </p:nvSpPr>
        <p:spPr>
          <a:xfrm>
            <a:off x="5842000" y="3683000"/>
            <a:ext cx="2857500" cy="1651000"/>
          </a:xfrm>
          <a:prstGeom prst="roundRect">
            <a:avLst>
              <a:gd name="adj" fmla="val 0"/>
            </a:avLst>
          </a:prstGeom>
          <a:solidFill>
            <a:srgbClr val="FFFFFF">
              <a:alpha val="6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32500" y="3873500"/>
            <a:ext cx="304800" cy="304800"/>
          </a:xfrm>
          <a:prstGeom prst="rect">
            <a:avLst/>
          </a:prstGeom>
        </p:spPr>
      </p:pic>
      <p:sp>
        <p:nvSpPr>
          <p:cNvPr id="17" name="AutoShape 17"/>
          <p:cNvSpPr/>
          <p:nvPr/>
        </p:nvSpPr>
        <p:spPr>
          <a:xfrm>
            <a:off x="6413500" y="3873500"/>
            <a:ext cx="215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Complex Deployment &amp; High Cost</a:t>
            </a:r>
            <a:endParaRPr lang="en-US" sz="1100"/>
          </a:p>
        </p:txBody>
      </p:sp>
      <p:sp>
        <p:nvSpPr>
          <p:cNvPr id="18" name="AutoShape 18"/>
          <p:cNvSpPr/>
          <p:nvPr/>
        </p:nvSpPr>
        <p:spPr>
          <a:xfrm>
            <a:off x="6032500" y="4292600"/>
            <a:ext cx="2476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B5563"/>
                </a:solidFill>
                <a:latin typeface="Noto Sans SC"/>
                <a:ea typeface="Noto Sans SC"/>
                <a:cs typeface="Noto Sans SC"/>
                <a:sym typeface="Noto Sans SC"/>
              </a:rPr>
              <a:t>Local deployment needs professional ops, and commercial licenses charge per seat. Costs for hardware, software and labor surge as teams scale.</a:t>
            </a:r>
            <a:endParaRPr lang="en-US" sz="1100"/>
          </a:p>
        </p:txBody>
      </p:sp>
      <p:sp>
        <p:nvSpPr>
          <p:cNvPr id="19" name="AutoShape 19"/>
          <p:cNvSpPr/>
          <p:nvPr/>
        </p:nvSpPr>
        <p:spPr>
          <a:xfrm>
            <a:off x="8890000" y="3683000"/>
            <a:ext cx="2857500" cy="1651000"/>
          </a:xfrm>
          <a:prstGeom prst="roundRect">
            <a:avLst>
              <a:gd name="adj" fmla="val 0"/>
            </a:avLst>
          </a:prstGeom>
          <a:solidFill>
            <a:srgbClr val="FFFFFF">
              <a:alpha val="6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080500" y="3873500"/>
            <a:ext cx="304800" cy="304800"/>
          </a:xfrm>
          <a:prstGeom prst="rect">
            <a:avLst/>
          </a:prstGeom>
        </p:spPr>
      </p:pic>
      <p:sp>
        <p:nvSpPr>
          <p:cNvPr id="21" name="AutoShape 21"/>
          <p:cNvSpPr/>
          <p:nvPr/>
        </p:nvSpPr>
        <p:spPr>
          <a:xfrm>
            <a:off x="9461500" y="3873500"/>
            <a:ext cx="215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Rigid &amp; Non-customizable</a:t>
            </a:r>
            <a:endParaRPr lang="en-US" sz="1100"/>
          </a:p>
        </p:txBody>
      </p:sp>
      <p:sp>
        <p:nvSpPr>
          <p:cNvPr id="22" name="AutoShape 22"/>
          <p:cNvSpPr/>
          <p:nvPr/>
        </p:nvSpPr>
        <p:spPr>
          <a:xfrm>
            <a:off x="9080500" y="4292600"/>
            <a:ext cx="2476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B5563"/>
                </a:solidFill>
                <a:latin typeface="Noto Sans SC"/>
                <a:ea typeface="Noto Sans SC"/>
                <a:cs typeface="Noto Sans SC"/>
                <a:sym typeface="Noto Sans SC"/>
              </a:rPr>
              <a:t>Tool workflows are preset and can't adapt to unique team processes. Redundant and missing features coexist, failing to fit real business needs.</a:t>
            </a:r>
            <a:endParaRPr lang="en-US" sz="1100"/>
          </a:p>
        </p:txBody>
      </p:sp>
      <p:sp>
        <p:nvSpPr>
          <p:cNvPr id="23" name="AutoShape 23"/>
          <p:cNvSpPr/>
          <p:nvPr/>
        </p:nvSpPr>
        <p:spPr>
          <a:xfrm>
            <a:off x="762000" y="5778500"/>
            <a:ext cx="10985500" cy="762000"/>
          </a:xfrm>
          <a:prstGeom prst="roundRect">
            <a:avLst>
              <a:gd name="adj" fmla="val 0"/>
            </a:avLst>
          </a:prstGeom>
          <a:solidFill>
            <a:srgbClr val="2DD4BF">
              <a:alpha val="15000"/>
            </a:srgbClr>
          </a:solidFill>
          <a:ln w="12700" cap="flat" cmpd="sng">
            <a:solidFill>
              <a:srgbClr val="2DD4BF">
                <a:alpha val="60000"/>
              </a:srgbClr>
            </a:solid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952500" y="59055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F2937"/>
                </a:solidFill>
                <a:latin typeface="Noto Sans SC"/>
                <a:ea typeface="Noto Sans SC"/>
                <a:cs typeface="Noto Sans SC"/>
                <a:sym typeface="Noto Sans SC"/>
              </a:rPr>
              <a:t>The Core Need:</a:t>
            </a:r>
            <a:r>
              <a:rPr lang="en-US" sz="1300" b="0" i="0" u="none" strike="noStrike">
                <a:solidFill>
                  <a:srgbClr val="374151"/>
                </a:solidFill>
                <a:latin typeface="Noto Sans SC"/>
                <a:ea typeface="Noto Sans SC"/>
                <a:cs typeface="Noto Sans SC"/>
                <a:sym typeface="Noto Sans SC"/>
              </a:rPr>
              <a:t>A lightweight, real-time, cost-effective, and highly customizable project management solution.</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a:ea typeface="Noto Sans SC"/>
                <a:cs typeface="Noto Sans SC"/>
                <a:sym typeface="Noto Sans SC"/>
              </a:rPr>
              <a:t>02 The Solution: PivotPoint Overview</a:t>
            </a:r>
            <a:endParaRPr lang="en-US" sz="1100"/>
          </a:p>
        </p:txBody>
      </p:sp>
      <p:sp>
        <p:nvSpPr>
          <p:cNvPr id="4" name="AutoShape 4"/>
          <p:cNvSpPr/>
          <p:nvPr/>
        </p:nvSpPr>
        <p:spPr>
          <a:xfrm>
            <a:off x="762000" y="1524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151"/>
                </a:solidFill>
                <a:latin typeface="Noto Sans SC"/>
                <a:ea typeface="Noto Sans SC"/>
                <a:cs typeface="Noto Sans SC"/>
                <a:sym typeface="Noto Sans SC"/>
              </a:rPr>
              <a:t>PivotPoint is built to solve collaboration pain points. It is a fully-featured real-time collaboration dashboard that eliminates complex configurations, aiming to provide teams with an extremely smooth user experience and powerful project management capabilities, redefining efficient collaboration.</a:t>
            </a:r>
            <a:endParaRPr lang="en-US" sz="1100"/>
          </a:p>
        </p:txBody>
      </p:sp>
      <p:sp>
        <p:nvSpPr>
          <p:cNvPr id="5" name="AutoShape 5"/>
          <p:cNvSpPr/>
          <p:nvPr/>
        </p:nvSpPr>
        <p:spPr>
          <a:xfrm>
            <a:off x="762000" y="2603500"/>
            <a:ext cx="10668000" cy="6350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2603500"/>
            <a:ext cx="76200" cy="635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016000" y="2667000"/>
            <a:ext cx="1028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1F2937"/>
                </a:solidFill>
                <a:latin typeface="Noto Sans SC"/>
                <a:ea typeface="Noto Sans SC"/>
                <a:cs typeface="Noto Sans SC"/>
                <a:sym typeface="Noto Sans SC"/>
              </a:rPr>
              <a:t>Core Value Proposition:</a:t>
            </a:r>
            <a:r>
              <a:rPr lang="en-US" sz="1400" b="0" i="0" u="none" strike="noStrike">
                <a:solidFill>
                  <a:srgbClr val="374151"/>
                </a:solidFill>
                <a:latin typeface="Noto Sans SC"/>
                <a:ea typeface="Noto Sans SC"/>
                <a:cs typeface="Noto Sans SC"/>
                <a:sym typeface="Noto Sans SC"/>
              </a:rPr>
              <a:t>An "out-of-the-box" real-time collaboration dashboard that frees teams from tedious setup and focuses on high-impact output.</a:t>
            </a:r>
            <a:endParaRPr lang="en-US" sz="1100"/>
          </a:p>
        </p:txBody>
      </p:sp>
      <p:pic>
        <p:nvPicPr>
          <p:cNvPr id="8" name="Picture 8"/>
          <p:cNvPicPr>
            <a:picLocks noChangeAspect="1"/>
          </p:cNvPicPr>
          <p:nvPr/>
        </p:nvPicPr>
        <p:blipFill>
          <a:blip r:embed="rId4"/>
          <a:srcRect t="13725" b="13725"/>
          <a:stretch>
            <a:fillRect/>
          </a:stretch>
        </p:blipFill>
        <p:spPr>
          <a:xfrm>
            <a:off x="762000" y="3810000"/>
            <a:ext cx="4318000" cy="2349500"/>
          </a:xfrm>
          <a:prstGeom prst="rect">
            <a:avLst/>
          </a:prstGeom>
          <a:noFill/>
          <a:ln w="12700" cap="flat" cmpd="sng">
            <a:solidFill>
              <a:srgbClr val="2DD4BF">
                <a:alpha val="40000"/>
              </a:srgbClr>
            </a:solidFill>
            <a:prstDash val="solid"/>
            <a:round/>
          </a:ln>
        </p:spPr>
      </p:pic>
      <p:cxnSp>
        <p:nvCxnSpPr>
          <p:cNvPr id="9" name="Connector 9"/>
          <p:cNvCxnSpPr/>
          <p:nvPr/>
        </p:nvCxnSpPr>
        <p:spPr>
          <a:xfrm rot="5382370">
            <a:off x="4349750" y="5041916"/>
            <a:ext cx="2476500" cy="12700"/>
          </a:xfrm>
          <a:prstGeom prst="straightConnector1">
            <a:avLst/>
          </a:prstGeom>
          <a:solidFill>
            <a:srgbClr val="DEE0E3">
              <a:alpha val="100000"/>
            </a:srgbClr>
          </a:solidFill>
          <a:ln w="12700" cap="flat" cmpd="sng">
            <a:solidFill>
              <a:srgbClr val="1F2937">
                <a:alpha val="15000"/>
              </a:srgbClr>
            </a:solidFill>
            <a:prstDash val="dash"/>
            <a:round/>
            <a:headEnd type="none" w="med" len="med"/>
            <a:tailEnd type="none" w="med" len="med"/>
          </a:ln>
        </p:spPr>
      </p:cxnSp>
      <p:sp>
        <p:nvSpPr>
          <p:cNvPr id="10" name="AutoShape 10"/>
          <p:cNvSpPr/>
          <p:nvPr/>
        </p:nvSpPr>
        <p:spPr>
          <a:xfrm>
            <a:off x="5842000" y="3810000"/>
            <a:ext cx="2857500" cy="1143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69000" y="3937000"/>
            <a:ext cx="304800" cy="304800"/>
          </a:xfrm>
          <a:prstGeom prst="rect">
            <a:avLst/>
          </a:prstGeom>
        </p:spPr>
      </p:pic>
      <p:sp>
        <p:nvSpPr>
          <p:cNvPr id="12" name="AutoShape 12"/>
          <p:cNvSpPr/>
          <p:nvPr/>
        </p:nvSpPr>
        <p:spPr>
          <a:xfrm>
            <a:off x="6350000" y="3937000"/>
            <a:ext cx="2222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a:ea typeface="Noto Sans SC"/>
                <a:cs typeface="Noto Sans SC"/>
                <a:sym typeface="Noto Sans SC"/>
              </a:rPr>
              <a:t>Drag-and-Drop Board Management</a:t>
            </a:r>
            <a:endParaRPr lang="en-US" sz="1100"/>
          </a:p>
        </p:txBody>
      </p:sp>
      <p:sp>
        <p:nvSpPr>
          <p:cNvPr id="13" name="AutoShape 13"/>
          <p:cNvSpPr/>
          <p:nvPr/>
        </p:nvSpPr>
        <p:spPr>
          <a:xfrm>
            <a:off x="5969000" y="4318000"/>
            <a:ext cx="2603500" cy="6096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000" b="0" i="0" u="none" strike="noStrike">
                <a:solidFill>
                  <a:srgbClr val="4B5563"/>
                </a:solidFill>
                <a:latin typeface="Noto Sans SC"/>
                <a:ea typeface="Noto Sans SC"/>
                <a:cs typeface="Noto Sans SC"/>
                <a:sym typeface="Noto Sans SC"/>
              </a:rPr>
              <a:t>Visualize the entire task workflow. Update statuses with a simple drag-and-drop. Intuitive operation, zero learning curve for the team.</a:t>
            </a:r>
            <a:endParaRPr lang="en-US" sz="1100"/>
          </a:p>
        </p:txBody>
      </p:sp>
      <p:sp>
        <p:nvSpPr>
          <p:cNvPr id="14" name="AutoShape 14"/>
          <p:cNvSpPr/>
          <p:nvPr/>
        </p:nvSpPr>
        <p:spPr>
          <a:xfrm>
            <a:off x="5842000" y="5080000"/>
            <a:ext cx="2857500" cy="1143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69000" y="5207000"/>
            <a:ext cx="304800" cy="304800"/>
          </a:xfrm>
          <a:prstGeom prst="rect">
            <a:avLst/>
          </a:prstGeom>
        </p:spPr>
      </p:pic>
      <p:sp>
        <p:nvSpPr>
          <p:cNvPr id="16" name="AutoShape 16"/>
          <p:cNvSpPr/>
          <p:nvPr/>
        </p:nvSpPr>
        <p:spPr>
          <a:xfrm>
            <a:off x="6350000" y="5207000"/>
            <a:ext cx="2222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a:ea typeface="Noto Sans SC"/>
                <a:cs typeface="Noto Sans SC"/>
                <a:sym typeface="Noto Sans SC"/>
              </a:rPr>
              <a:t>Millisecond Real-Time Sync</a:t>
            </a:r>
            <a:endParaRPr lang="en-US" sz="1100"/>
          </a:p>
        </p:txBody>
      </p:sp>
      <p:sp>
        <p:nvSpPr>
          <p:cNvPr id="17" name="AutoShape 17"/>
          <p:cNvSpPr/>
          <p:nvPr/>
        </p:nvSpPr>
        <p:spPr>
          <a:xfrm>
            <a:off x="5969000" y="5588000"/>
            <a:ext cx="2603500" cy="6096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000" b="0" i="0" u="none" strike="noStrike">
                <a:solidFill>
                  <a:srgbClr val="4B5563"/>
                </a:solidFill>
                <a:latin typeface="Noto Sans SC"/>
                <a:ea typeface="Noto Sans SC"/>
                <a:cs typeface="Noto Sans SC"/>
                <a:sym typeface="Noto Sans SC"/>
              </a:rPr>
              <a:t>All changes are instantly broadcast to Web, desktop, and mobile, ensuring all collaborators have consistent information.</a:t>
            </a:r>
            <a:endParaRPr lang="en-US" sz="1100"/>
          </a:p>
        </p:txBody>
      </p:sp>
      <p:cxnSp>
        <p:nvCxnSpPr>
          <p:cNvPr id="18" name="Connector 18"/>
          <p:cNvCxnSpPr/>
          <p:nvPr/>
        </p:nvCxnSpPr>
        <p:spPr>
          <a:xfrm rot="5382370">
            <a:off x="7651750" y="5041916"/>
            <a:ext cx="24765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19" name="AutoShape 19"/>
          <p:cNvSpPr/>
          <p:nvPr/>
        </p:nvSpPr>
        <p:spPr>
          <a:xfrm>
            <a:off x="9017000" y="3810000"/>
            <a:ext cx="2857500" cy="1143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0" y="3937000"/>
            <a:ext cx="304800" cy="304800"/>
          </a:xfrm>
          <a:prstGeom prst="rect">
            <a:avLst/>
          </a:prstGeom>
        </p:spPr>
      </p:pic>
      <p:sp>
        <p:nvSpPr>
          <p:cNvPr id="21" name="AutoShape 21"/>
          <p:cNvSpPr/>
          <p:nvPr/>
        </p:nvSpPr>
        <p:spPr>
          <a:xfrm>
            <a:off x="9525000" y="3937000"/>
            <a:ext cx="2222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F2937"/>
                </a:solidFill>
                <a:latin typeface="Noto Sans SC"/>
                <a:ea typeface="Noto Sans SC"/>
                <a:cs typeface="Noto Sans SC"/>
                <a:sym typeface="Noto Sans SC"/>
              </a:rPr>
              <a:t>Granular RBAC Permissions</a:t>
            </a:r>
            <a:endParaRPr lang="en-US" sz="1100"/>
          </a:p>
        </p:txBody>
      </p:sp>
      <p:sp>
        <p:nvSpPr>
          <p:cNvPr id="22" name="AutoShape 22"/>
          <p:cNvSpPr/>
          <p:nvPr/>
        </p:nvSpPr>
        <p:spPr>
          <a:xfrm>
            <a:off x="9144000" y="4318000"/>
            <a:ext cx="2603500" cy="6096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000" b="0" i="0" u="none" strike="noStrike">
                <a:solidFill>
                  <a:srgbClr val="4B5563"/>
                </a:solidFill>
                <a:latin typeface="Noto Sans SC"/>
                <a:ea typeface="Noto Sans SC"/>
                <a:cs typeface="Noto Sans SC"/>
                <a:sym typeface="Noto Sans SC"/>
              </a:rPr>
              <a:t>Assign data access based on roles. Strictly control information flow to ensure project data security and collaboration order.</a:t>
            </a:r>
            <a:endParaRPr lang="en-US" sz="1100"/>
          </a:p>
        </p:txBody>
      </p:sp>
      <p:sp>
        <p:nvSpPr>
          <p:cNvPr id="23" name="AutoShape 23"/>
          <p:cNvSpPr/>
          <p:nvPr/>
        </p:nvSpPr>
        <p:spPr>
          <a:xfrm>
            <a:off x="9017000" y="5080000"/>
            <a:ext cx="2857500" cy="1143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144000" y="5207000"/>
            <a:ext cx="304800" cy="304800"/>
          </a:xfrm>
          <a:prstGeom prst="rect">
            <a:avLst/>
          </a:prstGeom>
        </p:spPr>
      </p:pic>
      <p:sp>
        <p:nvSpPr>
          <p:cNvPr id="25" name="AutoShape 25"/>
          <p:cNvSpPr/>
          <p:nvPr/>
        </p:nvSpPr>
        <p:spPr>
          <a:xfrm>
            <a:off x="9525000" y="5207000"/>
            <a:ext cx="2222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F2937"/>
                </a:solidFill>
                <a:latin typeface="Noto Sans SC"/>
                <a:ea typeface="Noto Sans SC"/>
                <a:cs typeface="Noto Sans SC"/>
                <a:sym typeface="Noto Sans SC"/>
              </a:rPr>
              <a:t>Global &amp; Cross-Scenario Fit</a:t>
            </a:r>
            <a:endParaRPr lang="en-US" sz="1100"/>
          </a:p>
        </p:txBody>
      </p:sp>
      <p:sp>
        <p:nvSpPr>
          <p:cNvPr id="26" name="AutoShape 26"/>
          <p:cNvSpPr/>
          <p:nvPr/>
        </p:nvSpPr>
        <p:spPr>
          <a:xfrm>
            <a:off x="9144000" y="5588000"/>
            <a:ext cx="2603500" cy="6096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000" b="0" i="0" u="none" strike="noStrike">
                <a:solidFill>
                  <a:srgbClr val="4B5563"/>
                </a:solidFill>
                <a:latin typeface="Noto Sans SC"/>
                <a:ea typeface="Noto Sans SC"/>
                <a:cs typeface="Noto Sans SC"/>
                <a:sym typeface="Noto Sans SC"/>
              </a:rPr>
              <a:t>Supports boards, Gantt charts, etc.; one-click Excel/PDF export; 5 languages &amp; RTL layout ready.</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a:ea typeface="Noto Sans SC"/>
                <a:cs typeface="Noto Sans SC"/>
                <a:sym typeface="Noto Sans SC"/>
              </a:rPr>
              <a:t>03 System Architecture &amp; Tech Stack</a:t>
            </a:r>
            <a:endParaRPr lang="en-US" sz="1100"/>
          </a:p>
        </p:txBody>
      </p:sp>
      <p:sp>
        <p:nvSpPr>
          <p:cNvPr id="4" name="AutoShape 4"/>
          <p:cNvSpPr/>
          <p:nvPr/>
        </p:nvSpPr>
        <p:spPr>
          <a:xfrm>
            <a:off x="762000" y="1397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151"/>
                </a:solidFill>
                <a:latin typeface="Noto Sans SC"/>
                <a:ea typeface="Noto Sans SC"/>
                <a:cs typeface="Noto Sans SC"/>
                <a:sym typeface="Noto Sans SC"/>
              </a:rPr>
              <a:t>PivotPoint adopts a modern JAMstack architecture, achieving complete separation of front-end and back-end. This not only enhances development iteration efficiency but also ensures high performance and easy deployability in production environments.</a:t>
            </a:r>
            <a:endParaRPr lang="en-US" sz="1100"/>
          </a:p>
        </p:txBody>
      </p:sp>
      <p:sp>
        <p:nvSpPr>
          <p:cNvPr id="5" name="AutoShape 5"/>
          <p:cNvSpPr/>
          <p:nvPr/>
        </p:nvSpPr>
        <p:spPr>
          <a:xfrm>
            <a:off x="762000" y="2413000"/>
            <a:ext cx="5270500" cy="3683000"/>
          </a:xfrm>
          <a:prstGeom prst="roundRect">
            <a:avLst>
              <a:gd name="adj" fmla="val 0"/>
            </a:avLst>
          </a:prstGeom>
          <a:solidFill>
            <a:srgbClr val="FFFFFF">
              <a:alpha val="75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2413000"/>
            <a:ext cx="5270500" cy="5080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952500" y="2489200"/>
            <a:ext cx="488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34E4A"/>
                </a:solidFill>
                <a:latin typeface="Noto Sans SC"/>
                <a:ea typeface="Noto Sans SC"/>
                <a:cs typeface="Noto Sans SC"/>
                <a:sym typeface="Noto Sans SC"/>
              </a:rPr>
              <a:t>Frontend Core: Ultimate Development Experience &amp; Performance</a:t>
            </a:r>
            <a:endParaRPr lang="en-US" sz="1100"/>
          </a:p>
        </p:txBody>
      </p:sp>
      <p:pic>
        <p:nvPicPr>
          <p:cNvPr id="8" name="Picture 8"/>
          <p:cNvPicPr>
            <a:picLocks noChangeAspect="1"/>
          </p:cNvPicPr>
          <p:nvPr/>
        </p:nvPicPr>
        <p:blipFill>
          <a:blip r:embed="rId4"/>
          <a:srcRect/>
          <a:stretch>
            <a:fillRect/>
          </a:stretch>
        </p:blipFill>
        <p:spPr>
          <a:xfrm>
            <a:off x="952500" y="3302000"/>
            <a:ext cx="1016000" cy="1016000"/>
          </a:xfrm>
          <a:prstGeom prst="rect">
            <a:avLst/>
          </a:prstGeom>
          <a:noFill/>
          <a:ln w="25400" cap="flat" cmpd="sng">
            <a:noFill/>
            <a:prstDash val="solid"/>
            <a:round/>
          </a:ln>
        </p:spPr>
      </p:pic>
      <p:sp>
        <p:nvSpPr>
          <p:cNvPr id="9" name="AutoShape 9"/>
          <p:cNvSpPr/>
          <p:nvPr/>
        </p:nvSpPr>
        <p:spPr>
          <a:xfrm>
            <a:off x="952500" y="4318000"/>
            <a:ext cx="1460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F2937"/>
                </a:solidFill>
                <a:latin typeface="Noto Sans SC"/>
                <a:ea typeface="Noto Sans SC"/>
                <a:cs typeface="Noto Sans SC"/>
                <a:sym typeface="Noto Sans SC"/>
              </a:rPr>
              <a:t>React 19</a:t>
            </a:r>
            <a:endParaRPr lang="en-US" sz="1100"/>
          </a:p>
          <a:p>
            <a:pPr marL="0" indent="0" algn="l">
              <a:lnSpc>
                <a:spcPct val="100000"/>
              </a:lnSpc>
            </a:pPr>
            <a:r>
              <a:rPr lang="en-US" sz="1000" b="0" i="0" u="none" strike="noStrike">
                <a:solidFill>
                  <a:srgbClr val="4B5563"/>
                </a:solidFill>
                <a:latin typeface="Noto Sans SC"/>
                <a:ea typeface="Noto Sans SC"/>
                <a:cs typeface="Noto Sans SC"/>
                <a:sym typeface="Noto Sans SC"/>
              </a:rPr>
              <a:t>The latest core framework, paired with 10 custom Hooks for efficient state and logic reuse.</a:t>
            </a:r>
          </a:p>
        </p:txBody>
      </p:sp>
      <p:cxnSp>
        <p:nvCxnSpPr>
          <p:cNvPr id="10" name="Connector 10"/>
          <p:cNvCxnSpPr/>
          <p:nvPr/>
        </p:nvCxnSpPr>
        <p:spPr>
          <a:xfrm rot="5380901">
            <a:off x="1460500" y="4438668"/>
            <a:ext cx="22860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pic>
        <p:nvPicPr>
          <p:cNvPr id="11" name="Picture 11"/>
          <p:cNvPicPr>
            <a:picLocks noChangeAspect="1"/>
          </p:cNvPicPr>
          <p:nvPr/>
        </p:nvPicPr>
        <p:blipFill>
          <a:blip r:embed="rId5"/>
          <a:srcRect l="721" r="721"/>
          <a:stretch>
            <a:fillRect/>
          </a:stretch>
        </p:blipFill>
        <p:spPr>
          <a:xfrm>
            <a:off x="2730500" y="3302000"/>
            <a:ext cx="1016000" cy="1016000"/>
          </a:xfrm>
          <a:prstGeom prst="rect">
            <a:avLst/>
          </a:prstGeom>
          <a:noFill/>
          <a:ln w="25400" cap="flat" cmpd="sng">
            <a:noFill/>
            <a:prstDash val="solid"/>
            <a:round/>
          </a:ln>
        </p:spPr>
      </p:pic>
      <p:sp>
        <p:nvSpPr>
          <p:cNvPr id="12" name="AutoShape 12"/>
          <p:cNvSpPr/>
          <p:nvPr/>
        </p:nvSpPr>
        <p:spPr>
          <a:xfrm>
            <a:off x="2730500" y="4318000"/>
            <a:ext cx="1460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F2937"/>
                </a:solidFill>
                <a:latin typeface="Noto Sans SC"/>
                <a:ea typeface="Noto Sans SC"/>
                <a:cs typeface="Noto Sans SC"/>
                <a:sym typeface="Noto Sans SC"/>
              </a:rPr>
              <a:t>Vite 8 &amp; Rolldown</a:t>
            </a:r>
            <a:endParaRPr lang="en-US" sz="1100"/>
          </a:p>
          <a:p>
            <a:pPr marL="0" indent="0" algn="l">
              <a:lnSpc>
                <a:spcPct val="100000"/>
              </a:lnSpc>
            </a:pPr>
            <a:r>
              <a:rPr lang="en-US" sz="1000" b="0" i="0" u="none" strike="noStrike">
                <a:solidFill>
                  <a:srgbClr val="4B5563"/>
                </a:solidFill>
                <a:latin typeface="Noto Sans SC"/>
                <a:ea typeface="Noto Sans SC"/>
                <a:cs typeface="Noto Sans SC"/>
                <a:sym typeface="Noto Sans SC"/>
              </a:rPr>
              <a:t>Uses Rolldown for production builds, delivering lightning-fast hot updates and extreme bundling performance.</a:t>
            </a:r>
          </a:p>
        </p:txBody>
      </p:sp>
      <p:cxnSp>
        <p:nvCxnSpPr>
          <p:cNvPr id="13" name="Connector 13"/>
          <p:cNvCxnSpPr/>
          <p:nvPr/>
        </p:nvCxnSpPr>
        <p:spPr>
          <a:xfrm rot="5380901">
            <a:off x="3175000" y="4438668"/>
            <a:ext cx="22860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pic>
        <p:nvPicPr>
          <p:cNvPr id="14" name="Picture 14"/>
          <p:cNvPicPr>
            <a:picLocks noChangeAspect="1"/>
          </p:cNvPicPr>
          <p:nvPr/>
        </p:nvPicPr>
        <p:blipFill>
          <a:blip r:embed="rId6"/>
          <a:srcRect t="1928" b="1928"/>
          <a:stretch>
            <a:fillRect/>
          </a:stretch>
        </p:blipFill>
        <p:spPr>
          <a:xfrm>
            <a:off x="4381500" y="3302000"/>
            <a:ext cx="1016000" cy="1016000"/>
          </a:xfrm>
          <a:prstGeom prst="rect">
            <a:avLst/>
          </a:prstGeom>
          <a:noFill/>
          <a:ln w="25400" cap="flat" cmpd="sng">
            <a:noFill/>
            <a:prstDash val="solid"/>
            <a:round/>
          </a:ln>
        </p:spPr>
      </p:pic>
      <p:sp>
        <p:nvSpPr>
          <p:cNvPr id="15" name="AutoShape 15"/>
          <p:cNvSpPr/>
          <p:nvPr/>
        </p:nvSpPr>
        <p:spPr>
          <a:xfrm>
            <a:off x="4381500" y="4318000"/>
            <a:ext cx="1460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F2937"/>
                </a:solidFill>
                <a:latin typeface="Noto Sans SC"/>
                <a:ea typeface="Noto Sans SC"/>
                <a:cs typeface="Noto Sans SC"/>
                <a:sym typeface="Noto Sans SC"/>
              </a:rPr>
              <a:t>Tailwind CSS 4</a:t>
            </a:r>
            <a:endParaRPr lang="en-US" sz="1100"/>
          </a:p>
          <a:p>
            <a:pPr marL="0" indent="0" algn="l">
              <a:lnSpc>
                <a:spcPct val="100000"/>
              </a:lnSpc>
            </a:pPr>
            <a:r>
              <a:rPr lang="en-US" sz="1000" b="0" i="0" u="none" strike="noStrike">
                <a:solidFill>
                  <a:srgbClr val="4B5563"/>
                </a:solidFill>
                <a:latin typeface="Noto Sans SC"/>
                <a:ea typeface="Noto Sans SC"/>
                <a:cs typeface="Noto Sans SC"/>
                <a:sym typeface="Noto Sans SC"/>
              </a:rPr>
              <a:t>An atomic CSS solution that enables write-and-use styling, maintaining UI consistency while accelerating development.</a:t>
            </a:r>
          </a:p>
        </p:txBody>
      </p:sp>
      <p:sp>
        <p:nvSpPr>
          <p:cNvPr id="16" name="AutoShape 16"/>
          <p:cNvSpPr/>
          <p:nvPr/>
        </p:nvSpPr>
        <p:spPr>
          <a:xfrm>
            <a:off x="6286500" y="2413000"/>
            <a:ext cx="5270500" cy="3683000"/>
          </a:xfrm>
          <a:prstGeom prst="roundRect">
            <a:avLst>
              <a:gd name="adj" fmla="val 0"/>
            </a:avLst>
          </a:prstGeom>
          <a:solidFill>
            <a:srgbClr val="FFFFFF">
              <a:alpha val="75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286500" y="2413000"/>
            <a:ext cx="5270500" cy="5080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477000" y="2489200"/>
            <a:ext cx="488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34E4A"/>
                </a:solidFill>
                <a:latin typeface="Noto Sans SC"/>
                <a:ea typeface="Noto Sans SC"/>
                <a:cs typeface="Noto Sans SC"/>
                <a:sym typeface="Noto Sans SC"/>
              </a:rPr>
              <a:t>Backend Architecture: Fully Managed Serverless</a:t>
            </a:r>
            <a:endParaRPr lang="en-US" sz="1100"/>
          </a:p>
        </p:txBody>
      </p:sp>
      <p:pic>
        <p:nvPicPr>
          <p:cNvPr id="19" name="Picture 19"/>
          <p:cNvPicPr>
            <a:picLocks noChangeAspect="1"/>
          </p:cNvPicPr>
          <p:nvPr/>
        </p:nvPicPr>
        <p:blipFill>
          <a:blip r:embed="rId7"/>
          <a:srcRect t="10000" b="10000"/>
          <a:stretch>
            <a:fillRect/>
          </a:stretch>
        </p:blipFill>
        <p:spPr>
          <a:xfrm>
            <a:off x="6477000" y="3302000"/>
            <a:ext cx="1270000" cy="1016000"/>
          </a:xfrm>
          <a:prstGeom prst="rect">
            <a:avLst/>
          </a:prstGeom>
          <a:noFill/>
          <a:ln w="25400" cap="flat" cmpd="sng">
            <a:noFill/>
            <a:prstDash val="solid"/>
            <a:round/>
          </a:ln>
        </p:spPr>
      </p:pic>
      <p:sp>
        <p:nvSpPr>
          <p:cNvPr id="20" name="AutoShape 20"/>
          <p:cNvSpPr/>
          <p:nvPr/>
        </p:nvSpPr>
        <p:spPr>
          <a:xfrm>
            <a:off x="7874000" y="3302000"/>
            <a:ext cx="3492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F2937"/>
                </a:solidFill>
                <a:latin typeface="Noto Sans SC"/>
                <a:ea typeface="Noto Sans SC"/>
                <a:cs typeface="Noto Sans SC"/>
                <a:sym typeface="Noto Sans SC"/>
              </a:rPr>
              <a:t>Supabase Integrated Backend Service</a:t>
            </a:r>
            <a:endParaRPr lang="en-US" sz="1100"/>
          </a:p>
          <a:p>
            <a:pPr marL="0" indent="0" algn="l">
              <a:lnSpc>
                <a:spcPct val="108333"/>
              </a:lnSpc>
            </a:pPr>
            <a:r>
              <a:rPr lang="en-US" sz="1100" b="0" i="0" u="none" strike="noStrike">
                <a:solidFill>
                  <a:srgbClr val="4B5563"/>
                </a:solidFill>
                <a:latin typeface="Noto Sans SC"/>
                <a:ea typeface="Noto Sans SC"/>
                <a:cs typeface="Noto Sans SC"/>
                <a:sym typeface="Noto Sans SC"/>
              </a:rPr>
              <a:t>Integrates Auth, auto-generated PostgREST APIs, Realtime data sync, and Storage, building a complete backend with zero operational overhead.</a:t>
            </a:r>
          </a:p>
        </p:txBody>
      </p:sp>
      <p:cxnSp>
        <p:nvCxnSpPr>
          <p:cNvPr id="21" name="Connector 21"/>
          <p:cNvCxnSpPr/>
          <p:nvPr/>
        </p:nvCxnSpPr>
        <p:spPr>
          <a:xfrm rot="-8929">
            <a:off x="6477008" y="4629150"/>
            <a:ext cx="4889500" cy="12700"/>
          </a:xfrm>
          <a:prstGeom prst="straightConnector1">
            <a:avLst/>
          </a:prstGeom>
          <a:solidFill>
            <a:srgbClr val="DEE0E3">
              <a:alpha val="100000"/>
            </a:srgbClr>
          </a:solidFill>
          <a:ln w="12700" cap="flat" cmpd="sng">
            <a:solidFill>
              <a:srgbClr val="2DD4BF">
                <a:alpha val="30000"/>
              </a:srgbClr>
            </a:solidFill>
            <a:prstDash val="dash"/>
            <a:round/>
            <a:headEnd type="none" w="med" len="med"/>
            <a:tailEnd type="none" w="med" len="med"/>
          </a:ln>
        </p:spPr>
      </p:cxnSp>
      <p:pic>
        <p:nvPicPr>
          <p:cNvPr id="22" name="Picture 22"/>
          <p:cNvPicPr>
            <a:picLocks noChangeAspect="1"/>
          </p:cNvPicPr>
          <p:nvPr/>
        </p:nvPicPr>
        <p:blipFill>
          <a:blip r:embed="rId8"/>
          <a:srcRect l="9821" r="9821"/>
          <a:stretch>
            <a:fillRect/>
          </a:stretch>
        </p:blipFill>
        <p:spPr>
          <a:xfrm>
            <a:off x="6477000" y="4826000"/>
            <a:ext cx="1270000" cy="889000"/>
          </a:xfrm>
          <a:prstGeom prst="rect">
            <a:avLst/>
          </a:prstGeom>
          <a:noFill/>
          <a:ln w="25400" cap="flat" cmpd="sng">
            <a:noFill/>
            <a:prstDash val="solid"/>
            <a:round/>
          </a:ln>
        </p:spPr>
      </p:pic>
      <p:sp>
        <p:nvSpPr>
          <p:cNvPr id="23" name="AutoShape 23"/>
          <p:cNvSpPr/>
          <p:nvPr/>
        </p:nvSpPr>
        <p:spPr>
          <a:xfrm>
            <a:off x="7874000" y="4826000"/>
            <a:ext cx="349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F2937"/>
                </a:solidFill>
                <a:latin typeface="Noto Sans SC"/>
                <a:ea typeface="Noto Sans SC"/>
                <a:cs typeface="Noto Sans SC"/>
                <a:sym typeface="Noto Sans SC"/>
              </a:rPr>
              <a:t>PostgreSQL: Powerful Underlying DB</a:t>
            </a:r>
            <a:endParaRPr lang="en-US" sz="1100"/>
          </a:p>
          <a:p>
            <a:pPr marL="0" indent="0" algn="l">
              <a:lnSpc>
                <a:spcPct val="108333"/>
              </a:lnSpc>
            </a:pPr>
            <a:r>
              <a:rPr lang="en-US" sz="1100" b="0" i="0" u="none" strike="noStrike">
                <a:solidFill>
                  <a:srgbClr val="4B5563"/>
                </a:solidFill>
                <a:latin typeface="Noto Sans SC"/>
                <a:ea typeface="Noto Sans SC"/>
                <a:cs typeface="Noto Sans SC"/>
                <a:sym typeface="Noto Sans SC"/>
              </a:rPr>
              <a:t>An open-source object-relational database. Its architecture evolution is managed via 24 SQL migration files, ensuring data integrity and scalability.</a:t>
            </a:r>
          </a:p>
        </p:txBody>
      </p:sp>
      <p:sp>
        <p:nvSpPr>
          <p:cNvPr id="24" name="AutoShape 24"/>
          <p:cNvSpPr/>
          <p:nvPr/>
        </p:nvSpPr>
        <p:spPr>
          <a:xfrm>
            <a:off x="762000" y="6350000"/>
            <a:ext cx="10795000" cy="304800"/>
          </a:xfrm>
          <a:prstGeom prst="roundRect">
            <a:avLst>
              <a:gd name="adj" fmla="val 0"/>
            </a:avLst>
          </a:prstGeom>
          <a:solidFill>
            <a:srgbClr val="2DD4BF">
              <a:alpha val="2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762000" y="6375400"/>
            <a:ext cx="10795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134E4A"/>
                </a:solidFill>
                <a:latin typeface="Noto Sans SC"/>
                <a:ea typeface="Noto Sans SC"/>
                <a:cs typeface="Noto Sans SC"/>
                <a:sym typeface="Noto Sans SC"/>
              </a:rPr>
              <a:t>Core Advantage: A modern architecture with low maintenance costs. The combination of JAMstack and Serverless achieves a perfect balance between development efficiency and system stability.</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Core Business Flow</a:t>
            </a:r>
            <a:endParaRPr lang="en-US" sz="1100"/>
          </a:p>
        </p:txBody>
      </p:sp>
      <p:sp>
        <p:nvSpPr>
          <p:cNvPr id="4" name="AutoShape 4"/>
          <p:cNvSpPr/>
          <p:nvPr/>
        </p:nvSpPr>
        <p:spPr>
          <a:xfrm>
            <a:off x="762000" y="1397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B5563"/>
                </a:solidFill>
                <a:latin typeface="Noto Sans SC"/>
                <a:ea typeface="Noto Sans SC"/>
                <a:cs typeface="Noto Sans SC"/>
                <a:sym typeface="Noto Sans SC"/>
              </a:rPr>
              <a:t>PivotPoint's user journey is clear and intuitive, from environment configuration to real-time collaboration, every step is carefully designed to ensure a smooth, secure, and efficient operational experience.</a:t>
            </a:r>
            <a:endParaRPr lang="en-US" sz="1100"/>
          </a:p>
        </p:txBody>
      </p:sp>
      <p:sp>
        <p:nvSpPr>
          <p:cNvPr id="5" name="AutoShape 5"/>
          <p:cNvSpPr/>
          <p:nvPr/>
        </p:nvSpPr>
        <p:spPr>
          <a:xfrm>
            <a:off x="762000" y="54610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6B7280"/>
                </a:solidFill>
                <a:latin typeface="Noto Sans SC"/>
                <a:ea typeface="Noto Sans SC"/>
                <a:cs typeface="Noto Sans SC"/>
                <a:sym typeface="Noto Sans SC"/>
              </a:rPr>
              <a:t>A visual business flow architecture diagram illustrating the system's full-link logic from authentication to collaboration. Modules are decoupled with clear interactions, ensuring scalability and stability.</a:t>
            </a:r>
            <a:endParaRPr lang="en-US" sz="1100"/>
          </a:p>
        </p:txBody>
      </p:sp>
      <p:cxnSp>
        <p:nvCxnSpPr>
          <p:cNvPr id="6" name="Connector 6"/>
          <p:cNvCxnSpPr/>
          <p:nvPr/>
        </p:nvCxnSpPr>
        <p:spPr>
          <a:xfrm rot="5388540">
            <a:off x="4191000" y="4438661"/>
            <a:ext cx="3810000" cy="12700"/>
          </a:xfrm>
          <a:prstGeom prst="straightConnector1">
            <a:avLst/>
          </a:prstGeom>
          <a:solidFill>
            <a:srgbClr val="DEE0E3">
              <a:alpha val="100000"/>
            </a:srgbClr>
          </a:solidFill>
          <a:ln w="12700" cap="flat" cmpd="sng">
            <a:solidFill>
              <a:srgbClr val="2DD4BF">
                <a:alpha val="40000"/>
              </a:srgbClr>
            </a:solidFill>
            <a:prstDash val="dash"/>
            <a:round/>
            <a:headEnd type="none" w="med" len="med"/>
            <a:tailEnd type="none" w="med" len="med"/>
          </a:ln>
        </p:spPr>
      </p:cxnSp>
      <p:sp>
        <p:nvSpPr>
          <p:cNvPr id="7" name="AutoShape 7"/>
          <p:cNvSpPr/>
          <p:nvPr/>
        </p:nvSpPr>
        <p:spPr>
          <a:xfrm>
            <a:off x="6477000" y="2540000"/>
            <a:ext cx="2603500" cy="1714500"/>
          </a:xfrm>
          <a:prstGeom prst="roundRect">
            <a:avLst>
              <a:gd name="adj" fmla="val 0"/>
            </a:avLst>
          </a:prstGeom>
          <a:solidFill>
            <a:srgbClr val="FFFFFF">
              <a:alpha val="7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67500" y="2730500"/>
            <a:ext cx="304800" cy="304800"/>
          </a:xfrm>
          <a:prstGeom prst="rect">
            <a:avLst/>
          </a:prstGeom>
        </p:spPr>
      </p:pic>
      <p:sp>
        <p:nvSpPr>
          <p:cNvPr id="9" name="AutoShape 9"/>
          <p:cNvSpPr/>
          <p:nvPr/>
        </p:nvSpPr>
        <p:spPr>
          <a:xfrm>
            <a:off x="7112000" y="2692400"/>
            <a:ext cx="184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01 Environment Check</a:t>
            </a:r>
            <a:endParaRPr lang="en-US" sz="1100"/>
          </a:p>
        </p:txBody>
      </p:sp>
      <p:cxnSp>
        <p:nvCxnSpPr>
          <p:cNvPr id="10" name="Connector 10"/>
          <p:cNvCxnSpPr/>
          <p:nvPr/>
        </p:nvCxnSpPr>
        <p:spPr>
          <a:xfrm rot="-19644">
            <a:off x="6667518" y="3232150"/>
            <a:ext cx="2222500" cy="12700"/>
          </a:xfrm>
          <a:prstGeom prst="straightConnector1">
            <a:avLst/>
          </a:prstGeom>
          <a:solidFill>
            <a:srgbClr val="DEE0E3">
              <a:alpha val="100000"/>
            </a:srgbClr>
          </a:solidFill>
          <a:ln w="12700" cap="flat" cmpd="sng">
            <a:solidFill>
              <a:srgbClr val="2DD4BF">
                <a:alpha val="20000"/>
              </a:srgbClr>
            </a:solidFill>
            <a:prstDash val="solid"/>
            <a:round/>
            <a:headEnd type="none" w="med" len="med"/>
            <a:tailEnd type="none" w="med" len="med"/>
          </a:ln>
        </p:spPr>
      </p:cxnSp>
      <p:sp>
        <p:nvSpPr>
          <p:cNvPr id="11" name="AutoShape 11"/>
          <p:cNvSpPr/>
          <p:nvPr/>
        </p:nvSpPr>
        <p:spPr>
          <a:xfrm>
            <a:off x="6667500" y="3302000"/>
            <a:ext cx="228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B5563"/>
                </a:solidFill>
                <a:latin typeface="Noto Sans SC"/>
                <a:ea typeface="Noto Sans SC"/>
                <a:cs typeface="Noto Sans SC"/>
                <a:sym typeface="Noto Sans SC"/>
              </a:rPr>
              <a:t>Automatically validates environment variables and core configurations for system operation, ensuring basic services are ready and avoiding runtime dependency issues.</a:t>
            </a:r>
            <a:endParaRPr lang="en-US" sz="1100"/>
          </a:p>
        </p:txBody>
      </p:sp>
      <p:sp>
        <p:nvSpPr>
          <p:cNvPr id="12" name="AutoShape 12"/>
          <p:cNvSpPr/>
          <p:nvPr/>
        </p:nvSpPr>
        <p:spPr>
          <a:xfrm>
            <a:off x="9207500" y="2540000"/>
            <a:ext cx="2603500" cy="1714500"/>
          </a:xfrm>
          <a:prstGeom prst="roundRect">
            <a:avLst>
              <a:gd name="adj" fmla="val 0"/>
            </a:avLst>
          </a:prstGeom>
          <a:solidFill>
            <a:srgbClr val="FFFFFF">
              <a:alpha val="7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98000" y="2730500"/>
            <a:ext cx="304800" cy="304800"/>
          </a:xfrm>
          <a:prstGeom prst="rect">
            <a:avLst/>
          </a:prstGeom>
        </p:spPr>
      </p:pic>
      <p:sp>
        <p:nvSpPr>
          <p:cNvPr id="14" name="AutoShape 14"/>
          <p:cNvSpPr/>
          <p:nvPr/>
        </p:nvSpPr>
        <p:spPr>
          <a:xfrm>
            <a:off x="9842500" y="2692400"/>
            <a:ext cx="184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02 User Authentication</a:t>
            </a:r>
            <a:endParaRPr lang="en-US" sz="1100"/>
          </a:p>
        </p:txBody>
      </p:sp>
      <p:cxnSp>
        <p:nvCxnSpPr>
          <p:cNvPr id="15" name="Connector 15"/>
          <p:cNvCxnSpPr/>
          <p:nvPr/>
        </p:nvCxnSpPr>
        <p:spPr>
          <a:xfrm rot="-19644">
            <a:off x="9398018" y="3232150"/>
            <a:ext cx="2222500" cy="12700"/>
          </a:xfrm>
          <a:prstGeom prst="straightConnector1">
            <a:avLst/>
          </a:prstGeom>
          <a:solidFill>
            <a:srgbClr val="DEE0E3">
              <a:alpha val="100000"/>
            </a:srgbClr>
          </a:solidFill>
          <a:ln w="12700" cap="flat" cmpd="sng">
            <a:solidFill>
              <a:srgbClr val="2DD4BF">
                <a:alpha val="20000"/>
              </a:srgbClr>
            </a:solidFill>
            <a:prstDash val="solid"/>
            <a:round/>
            <a:headEnd type="none" w="med" len="med"/>
            <a:tailEnd type="none" w="med" len="med"/>
          </a:ln>
        </p:spPr>
      </p:cxnSp>
      <p:sp>
        <p:nvSpPr>
          <p:cNvPr id="16" name="AutoShape 16"/>
          <p:cNvSpPr/>
          <p:nvPr/>
        </p:nvSpPr>
        <p:spPr>
          <a:xfrm>
            <a:off x="9398000" y="3302000"/>
            <a:ext cx="228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B5563"/>
                </a:solidFill>
                <a:latin typeface="Noto Sans SC"/>
                <a:ea typeface="Noto Sans SC"/>
                <a:cs typeface="Noto Sans SC"/>
                <a:sym typeface="Noto Sans SC"/>
              </a:rPr>
              <a:t>Implements secure registration &amp; login via Supabase Auth, supporting unified multi-device account management to ensure identity authenticity and security.</a:t>
            </a:r>
            <a:endParaRPr lang="en-US" sz="1100"/>
          </a:p>
        </p:txBody>
      </p:sp>
      <p:sp>
        <p:nvSpPr>
          <p:cNvPr id="17" name="AutoShape 17"/>
          <p:cNvSpPr/>
          <p:nvPr/>
        </p:nvSpPr>
        <p:spPr>
          <a:xfrm>
            <a:off x="6477000" y="4445000"/>
            <a:ext cx="2603500" cy="1714500"/>
          </a:xfrm>
          <a:prstGeom prst="roundRect">
            <a:avLst>
              <a:gd name="adj" fmla="val 0"/>
            </a:avLst>
          </a:prstGeom>
          <a:solidFill>
            <a:srgbClr val="FFFFFF">
              <a:alpha val="7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67500" y="4635500"/>
            <a:ext cx="304800" cy="304800"/>
          </a:xfrm>
          <a:prstGeom prst="rect">
            <a:avLst/>
          </a:prstGeom>
        </p:spPr>
      </p:pic>
      <p:sp>
        <p:nvSpPr>
          <p:cNvPr id="19" name="AutoShape 19"/>
          <p:cNvSpPr/>
          <p:nvPr/>
        </p:nvSpPr>
        <p:spPr>
          <a:xfrm>
            <a:off x="7112000" y="4597400"/>
            <a:ext cx="184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03 Role Authorization</a:t>
            </a:r>
            <a:endParaRPr lang="en-US" sz="1100"/>
          </a:p>
        </p:txBody>
      </p:sp>
      <p:cxnSp>
        <p:nvCxnSpPr>
          <p:cNvPr id="20" name="Connector 20"/>
          <p:cNvCxnSpPr/>
          <p:nvPr/>
        </p:nvCxnSpPr>
        <p:spPr>
          <a:xfrm rot="-19644">
            <a:off x="6667518" y="5137150"/>
            <a:ext cx="2222500" cy="12700"/>
          </a:xfrm>
          <a:prstGeom prst="straightConnector1">
            <a:avLst/>
          </a:prstGeom>
          <a:solidFill>
            <a:srgbClr val="DEE0E3">
              <a:alpha val="100000"/>
            </a:srgbClr>
          </a:solidFill>
          <a:ln w="12700" cap="flat" cmpd="sng">
            <a:solidFill>
              <a:srgbClr val="2DD4BF">
                <a:alpha val="20000"/>
              </a:srgbClr>
            </a:solidFill>
            <a:prstDash val="solid"/>
            <a:round/>
            <a:headEnd type="none" w="med" len="med"/>
            <a:tailEnd type="none" w="med" len="med"/>
          </a:ln>
        </p:spPr>
      </p:cxnSp>
      <p:sp>
        <p:nvSpPr>
          <p:cNvPr id="21" name="AutoShape 21"/>
          <p:cNvSpPr/>
          <p:nvPr/>
        </p:nvSpPr>
        <p:spPr>
          <a:xfrm>
            <a:off x="6667500" y="5207000"/>
            <a:ext cx="228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B5563"/>
                </a:solidFill>
                <a:latin typeface="Noto Sans SC"/>
                <a:ea typeface="Noto Sans SC"/>
                <a:cs typeface="Noto Sans SC"/>
                <a:sym typeface="Noto Sans SC"/>
              </a:rPr>
              <a:t>Assigns differentiated permissions by role (Unknown/Member/Admin), enabling data isolation and operational control for hierarchical system access security.</a:t>
            </a:r>
            <a:endParaRPr lang="en-US" sz="1100"/>
          </a:p>
        </p:txBody>
      </p:sp>
      <p:sp>
        <p:nvSpPr>
          <p:cNvPr id="22" name="AutoShape 22"/>
          <p:cNvSpPr/>
          <p:nvPr/>
        </p:nvSpPr>
        <p:spPr>
          <a:xfrm>
            <a:off x="9207500" y="4445000"/>
            <a:ext cx="2603500" cy="1714500"/>
          </a:xfrm>
          <a:prstGeom prst="roundRect">
            <a:avLst>
              <a:gd name="adj" fmla="val 0"/>
            </a:avLst>
          </a:prstGeom>
          <a:solidFill>
            <a:srgbClr val="FFFFFF">
              <a:alpha val="7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398000" y="4635500"/>
            <a:ext cx="304800" cy="304800"/>
          </a:xfrm>
          <a:prstGeom prst="rect">
            <a:avLst/>
          </a:prstGeom>
        </p:spPr>
      </p:pic>
      <p:sp>
        <p:nvSpPr>
          <p:cNvPr id="24" name="AutoShape 24"/>
          <p:cNvSpPr/>
          <p:nvPr/>
        </p:nvSpPr>
        <p:spPr>
          <a:xfrm>
            <a:off x="9842500" y="4597400"/>
            <a:ext cx="184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04 Dashboard &amp; Collaboration</a:t>
            </a:r>
            <a:endParaRPr lang="en-US" sz="1100"/>
          </a:p>
        </p:txBody>
      </p:sp>
      <p:cxnSp>
        <p:nvCxnSpPr>
          <p:cNvPr id="25" name="Connector 25"/>
          <p:cNvCxnSpPr/>
          <p:nvPr/>
        </p:nvCxnSpPr>
        <p:spPr>
          <a:xfrm rot="-19644">
            <a:off x="9398018" y="5137150"/>
            <a:ext cx="2222500" cy="12700"/>
          </a:xfrm>
          <a:prstGeom prst="straightConnector1">
            <a:avLst/>
          </a:prstGeom>
          <a:solidFill>
            <a:srgbClr val="DEE0E3">
              <a:alpha val="100000"/>
            </a:srgbClr>
          </a:solidFill>
          <a:ln w="12700" cap="flat" cmpd="sng">
            <a:solidFill>
              <a:srgbClr val="2DD4BF">
                <a:alpha val="20000"/>
              </a:srgbClr>
            </a:solidFill>
            <a:prstDash val="solid"/>
            <a:round/>
            <a:headEnd type="none" w="med" len="med"/>
            <a:tailEnd type="none" w="med" len="med"/>
          </a:ln>
        </p:spPr>
      </p:cxnSp>
      <p:sp>
        <p:nvSpPr>
          <p:cNvPr id="26" name="AutoShape 26"/>
          <p:cNvSpPr/>
          <p:nvPr/>
        </p:nvSpPr>
        <p:spPr>
          <a:xfrm>
            <a:off x="9398000" y="5207000"/>
            <a:ext cx="228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B5563"/>
                </a:solidFill>
                <a:latin typeface="Noto Sans SC"/>
                <a:ea typeface="Noto Sans SC"/>
                <a:cs typeface="Noto Sans SC"/>
                <a:sym typeface="Noto Sans SC"/>
              </a:rPr>
              <a:t>Access the visual dashboard for real-time collaborative editing, with support for view switching and data export to boost team efficiency.</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System Architecture Overview</a:t>
            </a:r>
            <a:endParaRPr lang="en-US" sz="1100"/>
          </a:p>
        </p:txBody>
      </p:sp>
      <p:sp>
        <p:nvSpPr>
          <p:cNvPr id="4" name="AutoShape 4"/>
          <p:cNvSpPr/>
          <p:nvPr/>
        </p:nvSpPr>
        <p:spPr>
          <a:xfrm>
            <a:off x="762000" y="14605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PivotPoint adopts a modern JAMstack architecture. Through the separation of front-end and back-end, it not only decouples the development process but also achieves an efficient and scalable deployment solution, providing users with a smooth interactive experience.</a:t>
            </a:r>
            <a:endParaRPr lang="en-US" sz="1100"/>
          </a:p>
        </p:txBody>
      </p:sp>
      <p:sp>
        <p:nvSpPr>
          <p:cNvPr id="5" name="AutoShape 5"/>
          <p:cNvSpPr/>
          <p:nvPr/>
        </p:nvSpPr>
        <p:spPr>
          <a:xfrm>
            <a:off x="762000" y="2540000"/>
            <a:ext cx="10668000" cy="25400"/>
          </a:xfrm>
          <a:prstGeom prst="roundRect">
            <a:avLst>
              <a:gd name="adj" fmla="val 0"/>
            </a:avLst>
          </a:prstGeom>
          <a:solidFill>
            <a:srgbClr val="2DD4BF">
              <a:alpha val="4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6" name="Connector 6"/>
          <p:cNvCxnSpPr/>
          <p:nvPr/>
        </p:nvCxnSpPr>
        <p:spPr>
          <a:xfrm rot="5385676">
            <a:off x="4572000" y="4565663"/>
            <a:ext cx="3048000" cy="12700"/>
          </a:xfrm>
          <a:prstGeom prst="straightConnector1">
            <a:avLst/>
          </a:prstGeom>
          <a:solidFill>
            <a:srgbClr val="DEE0E3">
              <a:alpha val="100000"/>
            </a:srgbClr>
          </a:solidFill>
          <a:ln w="12700" cap="flat" cmpd="sng">
            <a:solidFill>
              <a:srgbClr val="9CA3AF">
                <a:alpha val="50000"/>
              </a:srgbClr>
            </a:solidFill>
            <a:prstDash val="dash"/>
            <a:round/>
            <a:headEnd type="none" w="med" len="med"/>
            <a:tailEnd type="none" w="med" len="med"/>
          </a:ln>
        </p:spPr>
      </p:cxnSp>
      <p:sp>
        <p:nvSpPr>
          <p:cNvPr id="7" name="AutoShape 7"/>
          <p:cNvSpPr/>
          <p:nvPr/>
        </p:nvSpPr>
        <p:spPr>
          <a:xfrm>
            <a:off x="6350000" y="2984500"/>
            <a:ext cx="5207000" cy="1587500"/>
          </a:xfrm>
          <a:prstGeom prst="roundRect">
            <a:avLst>
              <a:gd name="adj" fmla="val 0"/>
            </a:avLst>
          </a:prstGeom>
          <a:solidFill>
            <a:srgbClr val="FFFFFF">
              <a:alpha val="7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3149600"/>
            <a:ext cx="355600" cy="355600"/>
          </a:xfrm>
          <a:prstGeom prst="rect">
            <a:avLst/>
          </a:prstGeom>
        </p:spPr>
      </p:pic>
      <p:sp>
        <p:nvSpPr>
          <p:cNvPr id="9" name="AutoShape 9"/>
          <p:cNvSpPr/>
          <p:nvPr/>
        </p:nvSpPr>
        <p:spPr>
          <a:xfrm>
            <a:off x="7048500" y="31115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Frontend Interaction Layer (Frontend)</a:t>
            </a:r>
            <a:endParaRPr lang="en-US" sz="1100"/>
          </a:p>
        </p:txBody>
      </p:sp>
      <p:cxnSp>
        <p:nvCxnSpPr>
          <p:cNvPr id="10" name="Connector 10"/>
          <p:cNvCxnSpPr/>
          <p:nvPr/>
        </p:nvCxnSpPr>
        <p:spPr>
          <a:xfrm rot="-9046">
            <a:off x="6540508" y="3613150"/>
            <a:ext cx="4826000" cy="12700"/>
          </a:xfrm>
          <a:prstGeom prst="straightConnector1">
            <a:avLst/>
          </a:prstGeom>
          <a:solidFill>
            <a:srgbClr val="DEE0E3">
              <a:alpha val="100000"/>
            </a:srgbClr>
          </a:solidFill>
          <a:ln w="12700" cap="flat" cmpd="sng">
            <a:solidFill>
              <a:srgbClr val="2DD4BF">
                <a:alpha val="20000"/>
              </a:srgbClr>
            </a:solidFill>
            <a:prstDash val="solid"/>
            <a:round/>
            <a:headEnd type="none" w="med" len="med"/>
            <a:tailEnd type="none" w="med" len="med"/>
          </a:ln>
        </p:spPr>
      </p:cxnSp>
      <p:sp>
        <p:nvSpPr>
          <p:cNvPr id="11" name="AutoShape 11"/>
          <p:cNvSpPr/>
          <p:nvPr/>
        </p:nvSpPr>
        <p:spPr>
          <a:xfrm>
            <a:off x="6540500" y="3746500"/>
            <a:ext cx="2413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74151"/>
                </a:solidFill>
                <a:latin typeface="Noto Sans SC"/>
                <a:ea typeface="Noto Sans SC"/>
                <a:cs typeface="Noto Sans SC"/>
                <a:sym typeface="Noto Sans SC"/>
              </a:rPr>
              <a:t>Built on the core framework of</a:t>
            </a:r>
            <a:r>
              <a:rPr lang="en-US" sz="1200" b="1" i="0" u="none" strike="noStrike">
                <a:solidFill>
                  <a:srgbClr val="2DD4BF"/>
                </a:solidFill>
                <a:latin typeface="Noto Sans SC"/>
                <a:ea typeface="Noto Sans SC"/>
                <a:cs typeface="Noto Sans SC"/>
                <a:sym typeface="Noto Sans SC"/>
              </a:rPr>
              <a:t>React 19</a:t>
            </a:r>
            <a:r>
              <a:rPr lang="en-US" sz="1200" b="0" i="0" u="none" strike="noStrike">
                <a:solidFill>
                  <a:srgbClr val="374151"/>
                </a:solidFill>
                <a:latin typeface="Noto Sans SC"/>
                <a:ea typeface="Noto Sans SC"/>
                <a:cs typeface="Noto Sans SC"/>
                <a:sym typeface="Noto Sans SC"/>
              </a:rPr>
              <a:t>, constructed with Vite 8, and paired with Tailwind CSS 4 for atomic style management, balancing flexibility and development efficiency.</a:t>
            </a:r>
            <a:endParaRPr lang="en-US" sz="1100"/>
          </a:p>
        </p:txBody>
      </p:sp>
      <p:sp>
        <p:nvSpPr>
          <p:cNvPr id="12" name="AutoShape 12"/>
          <p:cNvSpPr/>
          <p:nvPr/>
        </p:nvSpPr>
        <p:spPr>
          <a:xfrm>
            <a:off x="9080500" y="3746500"/>
            <a:ext cx="234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74151"/>
                </a:solidFill>
                <a:latin typeface="Noto Sans SC"/>
                <a:ea typeface="Noto Sans SC"/>
                <a:cs typeface="Noto Sans SC"/>
                <a:sym typeface="Noto Sans SC"/>
              </a:rPr>
              <a:t>Encapsulates over 10 custom Hooks for state management and abstracts 5 generic view-layer components, greatly improving code reusability and maintainability.</a:t>
            </a:r>
            <a:endParaRPr lang="en-US" sz="1100"/>
          </a:p>
        </p:txBody>
      </p:sp>
      <p:sp>
        <p:nvSpPr>
          <p:cNvPr id="13" name="AutoShape 13"/>
          <p:cNvSpPr/>
          <p:nvPr/>
        </p:nvSpPr>
        <p:spPr>
          <a:xfrm>
            <a:off x="6350000" y="4826000"/>
            <a:ext cx="5207000" cy="1587500"/>
          </a:xfrm>
          <a:prstGeom prst="roundRect">
            <a:avLst>
              <a:gd name="adj" fmla="val 0"/>
            </a:avLst>
          </a:prstGeom>
          <a:solidFill>
            <a:srgbClr val="FFFFFF">
              <a:alpha val="7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40500" y="4991100"/>
            <a:ext cx="355600" cy="355600"/>
          </a:xfrm>
          <a:prstGeom prst="rect">
            <a:avLst/>
          </a:prstGeom>
        </p:spPr>
      </p:pic>
      <p:sp>
        <p:nvSpPr>
          <p:cNvPr id="15" name="AutoShape 15"/>
          <p:cNvSpPr/>
          <p:nvPr/>
        </p:nvSpPr>
        <p:spPr>
          <a:xfrm>
            <a:off x="7048500" y="4953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Backend Service Layer (Backend)</a:t>
            </a:r>
            <a:endParaRPr lang="en-US" sz="1100"/>
          </a:p>
        </p:txBody>
      </p:sp>
      <p:cxnSp>
        <p:nvCxnSpPr>
          <p:cNvPr id="16" name="Connector 16"/>
          <p:cNvCxnSpPr/>
          <p:nvPr/>
        </p:nvCxnSpPr>
        <p:spPr>
          <a:xfrm rot="-9046">
            <a:off x="6540508" y="5454650"/>
            <a:ext cx="4826000" cy="12700"/>
          </a:xfrm>
          <a:prstGeom prst="straightConnector1">
            <a:avLst/>
          </a:prstGeom>
          <a:solidFill>
            <a:srgbClr val="DEE0E3">
              <a:alpha val="100000"/>
            </a:srgbClr>
          </a:solidFill>
          <a:ln w="12700" cap="flat" cmpd="sng">
            <a:solidFill>
              <a:srgbClr val="2DD4BF">
                <a:alpha val="20000"/>
              </a:srgbClr>
            </a:solidFill>
            <a:prstDash val="solid"/>
            <a:round/>
            <a:headEnd type="none" w="med" len="med"/>
            <a:tailEnd type="none" w="med" len="med"/>
          </a:ln>
        </p:spPr>
      </p:cxnSp>
      <p:sp>
        <p:nvSpPr>
          <p:cNvPr id="17" name="AutoShape 17"/>
          <p:cNvSpPr/>
          <p:nvPr/>
        </p:nvSpPr>
        <p:spPr>
          <a:xfrm>
            <a:off x="6540500" y="5562600"/>
            <a:ext cx="2413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74151"/>
                </a:solidFill>
                <a:latin typeface="Noto Sans SC"/>
                <a:ea typeface="Noto Sans SC"/>
                <a:cs typeface="Noto Sans SC"/>
                <a:sym typeface="Noto Sans SC"/>
              </a:rPr>
              <a:t>Adopts a serverless architecture with</a:t>
            </a:r>
            <a:r>
              <a:rPr lang="en-US" sz="1200" b="1" i="0" u="none" strike="noStrike">
                <a:solidFill>
                  <a:srgbClr val="2DD4BF"/>
                </a:solidFill>
                <a:latin typeface="Noto Sans SC"/>
                <a:ea typeface="Noto Sans SC"/>
                <a:cs typeface="Noto Sans SC"/>
                <a:sym typeface="Noto Sans SC"/>
              </a:rPr>
              <a:t>Supabase</a:t>
            </a:r>
            <a:r>
              <a:rPr lang="en-US" sz="1200" b="0" i="0" u="none" strike="noStrike">
                <a:solidFill>
                  <a:srgbClr val="374151"/>
                </a:solidFill>
                <a:latin typeface="Noto Sans SC"/>
                <a:ea typeface="Noto Sans SC"/>
                <a:cs typeface="Noto Sans SC"/>
                <a:sym typeface="Noto Sans SC"/>
              </a:rPr>
              <a:t>, integrating core services like Auth, Realtime, and Storage to quickly build secure and reliable backend capabilities.</a:t>
            </a:r>
            <a:endParaRPr lang="en-US" sz="1100"/>
          </a:p>
        </p:txBody>
      </p:sp>
      <p:sp>
        <p:nvSpPr>
          <p:cNvPr id="18" name="AutoShape 18"/>
          <p:cNvSpPr/>
          <p:nvPr/>
        </p:nvSpPr>
        <p:spPr>
          <a:xfrm>
            <a:off x="9080500" y="5562600"/>
            <a:ext cx="234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74151"/>
                </a:solidFill>
                <a:latin typeface="Noto Sans SC"/>
                <a:ea typeface="Noto Sans SC"/>
                <a:cs typeface="Noto Sans SC"/>
                <a:sym typeface="Noto Sans SC"/>
              </a:rPr>
              <a:t>Underpinned by the</a:t>
            </a:r>
            <a:r>
              <a:rPr lang="en-US" sz="1200" b="1" i="0" u="none" strike="noStrike">
                <a:solidFill>
                  <a:srgbClr val="2DD4BF"/>
                </a:solidFill>
                <a:latin typeface="Noto Sans SC"/>
                <a:ea typeface="Noto Sans SC"/>
                <a:cs typeface="Noto Sans SC"/>
                <a:sym typeface="Noto Sans SC"/>
              </a:rPr>
              <a:t>PostgreSQL</a:t>
            </a:r>
            <a:r>
              <a:rPr lang="en-US" sz="1200" b="0" i="0" u="none" strike="noStrike">
                <a:solidFill>
                  <a:srgbClr val="374151"/>
                </a:solidFill>
                <a:latin typeface="Noto Sans SC"/>
                <a:ea typeface="Noto Sans SC"/>
                <a:cs typeface="Noto Sans SC"/>
                <a:sym typeface="Noto Sans SC"/>
              </a:rPr>
              <a:t>database, it automatically generates RESTful APIs via PostgREST for efficient data reading, writing, and real-time synchronization.</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a:ea typeface="Noto Sans SC"/>
                <a:cs typeface="Noto Sans SC"/>
                <a:sym typeface="Noto Sans SC"/>
              </a:rPr>
              <a:t>04 Key Features Deep Dive: Task Management</a:t>
            </a:r>
            <a:endParaRPr lang="en-US" sz="1100"/>
          </a:p>
        </p:txBody>
      </p:sp>
      <p:sp>
        <p:nvSpPr>
          <p:cNvPr id="4" name="AutoShape 4"/>
          <p:cNvSpPr/>
          <p:nvPr/>
        </p:nvSpPr>
        <p:spPr>
          <a:xfrm>
            <a:off x="762000" y="1524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B5563"/>
                </a:solidFill>
                <a:latin typeface="Noto Sans SC"/>
                <a:ea typeface="Noto Sans SC"/>
                <a:cs typeface="Noto Sans SC"/>
                <a:sym typeface="Noto Sans SC"/>
              </a:rPr>
              <a:t>Task Management is the core module of PivotPoint. With its flexible architectural design, it provides comprehensive support from basic operations to complex logic, empowering teams to collaborate efficiently.</a:t>
            </a:r>
            <a:endParaRPr lang="en-US" sz="1100"/>
          </a:p>
        </p:txBody>
      </p:sp>
      <p:cxnSp>
        <p:nvCxnSpPr>
          <p:cNvPr id="5" name="Connector 5"/>
          <p:cNvCxnSpPr/>
          <p:nvPr/>
        </p:nvCxnSpPr>
        <p:spPr>
          <a:xfrm rot="-4092">
            <a:off x="762004" y="2279650"/>
            <a:ext cx="10668000" cy="12700"/>
          </a:xfrm>
          <a:prstGeom prst="straightConnector1">
            <a:avLst/>
          </a:prstGeom>
          <a:solidFill>
            <a:srgbClr val="DEE0E3">
              <a:alpha val="100000"/>
            </a:srgbClr>
          </a:solidFill>
          <a:ln w="25400" cap="flat" cmpd="sng">
            <a:solidFill>
              <a:srgbClr val="2DD4BF">
                <a:alpha val="60000"/>
              </a:srgbClr>
            </a:solidFill>
            <a:prstDash val="solid"/>
            <a:round/>
            <a:headEnd type="none" w="lg" len="lg"/>
            <a:tailEnd type="none" w="lg" len="lg"/>
          </a:ln>
        </p:spPr>
      </p:cxnSp>
      <p:sp>
        <p:nvSpPr>
          <p:cNvPr id="6" name="AutoShape 6"/>
          <p:cNvSpPr/>
          <p:nvPr/>
        </p:nvSpPr>
        <p:spPr>
          <a:xfrm>
            <a:off x="762000" y="2667000"/>
            <a:ext cx="5270500" cy="1079500"/>
          </a:xfrm>
          <a:prstGeom prst="roundRect">
            <a:avLst>
              <a:gd name="adj" fmla="val 0"/>
            </a:avLst>
          </a:prstGeom>
          <a:solidFill>
            <a:srgbClr val="FFFFFF">
              <a:alpha val="7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857500"/>
            <a:ext cx="406400" cy="406400"/>
          </a:xfrm>
          <a:prstGeom prst="rect">
            <a:avLst/>
          </a:prstGeom>
        </p:spPr>
      </p:pic>
      <p:sp>
        <p:nvSpPr>
          <p:cNvPr id="8" name="AutoShape 8"/>
          <p:cNvSpPr/>
          <p:nvPr/>
        </p:nvSpPr>
        <p:spPr>
          <a:xfrm>
            <a:off x="1587500" y="2768600"/>
            <a:ext cx="4254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Basic CRUD Operations</a:t>
            </a:r>
            <a:endParaRPr lang="en-US" sz="1100"/>
          </a:p>
          <a:p>
            <a:pPr marL="0" indent="0" algn="l">
              <a:lnSpc>
                <a:spcPct val="100000"/>
              </a:lnSpc>
            </a:pPr>
            <a:r>
              <a:rPr lang="en-US" sz="1100" b="0" i="0" u="none" strike="noStrike">
                <a:solidFill>
                  <a:srgbClr val="4B5563"/>
                </a:solidFill>
                <a:latin typeface="Noto Sans SC"/>
                <a:ea typeface="Noto Sans SC"/>
                <a:cs typeface="Noto Sans SC"/>
                <a:sym typeface="Noto Sans SC"/>
              </a:rPr>
              <a:t>It provides standardized task lifecycle management, supporting easy creation, real-time reading, flexible updating, and secure deletion of tasks to ensure the integrity of data flow.</a:t>
            </a:r>
          </a:p>
        </p:txBody>
      </p:sp>
      <p:sp>
        <p:nvSpPr>
          <p:cNvPr id="9" name="AutoShape 9"/>
          <p:cNvSpPr/>
          <p:nvPr/>
        </p:nvSpPr>
        <p:spPr>
          <a:xfrm>
            <a:off x="762000" y="3873500"/>
            <a:ext cx="5270500" cy="1079500"/>
          </a:xfrm>
          <a:prstGeom prst="roundRect">
            <a:avLst>
              <a:gd name="adj" fmla="val 0"/>
            </a:avLst>
          </a:prstGeom>
          <a:solidFill>
            <a:srgbClr val="FFFFFF">
              <a:alpha val="7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4064000"/>
            <a:ext cx="406400" cy="406400"/>
          </a:xfrm>
          <a:prstGeom prst="rect">
            <a:avLst/>
          </a:prstGeom>
        </p:spPr>
      </p:pic>
      <p:sp>
        <p:nvSpPr>
          <p:cNvPr id="11" name="AutoShape 11"/>
          <p:cNvSpPr/>
          <p:nvPr/>
        </p:nvSpPr>
        <p:spPr>
          <a:xfrm>
            <a:off x="1587500" y="3975100"/>
            <a:ext cx="4254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Smooth Drag-and-Drop Sorting</a:t>
            </a:r>
            <a:endParaRPr lang="en-US" sz="1100"/>
          </a:p>
          <a:p>
            <a:pPr marL="0" indent="0" algn="l">
              <a:lnSpc>
                <a:spcPct val="100000"/>
              </a:lnSpc>
            </a:pPr>
            <a:r>
              <a:rPr lang="en-US" sz="1100" b="0" i="0" u="none" strike="noStrike">
                <a:solidFill>
                  <a:srgbClr val="4B5563"/>
                </a:solidFill>
                <a:latin typeface="Noto Sans SC"/>
                <a:ea typeface="Noto Sans SC"/>
                <a:cs typeface="Noto Sans SC"/>
                <a:sym typeface="Noto Sans SC"/>
              </a:rPr>
              <a:t>Deeply integrated with the @dnd-kit library, it supports free sorting of tasks within columns and cross-column dragging between different task columns, with fast operation response and smooth interaction experience.</a:t>
            </a:r>
          </a:p>
        </p:txBody>
      </p:sp>
      <p:sp>
        <p:nvSpPr>
          <p:cNvPr id="12" name="AutoShape 12"/>
          <p:cNvSpPr/>
          <p:nvPr/>
        </p:nvSpPr>
        <p:spPr>
          <a:xfrm>
            <a:off x="762000" y="5080000"/>
            <a:ext cx="5270500" cy="1079500"/>
          </a:xfrm>
          <a:prstGeom prst="roundRect">
            <a:avLst>
              <a:gd name="adj" fmla="val 0"/>
            </a:avLst>
          </a:prstGeom>
          <a:solidFill>
            <a:srgbClr val="FFFFFF">
              <a:alpha val="7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5270500"/>
            <a:ext cx="406400" cy="406400"/>
          </a:xfrm>
          <a:prstGeom prst="rect">
            <a:avLst/>
          </a:prstGeom>
        </p:spPr>
      </p:pic>
      <p:sp>
        <p:nvSpPr>
          <p:cNvPr id="14" name="AutoShape 14"/>
          <p:cNvSpPr/>
          <p:nvPr/>
        </p:nvSpPr>
        <p:spPr>
          <a:xfrm>
            <a:off x="1587500" y="5181600"/>
            <a:ext cx="4254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High-Performance Intelligent Positioning</a:t>
            </a:r>
            <a:endParaRPr lang="en-US" sz="1100"/>
          </a:p>
          <a:p>
            <a:pPr marL="0" indent="0" algn="l">
              <a:lnSpc>
                <a:spcPct val="100000"/>
              </a:lnSpc>
            </a:pPr>
            <a:r>
              <a:rPr lang="en-US" sz="1100" b="0" i="0" u="none" strike="noStrike">
                <a:solidFill>
                  <a:srgbClr val="4B5563"/>
                </a:solidFill>
                <a:latin typeface="Noto Sans SC"/>
                <a:ea typeface="Noto Sans SC"/>
                <a:cs typeface="Noto Sans SC"/>
                <a:sym typeface="Noto Sans SC"/>
              </a:rPr>
              <a:t>It uses the float8 type to store position information and leverages the positionBetween() algorithm to calculate midpoints, avoiding full reindexing and significantly improving reordering performance.</a:t>
            </a:r>
          </a:p>
        </p:txBody>
      </p:sp>
      <p:cxnSp>
        <p:nvCxnSpPr>
          <p:cNvPr id="15" name="Connector 15"/>
          <p:cNvCxnSpPr/>
          <p:nvPr/>
        </p:nvCxnSpPr>
        <p:spPr>
          <a:xfrm rot="5387499">
            <a:off x="4502150" y="4406912"/>
            <a:ext cx="3492500" cy="12700"/>
          </a:xfrm>
          <a:prstGeom prst="straightConnector1">
            <a:avLst/>
          </a:prstGeom>
          <a:solidFill>
            <a:srgbClr val="DEE0E3">
              <a:alpha val="100000"/>
            </a:srgbClr>
          </a:solidFill>
          <a:ln w="12700" cap="flat" cmpd="sng">
            <a:solidFill>
              <a:srgbClr val="2DD4BF">
                <a:alpha val="30000"/>
              </a:srgbClr>
            </a:solidFill>
            <a:prstDash val="dash"/>
            <a:round/>
            <a:headEnd type="none" w="med" len="med"/>
            <a:tailEnd type="none" w="med" len="med"/>
          </a:ln>
        </p:spPr>
      </p:cxnSp>
      <p:sp>
        <p:nvSpPr>
          <p:cNvPr id="16" name="AutoShape 16"/>
          <p:cNvSpPr/>
          <p:nvPr/>
        </p:nvSpPr>
        <p:spPr>
          <a:xfrm>
            <a:off x="6477000" y="2667000"/>
            <a:ext cx="5270500" cy="1079500"/>
          </a:xfrm>
          <a:prstGeom prst="roundRect">
            <a:avLst>
              <a:gd name="adj" fmla="val 0"/>
            </a:avLst>
          </a:prstGeom>
          <a:solidFill>
            <a:srgbClr val="FFFFFF">
              <a:alpha val="7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67500" y="2857500"/>
            <a:ext cx="406400" cy="406400"/>
          </a:xfrm>
          <a:prstGeom prst="rect">
            <a:avLst/>
          </a:prstGeom>
        </p:spPr>
      </p:pic>
      <p:sp>
        <p:nvSpPr>
          <p:cNvPr id="18" name="AutoShape 18"/>
          <p:cNvSpPr/>
          <p:nvPr/>
        </p:nvSpPr>
        <p:spPr>
          <a:xfrm>
            <a:off x="7302500" y="2768600"/>
            <a:ext cx="4254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Multi-Level Priority Management</a:t>
            </a:r>
            <a:endParaRPr lang="en-US" sz="1100"/>
          </a:p>
          <a:p>
            <a:pPr marL="0" indent="0" algn="l">
              <a:lnSpc>
                <a:spcPct val="100000"/>
              </a:lnSpc>
            </a:pPr>
            <a:r>
              <a:rPr lang="en-US" sz="1100" b="0" i="0" u="none" strike="noStrike">
                <a:solidFill>
                  <a:srgbClr val="4B5563"/>
                </a:solidFill>
                <a:latin typeface="Noto Sans SC"/>
                <a:ea typeface="Noto Sans SC"/>
                <a:cs typeface="Noto Sans SC"/>
                <a:sym typeface="Noto Sans SC"/>
              </a:rPr>
              <a:t>It has a built-in four-level priority system from P0 (Urgent) to P3 (Low), helping teams quickly identify critical tasks, allocate resources rationally, and focus on high-value outputs.</a:t>
            </a:r>
          </a:p>
        </p:txBody>
      </p:sp>
      <p:sp>
        <p:nvSpPr>
          <p:cNvPr id="19" name="AutoShape 19"/>
          <p:cNvSpPr/>
          <p:nvPr/>
        </p:nvSpPr>
        <p:spPr>
          <a:xfrm>
            <a:off x="6477000" y="3873500"/>
            <a:ext cx="5270500" cy="1079500"/>
          </a:xfrm>
          <a:prstGeom prst="roundRect">
            <a:avLst>
              <a:gd name="adj" fmla="val 0"/>
            </a:avLst>
          </a:prstGeom>
          <a:solidFill>
            <a:srgbClr val="FFFFFF">
              <a:alpha val="7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67500" y="4064000"/>
            <a:ext cx="406400" cy="406400"/>
          </a:xfrm>
          <a:prstGeom prst="rect">
            <a:avLst/>
          </a:prstGeom>
        </p:spPr>
      </p:pic>
      <p:sp>
        <p:nvSpPr>
          <p:cNvPr id="21" name="AutoShape 21"/>
          <p:cNvSpPr/>
          <p:nvPr/>
        </p:nvSpPr>
        <p:spPr>
          <a:xfrm>
            <a:off x="7302500" y="3975100"/>
            <a:ext cx="4254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Deadline &amp; Progress Tracking</a:t>
            </a:r>
            <a:endParaRPr lang="en-US" sz="1100"/>
          </a:p>
          <a:p>
            <a:pPr marL="0" indent="0" algn="l">
              <a:lnSpc>
                <a:spcPct val="100000"/>
              </a:lnSpc>
            </a:pPr>
            <a:r>
              <a:rPr lang="en-US" sz="1100" b="0" i="0" u="none" strike="noStrike">
                <a:solidFill>
                  <a:srgbClr val="4B5563"/>
                </a:solidFill>
                <a:latin typeface="Noto Sans SC"/>
                <a:ea typeface="Noto Sans SC"/>
                <a:cs typeface="Noto Sans SC"/>
                <a:sym typeface="Noto Sans SC"/>
              </a:rPr>
              <a:t>It supports task deadline setting, and together with smart views, it automatically displays progress status, intuitively presents task delay risks, and ensures on-time project delivery.</a:t>
            </a:r>
          </a:p>
        </p:txBody>
      </p:sp>
      <p:sp>
        <p:nvSpPr>
          <p:cNvPr id="22" name="AutoShape 22"/>
          <p:cNvSpPr/>
          <p:nvPr/>
        </p:nvSpPr>
        <p:spPr>
          <a:xfrm>
            <a:off x="6477000" y="5080000"/>
            <a:ext cx="5270500" cy="1079500"/>
          </a:xfrm>
          <a:prstGeom prst="roundRect">
            <a:avLst>
              <a:gd name="adj" fmla="val 0"/>
            </a:avLst>
          </a:prstGeom>
          <a:solidFill>
            <a:srgbClr val="FFFFFF">
              <a:alpha val="7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67500" y="5270500"/>
            <a:ext cx="406400" cy="406400"/>
          </a:xfrm>
          <a:prstGeom prst="rect">
            <a:avLst/>
          </a:prstGeom>
        </p:spPr>
      </p:pic>
      <p:sp>
        <p:nvSpPr>
          <p:cNvPr id="24" name="AutoShape 24"/>
          <p:cNvSpPr/>
          <p:nvPr/>
        </p:nvSpPr>
        <p:spPr>
          <a:xfrm>
            <a:off x="7302500" y="5181600"/>
            <a:ext cx="4254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Responsibility Assignment &amp; Dependency Relationships</a:t>
            </a:r>
            <a:endParaRPr lang="en-US" sz="1100"/>
          </a:p>
          <a:p>
            <a:pPr marL="0" indent="0" algn="l">
              <a:lnSpc>
                <a:spcPct val="100000"/>
              </a:lnSpc>
            </a:pPr>
            <a:r>
              <a:rPr lang="en-US" sz="1100" b="0" i="0" u="none" strike="noStrike">
                <a:solidFill>
                  <a:srgbClr val="4B5563"/>
                </a:solidFill>
                <a:latin typeface="Noto Sans SC"/>
                <a:ea typeface="Noto Sans SC"/>
                <a:cs typeface="Noto Sans SC"/>
                <a:sym typeface="Noto Sans SC"/>
              </a:rPr>
              <a:t>Tasks can be accurately assigned to members to clarify responsibilities, and it also supports configuring task prerequisites to ensure the rigor and orderliness of complex project execution logic.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a:ea typeface="Noto Sans SC"/>
                <a:cs typeface="Noto Sans SC"/>
                <a:sym typeface="Noto Sans SC"/>
              </a:rPr>
              <a:t>Key Features Deep Dive: Real-time Collaboration</a:t>
            </a:r>
            <a:endParaRPr lang="en-US" sz="1100"/>
          </a:p>
        </p:txBody>
      </p:sp>
      <p:sp>
        <p:nvSpPr>
          <p:cNvPr id="4" name="AutoShape 4"/>
          <p:cNvSpPr/>
          <p:nvPr/>
        </p:nvSpPr>
        <p:spPr>
          <a:xfrm>
            <a:off x="762000" y="4953000"/>
            <a:ext cx="4572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74151"/>
                </a:solidFill>
                <a:latin typeface="Noto Sans SC"/>
                <a:ea typeface="Noto Sans SC"/>
                <a:cs typeface="Noto Sans SC"/>
                <a:sym typeface="Noto Sans SC"/>
              </a:rPr>
              <a:t>Real-time collaboration is a core advantage of PivotPoint. Powered by the Supabase Realtime engine, it ensures millisecond-level synchronization of team members' actions, keeping all collaborators on the same page and eliminating version conflicts and information lag.</a:t>
            </a:r>
            <a:endParaRPr lang="en-US" sz="1100"/>
          </a:p>
        </p:txBody>
      </p:sp>
      <p:cxnSp>
        <p:nvCxnSpPr>
          <p:cNvPr id="5" name="Connector 5"/>
          <p:cNvCxnSpPr/>
          <p:nvPr/>
        </p:nvCxnSpPr>
        <p:spPr>
          <a:xfrm rot="5390177">
            <a:off x="3619500" y="4121159"/>
            <a:ext cx="4445000" cy="12700"/>
          </a:xfrm>
          <a:prstGeom prst="straightConnector1">
            <a:avLst/>
          </a:prstGeom>
          <a:solidFill>
            <a:srgbClr val="DEE0E3">
              <a:alpha val="100000"/>
            </a:srgbClr>
          </a:solidFill>
          <a:ln w="12700" cap="flat" cmpd="sng">
            <a:solidFill>
              <a:srgbClr val="2DD4BF">
                <a:alpha val="50000"/>
              </a:srgbClr>
            </a:solidFill>
            <a:prstDash val="dash"/>
            <a:round/>
            <a:headEnd type="none" w="med" len="med"/>
            <a:tailEnd type="none" w="med" len="med"/>
          </a:ln>
        </p:spPr>
      </p:cxnSp>
      <p:sp>
        <p:nvSpPr>
          <p:cNvPr id="6" name="AutoShape 6"/>
          <p:cNvSpPr/>
          <p:nvPr/>
        </p:nvSpPr>
        <p:spPr>
          <a:xfrm>
            <a:off x="6096000" y="1905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D4BF"/>
                </a:solidFill>
                <a:latin typeface="Noto Sans SC"/>
                <a:ea typeface="Noto Sans SC"/>
                <a:cs typeface="Noto Sans SC"/>
                <a:sym typeface="Noto Sans SC"/>
              </a:rPr>
              <a:t>01. Real-time Data Flow Loop</a:t>
            </a:r>
            <a:endParaRPr lang="en-US" sz="1100"/>
          </a:p>
        </p:txBody>
      </p:sp>
      <p:sp>
        <p:nvSpPr>
          <p:cNvPr id="7" name="AutoShape 7"/>
          <p:cNvSpPr/>
          <p:nvPr/>
        </p:nvSpPr>
        <p:spPr>
          <a:xfrm>
            <a:off x="6096000" y="2540000"/>
            <a:ext cx="1714500" cy="11430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6223000" y="2667000"/>
            <a:ext cx="1460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a:ea typeface="Noto Sans SC"/>
                <a:cs typeface="Noto Sans SC"/>
                <a:sym typeface="Noto Sans SC"/>
              </a:rPr>
              <a:t>User Interaction Trigger</a:t>
            </a:r>
            <a:endParaRPr lang="en-US" sz="1100"/>
          </a:p>
          <a:p>
            <a:pPr marL="0" indent="0" algn="l">
              <a:lnSpc>
                <a:spcPct val="91666"/>
              </a:lnSpc>
            </a:pPr>
            <a:r>
              <a:rPr lang="en-US" sz="1000" b="0" i="0" u="none" strike="noStrike">
                <a:solidFill>
                  <a:srgbClr val="4B5563"/>
                </a:solidFill>
                <a:latin typeface="Noto Sans SC"/>
                <a:ea typeface="Noto Sans SC"/>
                <a:cs typeface="Noto Sans SC"/>
                <a:sym typeface="Noto Sans SC"/>
              </a:rPr>
              <a:t>UI drag-and-drop and editing are instantly captured via custom Hooks.</a:t>
            </a:r>
          </a:p>
        </p:txBody>
      </p:sp>
      <p:sp>
        <p:nvSpPr>
          <p:cNvPr id="9" name="AutoShape 9"/>
          <p:cNvSpPr/>
          <p:nvPr/>
        </p:nvSpPr>
        <p:spPr>
          <a:xfrm>
            <a:off x="7937500" y="2540000"/>
            <a:ext cx="1714500" cy="11430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8064500" y="2667000"/>
            <a:ext cx="1460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a:ea typeface="Noto Sans SC"/>
                <a:cs typeface="Noto Sans SC"/>
                <a:sym typeface="Noto Sans SC"/>
              </a:rPr>
              <a:t>Cloud DB Sync</a:t>
            </a:r>
            <a:endParaRPr lang="en-US" sz="1100"/>
          </a:p>
          <a:p>
            <a:pPr marL="0" indent="0" algn="l">
              <a:lnSpc>
                <a:spcPct val="91666"/>
              </a:lnSpc>
            </a:pPr>
            <a:r>
              <a:rPr lang="en-US" sz="1000" b="0" i="0" u="none" strike="noStrike">
                <a:solidFill>
                  <a:srgbClr val="4B5563"/>
                </a:solidFill>
                <a:latin typeface="Noto Sans SC"/>
                <a:ea typeface="Noto Sans SC"/>
                <a:cs typeface="Noto Sans SC"/>
                <a:sym typeface="Noto Sans SC"/>
              </a:rPr>
              <a:t>The supabase-js library writes changes to PostgreSQL in real time.</a:t>
            </a:r>
          </a:p>
        </p:txBody>
      </p:sp>
      <p:sp>
        <p:nvSpPr>
          <p:cNvPr id="11" name="AutoShape 11"/>
          <p:cNvSpPr/>
          <p:nvPr/>
        </p:nvSpPr>
        <p:spPr>
          <a:xfrm>
            <a:off x="9715500" y="2540000"/>
            <a:ext cx="1714500" cy="11430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9842500" y="2667000"/>
            <a:ext cx="1460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a:ea typeface="Noto Sans SC"/>
                <a:cs typeface="Noto Sans SC"/>
                <a:sym typeface="Noto Sans SC"/>
              </a:rPr>
              <a:t>Global State Broadcast</a:t>
            </a:r>
            <a:endParaRPr lang="en-US" sz="1100"/>
          </a:p>
          <a:p>
            <a:pPr marL="0" indent="0" algn="l">
              <a:lnSpc>
                <a:spcPct val="91666"/>
              </a:lnSpc>
            </a:pPr>
            <a:r>
              <a:rPr lang="en-US" sz="1000" b="0" i="0" u="none" strike="noStrike">
                <a:solidFill>
                  <a:srgbClr val="4B5563"/>
                </a:solidFill>
                <a:latin typeface="Noto Sans SC"/>
                <a:ea typeface="Noto Sans SC"/>
                <a:cs typeface="Noto Sans SC"/>
                <a:sym typeface="Noto Sans SC"/>
              </a:rPr>
              <a:t>Realtime service detects changes and broadcasts to all subscribed clients.</a:t>
            </a:r>
          </a:p>
        </p:txBody>
      </p:sp>
      <p:cxnSp>
        <p:nvCxnSpPr>
          <p:cNvPr id="13" name="Connector 13"/>
          <p:cNvCxnSpPr/>
          <p:nvPr/>
        </p:nvCxnSpPr>
        <p:spPr>
          <a:xfrm rot="-8185">
            <a:off x="6096008" y="4057650"/>
            <a:ext cx="5334000" cy="12700"/>
          </a:xfrm>
          <a:prstGeom prst="straightConnector1">
            <a:avLst/>
          </a:prstGeom>
          <a:solidFill>
            <a:srgbClr val="DEE0E3">
              <a:alpha val="100000"/>
            </a:srgbClr>
          </a:solidFill>
          <a:ln w="12700" cap="flat" cmpd="sng">
            <a:solidFill>
              <a:srgbClr val="9CA3AF">
                <a:alpha val="40000"/>
              </a:srgbClr>
            </a:solidFill>
            <a:prstDash val="solid"/>
            <a:round/>
            <a:headEnd type="none" w="med" len="med"/>
            <a:tailEnd type="none" w="med" len="med"/>
          </a:ln>
        </p:spPr>
      </p:cxnSp>
      <p:sp>
        <p:nvSpPr>
          <p:cNvPr id="14" name="AutoShape 14"/>
          <p:cNvSpPr/>
          <p:nvPr/>
        </p:nvSpPr>
        <p:spPr>
          <a:xfrm>
            <a:off x="6096000" y="4318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D4BF"/>
                </a:solidFill>
                <a:latin typeface="Noto Sans SC"/>
                <a:ea typeface="Noto Sans SC"/>
                <a:cs typeface="Noto Sans SC"/>
                <a:sym typeface="Noto Sans SC"/>
              </a:rPr>
              <a:t>02. Enhanced Collaboration Experience</a:t>
            </a:r>
            <a:endParaRPr lang="en-US" sz="1100"/>
          </a:p>
        </p:txBody>
      </p:sp>
      <p:sp>
        <p:nvSpPr>
          <p:cNvPr id="15" name="AutoShape 15"/>
          <p:cNvSpPr/>
          <p:nvPr/>
        </p:nvSpPr>
        <p:spPr>
          <a:xfrm>
            <a:off x="6096000" y="5080000"/>
            <a:ext cx="1714500" cy="1143000"/>
          </a:xfrm>
          <a:prstGeom prst="roundRect">
            <a:avLst>
              <a:gd name="adj" fmla="val 0"/>
            </a:avLst>
          </a:prstGeom>
          <a:solidFill>
            <a:srgbClr val="FFFFFF">
              <a:alpha val="7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23000" y="5207000"/>
            <a:ext cx="304800" cy="304800"/>
          </a:xfrm>
          <a:prstGeom prst="rect">
            <a:avLst/>
          </a:prstGeom>
        </p:spPr>
      </p:pic>
      <p:sp>
        <p:nvSpPr>
          <p:cNvPr id="17" name="AutoShape 17"/>
          <p:cNvSpPr/>
          <p:nvPr/>
        </p:nvSpPr>
        <p:spPr>
          <a:xfrm>
            <a:off x="6604000" y="5181600"/>
            <a:ext cx="1143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F2937"/>
                </a:solidFill>
                <a:latin typeface="Noto Sans SC"/>
                <a:ea typeface="Noto Sans SC"/>
                <a:cs typeface="Noto Sans SC"/>
                <a:sym typeface="Noto Sans SC"/>
              </a:rPr>
              <a:t>Online Status</a:t>
            </a:r>
            <a:endParaRPr lang="en-US" sz="1100"/>
          </a:p>
          <a:p>
            <a:pPr marL="0" indent="0" algn="l">
              <a:lnSpc>
                <a:spcPct val="91666"/>
              </a:lnSpc>
            </a:pPr>
            <a:r>
              <a:rPr lang="en-US" sz="1000" b="0" i="0" u="none" strike="noStrike">
                <a:solidFill>
                  <a:srgbClr val="4B5563"/>
                </a:solidFill>
                <a:latin typeface="Noto Sans SC"/>
                <a:ea typeface="Noto Sans SC"/>
                <a:cs typeface="Noto Sans SC"/>
                <a:sym typeface="Noto Sans SC"/>
              </a:rPr>
              <a:t>See active members in real time.</a:t>
            </a:r>
          </a:p>
        </p:txBody>
      </p:sp>
      <p:sp>
        <p:nvSpPr>
          <p:cNvPr id="18" name="AutoShape 18"/>
          <p:cNvSpPr/>
          <p:nvPr/>
        </p:nvSpPr>
        <p:spPr>
          <a:xfrm>
            <a:off x="7937500" y="5080000"/>
            <a:ext cx="1714500" cy="1143000"/>
          </a:xfrm>
          <a:prstGeom prst="roundRect">
            <a:avLst>
              <a:gd name="adj" fmla="val 0"/>
            </a:avLst>
          </a:prstGeom>
          <a:solidFill>
            <a:srgbClr val="FFFFFF">
              <a:alpha val="7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064500" y="5207000"/>
            <a:ext cx="304800" cy="304800"/>
          </a:xfrm>
          <a:prstGeom prst="rect">
            <a:avLst/>
          </a:prstGeom>
        </p:spPr>
      </p:pic>
      <p:sp>
        <p:nvSpPr>
          <p:cNvPr id="20" name="AutoShape 20"/>
          <p:cNvSpPr/>
          <p:nvPr/>
        </p:nvSpPr>
        <p:spPr>
          <a:xfrm>
            <a:off x="8445500" y="5181600"/>
            <a:ext cx="1143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F2937"/>
                </a:solidFill>
                <a:latin typeface="Noto Sans SC"/>
                <a:ea typeface="Noto Sans SC"/>
                <a:cs typeface="Noto Sans SC"/>
                <a:sym typeface="Noto Sans SC"/>
              </a:rPr>
              <a:t>Edit Mutex</a:t>
            </a:r>
            <a:endParaRPr lang="en-US" sz="1100"/>
          </a:p>
          <a:p>
            <a:pPr marL="0" indent="0" algn="l">
              <a:lnSpc>
                <a:spcPct val="91666"/>
              </a:lnSpc>
            </a:pPr>
            <a:r>
              <a:rPr lang="en-US" sz="1000" b="0" i="0" u="none" strike="noStrike">
                <a:solidFill>
                  <a:srgbClr val="4B5563"/>
                </a:solidFill>
                <a:latin typeface="Noto Sans SC"/>
                <a:ea typeface="Noto Sans SC"/>
                <a:cs typeface="Noto Sans SC"/>
                <a:sym typeface="Noto Sans SC"/>
              </a:rPr>
              <a:t>Avoid concurrent edit conflicts.</a:t>
            </a:r>
          </a:p>
        </p:txBody>
      </p:sp>
      <p:sp>
        <p:nvSpPr>
          <p:cNvPr id="21" name="AutoShape 21"/>
          <p:cNvSpPr/>
          <p:nvPr/>
        </p:nvSpPr>
        <p:spPr>
          <a:xfrm>
            <a:off x="9715500" y="5080000"/>
            <a:ext cx="1714500" cy="1143000"/>
          </a:xfrm>
          <a:prstGeom prst="roundRect">
            <a:avLst>
              <a:gd name="adj" fmla="val 0"/>
            </a:avLst>
          </a:prstGeom>
          <a:solidFill>
            <a:srgbClr val="FFFFFF">
              <a:alpha val="7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842500" y="5207000"/>
            <a:ext cx="304800" cy="304800"/>
          </a:xfrm>
          <a:prstGeom prst="rect">
            <a:avLst/>
          </a:prstGeom>
        </p:spPr>
      </p:pic>
      <p:sp>
        <p:nvSpPr>
          <p:cNvPr id="23" name="AutoShape 23"/>
          <p:cNvSpPr/>
          <p:nvPr/>
        </p:nvSpPr>
        <p:spPr>
          <a:xfrm>
            <a:off x="10223500" y="5181600"/>
            <a:ext cx="1143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F2937"/>
                </a:solidFill>
                <a:latin typeface="Noto Sans SC"/>
                <a:ea typeface="Noto Sans SC"/>
                <a:cs typeface="Noto Sans SC"/>
                <a:sym typeface="Noto Sans SC"/>
              </a:rPr>
              <a:t>Smart Notifications</a:t>
            </a:r>
            <a:endParaRPr lang="en-US" sz="1100"/>
          </a:p>
          <a:p>
            <a:pPr marL="0" indent="0" algn="l">
              <a:lnSpc>
                <a:spcPct val="91666"/>
              </a:lnSpc>
            </a:pPr>
            <a:r>
              <a:rPr lang="en-US" sz="1000" b="0" i="0" u="none" strike="noStrike">
                <a:solidFill>
                  <a:srgbClr val="4B5563"/>
                </a:solidFill>
                <a:latin typeface="Noto Sans SC"/>
                <a:ea typeface="Noto Sans SC"/>
                <a:cs typeface="Noto Sans SC"/>
                <a:sym typeface="Noto Sans SC"/>
              </a:rPr>
              <a:t>Triggers send alerts for key updates.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a:ea typeface="Noto Sans SC"/>
                <a:cs typeface="Noto Sans SC"/>
                <a:sym typeface="Noto Sans SC"/>
              </a:rPr>
              <a:t>Key Features Deep Dive: Multiple Views &amp; Export</a:t>
            </a:r>
            <a:endParaRPr lang="en-US" sz="1100"/>
          </a:p>
        </p:txBody>
      </p:sp>
      <p:sp>
        <p:nvSpPr>
          <p:cNvPr id="4" name="AutoShape 4"/>
          <p:cNvSpPr/>
          <p:nvPr/>
        </p:nvSpPr>
        <p:spPr>
          <a:xfrm>
            <a:off x="762000" y="1778000"/>
            <a:ext cx="3556000" cy="4191000"/>
          </a:xfrm>
          <a:prstGeom prst="roundRect">
            <a:avLst>
              <a:gd name="adj" fmla="val 0"/>
            </a:avLst>
          </a:prstGeom>
          <a:solidFill>
            <a:srgbClr val="FFFFFF">
              <a:alpha val="7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9685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D4BF"/>
                </a:solidFill>
                <a:latin typeface="Noto Sans SC"/>
                <a:ea typeface="Noto Sans SC"/>
                <a:cs typeface="Noto Sans SC"/>
                <a:sym typeface="Noto Sans SC"/>
              </a:rPr>
              <a:t>01 Multi-dimensional Views, Flexible Management</a:t>
            </a:r>
            <a:endParaRPr lang="en-US" sz="1100"/>
          </a:p>
        </p:txBody>
      </p:sp>
      <p:pic>
        <p:nvPicPr>
          <p:cNvPr id="6" name="Picture 6"/>
          <p:cNvPicPr>
            <a:picLocks noChangeAspect="1"/>
          </p:cNvPicPr>
          <p:nvPr/>
        </p:nvPicPr>
        <p:blipFill>
          <a:blip r:embed="rId4"/>
          <a:srcRect l="13676" r="13676"/>
          <a:stretch>
            <a:fillRect/>
          </a:stretch>
        </p:blipFill>
        <p:spPr>
          <a:xfrm>
            <a:off x="952500" y="2667000"/>
            <a:ext cx="1460500" cy="1270000"/>
          </a:xfrm>
          <a:prstGeom prst="rect">
            <a:avLst/>
          </a:prstGeom>
          <a:noFill/>
          <a:ln w="25400" cap="flat" cmpd="sng">
            <a:noFill/>
            <a:prstDash val="solid"/>
            <a:round/>
          </a:ln>
        </p:spPr>
      </p:pic>
      <p:pic>
        <p:nvPicPr>
          <p:cNvPr id="7" name="Picture 7"/>
          <p:cNvPicPr>
            <a:picLocks noChangeAspect="1"/>
          </p:cNvPicPr>
          <p:nvPr/>
        </p:nvPicPr>
        <p:blipFill>
          <a:blip r:embed="rId5"/>
          <a:srcRect l="6875" r="6875"/>
          <a:stretch>
            <a:fillRect/>
          </a:stretch>
        </p:blipFill>
        <p:spPr>
          <a:xfrm>
            <a:off x="2603500" y="2667000"/>
            <a:ext cx="1460500" cy="1270000"/>
          </a:xfrm>
          <a:prstGeom prst="rect">
            <a:avLst/>
          </a:prstGeom>
          <a:noFill/>
          <a:ln w="25400" cap="flat" cmpd="sng">
            <a:noFill/>
            <a:prstDash val="solid"/>
            <a:round/>
          </a:ln>
        </p:spPr>
      </p:pic>
      <p:cxnSp>
        <p:nvCxnSpPr>
          <p:cNvPr id="8" name="Connector 8"/>
          <p:cNvCxnSpPr/>
          <p:nvPr/>
        </p:nvCxnSpPr>
        <p:spPr>
          <a:xfrm rot="-13750">
            <a:off x="952513" y="4184650"/>
            <a:ext cx="3175000" cy="12700"/>
          </a:xfrm>
          <a:prstGeom prst="straightConnector1">
            <a:avLst/>
          </a:prstGeom>
          <a:solidFill>
            <a:srgbClr val="DEE0E3">
              <a:alpha val="100000"/>
            </a:srgbClr>
          </a:solidFill>
          <a:ln w="12700" cap="flat" cmpd="sng">
            <a:solidFill>
              <a:srgbClr val="2DD4BF">
                <a:alpha val="40000"/>
              </a:srgbClr>
            </a:solidFill>
            <a:prstDash val="dash"/>
            <a:round/>
            <a:headEnd type="none" w="med" len="med"/>
            <a:tailEnd type="none" w="med" len="med"/>
          </a:ln>
        </p:spPr>
      </p:cxnSp>
      <p:sp>
        <p:nvSpPr>
          <p:cNvPr id="9" name="AutoShape 9"/>
          <p:cNvSpPr/>
          <p:nvPr/>
        </p:nvSpPr>
        <p:spPr>
          <a:xfrm>
            <a:off x="952500" y="4381500"/>
            <a:ext cx="3175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74151"/>
                </a:solidFill>
                <a:latin typeface="Noto Sans SC"/>
                <a:ea typeface="Noto Sans SC"/>
                <a:cs typeface="Noto Sans SC"/>
                <a:sym typeface="Noto Sans SC"/>
              </a:rPr>
              <a:t>In addition to intuitive Gantt charts and data dashboards, it also supports Kanban, 3D sphere spatial visualization, and list views, covering full scenarios of task scheduling, data overview, and batch operations to adapt to the collaboration habits of different teams.</a:t>
            </a:r>
            <a:endParaRPr lang="en-US" sz="1100"/>
          </a:p>
        </p:txBody>
      </p:sp>
      <p:cxnSp>
        <p:nvCxnSpPr>
          <p:cNvPr id="10" name="Connector 10"/>
          <p:cNvCxnSpPr/>
          <p:nvPr/>
        </p:nvCxnSpPr>
        <p:spPr>
          <a:xfrm rot="5389257">
            <a:off x="2603500" y="3930660"/>
            <a:ext cx="4064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11" name="AutoShape 11"/>
          <p:cNvSpPr/>
          <p:nvPr/>
        </p:nvSpPr>
        <p:spPr>
          <a:xfrm>
            <a:off x="4826000" y="1778000"/>
            <a:ext cx="3365500" cy="4191000"/>
          </a:xfrm>
          <a:prstGeom prst="roundRect">
            <a:avLst>
              <a:gd name="adj" fmla="val 0"/>
            </a:avLst>
          </a:prstGeom>
          <a:solidFill>
            <a:srgbClr val="FFFFFF">
              <a:alpha val="7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016500" y="1968500"/>
            <a:ext cx="298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D4BF"/>
                </a:solidFill>
                <a:latin typeface="Noto Sans SC"/>
                <a:ea typeface="Noto Sans SC"/>
                <a:cs typeface="Noto Sans SC"/>
                <a:sym typeface="Noto Sans SC"/>
              </a:rPr>
              <a:t>02 Multi-format Export, Data Interoperability</a:t>
            </a:r>
            <a:endParaRPr lang="en-US" sz="1100"/>
          </a:p>
        </p:txBody>
      </p:sp>
      <p:pic>
        <p:nvPicPr>
          <p:cNvPr id="13" name="Picture 13"/>
          <p:cNvPicPr>
            <a:picLocks noChangeAspect="1"/>
          </p:cNvPicPr>
          <p:nvPr/>
        </p:nvPicPr>
        <p:blipFill>
          <a:blip r:embed="rId6"/>
          <a:srcRect/>
          <a:stretch>
            <a:fillRect/>
          </a:stretch>
        </p:blipFill>
        <p:spPr>
          <a:xfrm>
            <a:off x="5016500" y="2667000"/>
            <a:ext cx="1397000" cy="1397000"/>
          </a:xfrm>
          <a:prstGeom prst="rect">
            <a:avLst/>
          </a:prstGeom>
          <a:noFill/>
          <a:ln w="25400" cap="flat" cmpd="sng">
            <a:noFill/>
            <a:prstDash val="solid"/>
            <a:round/>
          </a:ln>
        </p:spPr>
      </p:pic>
      <p:sp>
        <p:nvSpPr>
          <p:cNvPr id="14" name="AutoShape 14"/>
          <p:cNvSpPr/>
          <p:nvPr/>
        </p:nvSpPr>
        <p:spPr>
          <a:xfrm>
            <a:off x="6604000" y="2730500"/>
            <a:ext cx="1460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74151"/>
                </a:solidFill>
                <a:latin typeface="Noto Sans SC"/>
                <a:ea typeface="Noto Sans SC"/>
                <a:cs typeface="Noto Sans SC"/>
                <a:sym typeface="Noto Sans SC"/>
              </a:rPr>
              <a:t>Supports one-click export of data to mainstream formats such as XLSX, PDF, CSV, etc., meeting the needs of archiving, sharing, and secondary analysis to achieve seamless data flow.</a:t>
            </a:r>
            <a:endParaRPr lang="en-US" sz="1100"/>
          </a:p>
        </p:txBody>
      </p:sp>
      <p:cxnSp>
        <p:nvCxnSpPr>
          <p:cNvPr id="15" name="Connector 15"/>
          <p:cNvCxnSpPr/>
          <p:nvPr/>
        </p:nvCxnSpPr>
        <p:spPr>
          <a:xfrm rot="-14946">
            <a:off x="5016514" y="4311650"/>
            <a:ext cx="2921000" cy="12700"/>
          </a:xfrm>
          <a:prstGeom prst="straightConnector1">
            <a:avLst/>
          </a:prstGeom>
          <a:solidFill>
            <a:srgbClr val="DEE0E3">
              <a:alpha val="100000"/>
            </a:srgbClr>
          </a:solidFill>
          <a:ln w="12700" cap="flat" cmpd="sng">
            <a:solidFill>
              <a:srgbClr val="2DD4BF">
                <a:alpha val="40000"/>
              </a:srgbClr>
            </a:solidFill>
            <a:prstDash val="dash"/>
            <a:round/>
            <a:headEnd type="none" w="med" len="med"/>
            <a:tailEnd type="none" w="med" len="med"/>
          </a:ln>
        </p:spPr>
      </p:cxnSp>
      <p:sp>
        <p:nvSpPr>
          <p:cNvPr id="16" name="AutoShape 16"/>
          <p:cNvSpPr/>
          <p:nvPr/>
        </p:nvSpPr>
        <p:spPr>
          <a:xfrm>
            <a:off x="5016500" y="4572000"/>
            <a:ext cx="2984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74151"/>
                </a:solidFill>
                <a:latin typeface="Noto Sans SC"/>
                <a:ea typeface="Noto Sans SC"/>
                <a:cs typeface="Noto Sans SC"/>
                <a:sym typeface="Noto Sans SC"/>
              </a:rPr>
              <a:t>Built on mature libraries such as exceljs and jspdf, it ensures standardized file formats and accurate data for compatibility with various office software.</a:t>
            </a:r>
            <a:endParaRPr lang="en-US" sz="1100"/>
          </a:p>
        </p:txBody>
      </p:sp>
      <p:cxnSp>
        <p:nvCxnSpPr>
          <p:cNvPr id="17" name="Connector 17"/>
          <p:cNvCxnSpPr/>
          <p:nvPr/>
        </p:nvCxnSpPr>
        <p:spPr>
          <a:xfrm rot="5389257">
            <a:off x="6350000" y="3930660"/>
            <a:ext cx="4064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18" name="AutoShape 18"/>
          <p:cNvSpPr/>
          <p:nvPr/>
        </p:nvSpPr>
        <p:spPr>
          <a:xfrm>
            <a:off x="8509000" y="1778000"/>
            <a:ext cx="3175000" cy="4191000"/>
          </a:xfrm>
          <a:prstGeom prst="roundRect">
            <a:avLst>
              <a:gd name="adj" fmla="val 0"/>
            </a:avLst>
          </a:prstGeom>
          <a:solidFill>
            <a:srgbClr val="FFFFFF">
              <a:alpha val="7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8699500" y="1968500"/>
            <a:ext cx="279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D4BF"/>
                </a:solidFill>
                <a:latin typeface="Noto Sans SC"/>
                <a:ea typeface="Noto Sans SC"/>
                <a:cs typeface="Noto Sans SC"/>
                <a:sym typeface="Noto Sans SC"/>
              </a:rPr>
              <a:t>03 Global Adaptation, Seamless Experience</a:t>
            </a:r>
            <a:endParaRPr lang="en-US" sz="1100"/>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99500" y="2794000"/>
            <a:ext cx="812800" cy="812800"/>
          </a:xfrm>
          <a:prstGeom prst="rect">
            <a:avLst/>
          </a:prstGeom>
        </p:spPr>
      </p:pic>
      <p:sp>
        <p:nvSpPr>
          <p:cNvPr id="21" name="AutoShape 21"/>
          <p:cNvSpPr/>
          <p:nvPr/>
        </p:nvSpPr>
        <p:spPr>
          <a:xfrm>
            <a:off x="9652000" y="2794000"/>
            <a:ext cx="1841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74151"/>
                </a:solidFill>
                <a:latin typeface="Noto Sans SC"/>
                <a:ea typeface="Noto Sans SC"/>
                <a:cs typeface="Noto Sans SC"/>
                <a:sym typeface="Noto Sans SC"/>
              </a:rPr>
              <a:t>The interface fully supports</a:t>
            </a:r>
            <a:r>
              <a:rPr lang="en-US" sz="1200" b="1" i="0" u="none" strike="noStrike">
                <a:solidFill>
                  <a:srgbClr val="374151"/>
                </a:solidFill>
                <a:latin typeface="Noto Sans SC"/>
                <a:ea typeface="Noto Sans SC"/>
                <a:cs typeface="Noto Sans SC"/>
                <a:sym typeface="Noto Sans SC"/>
              </a:rPr>
              <a:t>5 languages</a:t>
            </a:r>
            <a:r>
              <a:rPr lang="en-US" sz="1200" b="0" i="0" u="none" strike="noStrike">
                <a:solidFill>
                  <a:srgbClr val="374151"/>
                </a:solidFill>
                <a:latin typeface="Noto Sans SC"/>
                <a:ea typeface="Noto Sans SC"/>
                <a:cs typeface="Noto Sans SC"/>
                <a:sym typeface="Noto Sans SC"/>
              </a:rPr>
              <a:t>, including English, Spanish, Chinese, Indonesian, and Arabic, reaching global users.</a:t>
            </a:r>
            <a:endParaRPr lang="en-US" sz="1100"/>
          </a:p>
        </p:txBody>
      </p:sp>
      <p:cxnSp>
        <p:nvCxnSpPr>
          <p:cNvPr id="22" name="Connector 22"/>
          <p:cNvCxnSpPr/>
          <p:nvPr/>
        </p:nvCxnSpPr>
        <p:spPr>
          <a:xfrm rot="-15626">
            <a:off x="8699514" y="4184650"/>
            <a:ext cx="2794000" cy="12700"/>
          </a:xfrm>
          <a:prstGeom prst="straightConnector1">
            <a:avLst/>
          </a:prstGeom>
          <a:solidFill>
            <a:srgbClr val="DEE0E3">
              <a:alpha val="100000"/>
            </a:srgbClr>
          </a:solidFill>
          <a:ln w="12700" cap="flat" cmpd="sng">
            <a:solidFill>
              <a:srgbClr val="2DD4BF">
                <a:alpha val="40000"/>
              </a:srgbClr>
            </a:solidFill>
            <a:prstDash val="dash"/>
            <a:round/>
            <a:headEnd type="none" w="med" len="med"/>
            <a:tailEnd type="none" w="med" len="med"/>
          </a:ln>
        </p:spPr>
      </p:cxnSp>
      <p:sp>
        <p:nvSpPr>
          <p:cNvPr id="23" name="AutoShape 23"/>
          <p:cNvSpPr/>
          <p:nvPr/>
        </p:nvSpPr>
        <p:spPr>
          <a:xfrm>
            <a:off x="8699500" y="4445000"/>
            <a:ext cx="2794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74151"/>
                </a:solidFill>
                <a:latin typeface="Noto Sans SC"/>
                <a:ea typeface="Noto Sans SC"/>
                <a:cs typeface="Noto Sans SC"/>
                <a:sym typeface="Noto Sans SC"/>
              </a:rPr>
              <a:t>Specially adapted for right-to-left (RTL) reading habits such as Arabic, optimizing layout and interaction logic to provide a consistent and smooth operation experience for cross-border teams.</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cap="flat" cmpd="sng">
            <a:solidFill>
              <a:srgbClr val="E6CFCF">
                <a:alpha val="35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Role-Based Access Control (RBAC)</a:t>
            </a:r>
            <a:endParaRPr lang="en-US" sz="1100"/>
          </a:p>
        </p:txBody>
      </p:sp>
      <p:sp>
        <p:nvSpPr>
          <p:cNvPr id="4" name="AutoShape 4"/>
          <p:cNvSpPr/>
          <p:nvPr/>
        </p:nvSpPr>
        <p:spPr>
          <a:xfrm>
            <a:off x="762000" y="1778000"/>
            <a:ext cx="5334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74151"/>
                </a:solidFill>
                <a:latin typeface="Noto Sans SC"/>
                <a:ea typeface="Noto Sans SC"/>
                <a:cs typeface="Noto Sans SC"/>
                <a:sym typeface="Noto Sans SC"/>
              </a:rPr>
              <a:t>PivotPoint adopts the Role-Based Access Control (RBAC) model and deeply integrates with PostgreSQL's Row-Level Security (RLS) policies. It builds a dual security defense from the application logic layer to the database bottom layer, realizing a fine-grained, zero-trust full-link permission management system.</a:t>
            </a:r>
            <a:endParaRPr lang="en-US" sz="1100"/>
          </a:p>
        </p:txBody>
      </p:sp>
      <p:sp>
        <p:nvSpPr>
          <p:cNvPr id="5" name="AutoShape 5"/>
          <p:cNvSpPr/>
          <p:nvPr/>
        </p:nvSpPr>
        <p:spPr>
          <a:xfrm>
            <a:off x="762000" y="3302000"/>
            <a:ext cx="5334000" cy="1270000"/>
          </a:xfrm>
          <a:prstGeom prst="roundRect">
            <a:avLst>
              <a:gd name="adj" fmla="val 0"/>
            </a:avLst>
          </a:prstGeom>
          <a:solidFill>
            <a:srgbClr val="FFFFFF">
              <a:alpha val="75000"/>
            </a:srgbClr>
          </a:solidFill>
          <a:ln w="12700" cap="flat" cmpd="sng">
            <a:solidFill>
              <a:srgbClr val="2DD4BF">
                <a:alpha val="5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3492500"/>
            <a:ext cx="355600" cy="355600"/>
          </a:xfrm>
          <a:prstGeom prst="rect">
            <a:avLst/>
          </a:prstGeom>
        </p:spPr>
      </p:pic>
      <p:sp>
        <p:nvSpPr>
          <p:cNvPr id="7" name="AutoShape 7"/>
          <p:cNvSpPr/>
          <p:nvPr/>
        </p:nvSpPr>
        <p:spPr>
          <a:xfrm>
            <a:off x="1460500" y="3429000"/>
            <a:ext cx="444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Row-Level Security (RLS) Underlying Safeguard</a:t>
            </a:r>
            <a:endParaRPr lang="en-US" sz="1100"/>
          </a:p>
          <a:p>
            <a:pPr marL="0" indent="0" algn="l">
              <a:lnSpc>
                <a:spcPct val="100000"/>
              </a:lnSpc>
            </a:pPr>
            <a:r>
              <a:rPr lang="en-US" sz="1100" b="0" i="0" u="none" strike="noStrike">
                <a:solidFill>
                  <a:srgbClr val="4B5563"/>
                </a:solidFill>
                <a:latin typeface="Noto Sans SC"/>
                <a:ea typeface="Noto Sans SC"/>
                <a:cs typeface="Noto Sans SC"/>
                <a:sym typeface="Noto Sans SC"/>
              </a:rPr>
              <a:t>Strict RLS policies are configured for all core business tables to ensure users can only query and operate data rows within their permission scope, completely eliminating the risk of illegal unauthorized access from the database's lowest level.</a:t>
            </a:r>
          </a:p>
        </p:txBody>
      </p:sp>
      <p:sp>
        <p:nvSpPr>
          <p:cNvPr id="8" name="AutoShape 8"/>
          <p:cNvSpPr/>
          <p:nvPr/>
        </p:nvSpPr>
        <p:spPr>
          <a:xfrm>
            <a:off x="762000" y="4826000"/>
            <a:ext cx="5334000" cy="1270000"/>
          </a:xfrm>
          <a:prstGeom prst="roundRect">
            <a:avLst>
              <a:gd name="adj" fmla="val 0"/>
            </a:avLst>
          </a:prstGeom>
          <a:solidFill>
            <a:srgbClr val="FFFFFF">
              <a:alpha val="75000"/>
            </a:srgbClr>
          </a:solidFill>
          <a:ln w="12700" cap="flat" cmpd="sng">
            <a:solidFill>
              <a:srgbClr val="2DD4BF">
                <a:alpha val="5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5016500"/>
            <a:ext cx="355600" cy="355600"/>
          </a:xfrm>
          <a:prstGeom prst="rect">
            <a:avLst/>
          </a:prstGeom>
        </p:spPr>
      </p:pic>
      <p:sp>
        <p:nvSpPr>
          <p:cNvPr id="10" name="AutoShape 10"/>
          <p:cNvSpPr/>
          <p:nvPr/>
        </p:nvSpPr>
        <p:spPr>
          <a:xfrm>
            <a:off x="1460500" y="4953000"/>
            <a:ext cx="444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Flexible Dynamic Permission Management</a:t>
            </a:r>
            <a:endParaRPr lang="en-US" sz="1100"/>
          </a:p>
          <a:p>
            <a:pPr marL="0" indent="0" algn="l">
              <a:lnSpc>
                <a:spcPct val="100000"/>
              </a:lnSpc>
            </a:pPr>
            <a:r>
              <a:rPr lang="en-US" sz="1100" b="0" i="0" u="none" strike="noStrike">
                <a:solidFill>
                  <a:srgbClr val="4B5563"/>
                </a:solidFill>
                <a:latin typeface="Noto Sans SC"/>
                <a:ea typeface="Noto Sans SC"/>
                <a:cs typeface="Noto Sans SC"/>
                <a:sym typeface="Noto Sans SC"/>
              </a:rPr>
              <a:t>Administrators can call the `admin_set_role` RPC function to adjust user role hierarchies in real time, supporting instant granting, demotion or revocation of permissions to quickly adapt to the dynamic changes of team collaboration.</a:t>
            </a:r>
          </a:p>
        </p:txBody>
      </p:sp>
      <p:sp>
        <p:nvSpPr>
          <p:cNvPr id="11" name="AutoShape 11"/>
          <p:cNvSpPr/>
          <p:nvPr/>
        </p:nvSpPr>
        <p:spPr>
          <a:xfrm>
            <a:off x="6604000" y="4191000"/>
            <a:ext cx="1587500" cy="1905000"/>
          </a:xfrm>
          <a:prstGeom prst="roundRect">
            <a:avLst>
              <a:gd name="adj" fmla="val 0"/>
            </a:avLst>
          </a:prstGeom>
          <a:solidFill>
            <a:srgbClr val="FFFFFF">
              <a:alpha val="75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31000" y="4343400"/>
            <a:ext cx="304800" cy="304800"/>
          </a:xfrm>
          <a:prstGeom prst="rect">
            <a:avLst/>
          </a:prstGeom>
        </p:spPr>
      </p:pic>
      <p:sp>
        <p:nvSpPr>
          <p:cNvPr id="13" name="AutoShape 13"/>
          <p:cNvSpPr/>
          <p:nvPr/>
        </p:nvSpPr>
        <p:spPr>
          <a:xfrm>
            <a:off x="6731000" y="4762500"/>
            <a:ext cx="1333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a:ea typeface="Noto Sans SC"/>
                <a:cs typeface="Noto Sans SC"/>
                <a:sym typeface="Noto Sans SC"/>
              </a:rPr>
              <a:t>Admin</a:t>
            </a:r>
            <a:endParaRPr lang="en-US" sz="1100"/>
          </a:p>
          <a:p>
            <a:pPr marL="0" indent="0" algn="l">
              <a:lnSpc>
                <a:spcPct val="91666"/>
              </a:lnSpc>
            </a:pPr>
            <a:r>
              <a:rPr lang="en-US" sz="1000" b="0" i="0" u="none" strike="noStrike">
                <a:solidFill>
                  <a:srgbClr val="4B5563"/>
                </a:solidFill>
                <a:latin typeface="Noto Sans SC"/>
                <a:ea typeface="Noto Sans SC"/>
                <a:cs typeface="Noto Sans SC"/>
                <a:sym typeface="Noto Sans SC"/>
              </a:rPr>
              <a:t>Has full CRUD permissions, responsible for team member management, project configuration and overall control of all task data.</a:t>
            </a:r>
          </a:p>
        </p:txBody>
      </p:sp>
      <p:sp>
        <p:nvSpPr>
          <p:cNvPr id="14" name="AutoShape 14"/>
          <p:cNvSpPr/>
          <p:nvPr/>
        </p:nvSpPr>
        <p:spPr>
          <a:xfrm>
            <a:off x="8318500" y="4191000"/>
            <a:ext cx="1587500" cy="1905000"/>
          </a:xfrm>
          <a:prstGeom prst="roundRect">
            <a:avLst>
              <a:gd name="adj" fmla="val 0"/>
            </a:avLst>
          </a:prstGeom>
          <a:solidFill>
            <a:srgbClr val="FFFFFF">
              <a:alpha val="75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445500" y="4343400"/>
            <a:ext cx="304800" cy="304800"/>
          </a:xfrm>
          <a:prstGeom prst="rect">
            <a:avLst/>
          </a:prstGeom>
        </p:spPr>
      </p:pic>
      <p:sp>
        <p:nvSpPr>
          <p:cNvPr id="16" name="AutoShape 16"/>
          <p:cNvSpPr/>
          <p:nvPr/>
        </p:nvSpPr>
        <p:spPr>
          <a:xfrm>
            <a:off x="8445500" y="4762500"/>
            <a:ext cx="1333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a:ea typeface="Noto Sans SC"/>
                <a:cs typeface="Noto Sans SC"/>
                <a:sym typeface="Noto Sans SC"/>
              </a:rPr>
              <a:t>Member</a:t>
            </a:r>
            <a:endParaRPr lang="en-US" sz="1100"/>
          </a:p>
          <a:p>
            <a:pPr marL="0" indent="0" algn="l">
              <a:lnSpc>
                <a:spcPct val="91666"/>
              </a:lnSpc>
            </a:pPr>
            <a:r>
              <a:rPr lang="en-US" sz="1000" b="0" i="0" u="none" strike="noStrike">
                <a:solidFill>
                  <a:srgbClr val="4B5563"/>
                </a:solidFill>
                <a:latin typeface="Noto Sans SC"/>
                <a:ea typeface="Noto Sans SC"/>
                <a:cs typeface="Noto Sans SC"/>
                <a:sym typeface="Noto Sans SC"/>
              </a:rPr>
              <a:t>Has read-only access to tasks, can only edit assigned items, focuses on execution and collaboration, and cannot tamper with others' data.</a:t>
            </a:r>
          </a:p>
        </p:txBody>
      </p:sp>
      <p:sp>
        <p:nvSpPr>
          <p:cNvPr id="17" name="AutoShape 17"/>
          <p:cNvSpPr/>
          <p:nvPr/>
        </p:nvSpPr>
        <p:spPr>
          <a:xfrm>
            <a:off x="9969500" y="4191000"/>
            <a:ext cx="1587500" cy="1905000"/>
          </a:xfrm>
          <a:prstGeom prst="roundRect">
            <a:avLst>
              <a:gd name="adj" fmla="val 0"/>
            </a:avLst>
          </a:prstGeom>
          <a:solidFill>
            <a:srgbClr val="FFFFFF">
              <a:alpha val="75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096500" y="4343400"/>
            <a:ext cx="304800" cy="304800"/>
          </a:xfrm>
          <a:prstGeom prst="rect">
            <a:avLst/>
          </a:prstGeom>
        </p:spPr>
      </p:pic>
      <p:sp>
        <p:nvSpPr>
          <p:cNvPr id="19" name="AutoShape 19"/>
          <p:cNvSpPr/>
          <p:nvPr/>
        </p:nvSpPr>
        <p:spPr>
          <a:xfrm>
            <a:off x="10096500" y="4762500"/>
            <a:ext cx="1333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a:ea typeface="Noto Sans SC"/>
                <a:cs typeface="Noto Sans SC"/>
                <a:sym typeface="Noto Sans SC"/>
              </a:rPr>
              <a:t>Unknown (Unauthorized)</a:t>
            </a:r>
            <a:endParaRPr lang="en-US" sz="1100"/>
          </a:p>
          <a:p>
            <a:pPr marL="0" indent="0" algn="l">
              <a:lnSpc>
                <a:spcPct val="91666"/>
              </a:lnSpc>
            </a:pPr>
            <a:r>
              <a:rPr lang="en-US" sz="1000" b="0" i="0" u="none" strike="noStrike">
                <a:solidFill>
                  <a:srgbClr val="4B5563"/>
                </a:solidFill>
                <a:latin typeface="Noto Sans SC"/>
                <a:ea typeface="Noto Sans SC"/>
                <a:cs typeface="Noto Sans SC"/>
                <a:sym typeface="Noto Sans SC"/>
              </a:rPr>
              <a:t>Blocked by the system, cannot access any task data, and is uniformly redirected to the access application page to strictly enforce security boundaries.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05 Tech Stack Deep Dive</a:t>
            </a:r>
            <a:endParaRPr lang="en-US" sz="1100"/>
          </a:p>
        </p:txBody>
      </p:sp>
      <p:sp>
        <p:nvSpPr>
          <p:cNvPr id="4" name="AutoShape 4"/>
          <p:cNvSpPr/>
          <p:nvPr/>
        </p:nvSpPr>
        <p:spPr>
          <a:xfrm>
            <a:off x="762000" y="1905000"/>
            <a:ext cx="3429000" cy="1333500"/>
          </a:xfrm>
          <a:prstGeom prst="roundRect">
            <a:avLst>
              <a:gd name="adj" fmla="val 0"/>
            </a:avLst>
          </a:prstGeom>
          <a:solidFill>
            <a:srgbClr val="FFFFFF">
              <a:alpha val="7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905000"/>
            <a:ext cx="76200" cy="1333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65200" y="20066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Frontend Framework · React 19</a:t>
            </a:r>
            <a:endParaRPr lang="en-US" sz="1100"/>
          </a:p>
          <a:p>
            <a:pPr marL="0" indent="0" algn="l">
              <a:lnSpc>
                <a:spcPct val="108333"/>
              </a:lnSpc>
            </a:pPr>
            <a:r>
              <a:rPr lang="en-US" sz="1200" b="0" i="0" u="none" strike="noStrike">
                <a:solidFill>
                  <a:srgbClr val="4B5563"/>
                </a:solidFill>
                <a:latin typeface="Noto Sans SC"/>
                <a:ea typeface="Noto Sans SC"/>
                <a:cs typeface="Noto Sans SC"/>
                <a:sym typeface="Noto Sans SC"/>
              </a:rPr>
              <a:t>Adopts an efficient component-based development model and virtual DOM mechanism, ensuring rendering performance while greatly enhancing code maintainability and reusability.</a:t>
            </a:r>
          </a:p>
        </p:txBody>
      </p:sp>
      <p:sp>
        <p:nvSpPr>
          <p:cNvPr id="7" name="AutoShape 7"/>
          <p:cNvSpPr/>
          <p:nvPr/>
        </p:nvSpPr>
        <p:spPr>
          <a:xfrm>
            <a:off x="762000" y="3492500"/>
            <a:ext cx="3429000" cy="1333500"/>
          </a:xfrm>
          <a:prstGeom prst="roundRect">
            <a:avLst>
              <a:gd name="adj" fmla="val 0"/>
            </a:avLst>
          </a:prstGeom>
          <a:solidFill>
            <a:srgbClr val="FFFFFF">
              <a:alpha val="7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762000" y="3492500"/>
            <a:ext cx="76200" cy="1333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965200" y="35941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Build Tool · Vite 8</a:t>
            </a:r>
            <a:endParaRPr lang="en-US" sz="1100"/>
          </a:p>
          <a:p>
            <a:pPr marL="0" indent="0" algn="l">
              <a:lnSpc>
                <a:spcPct val="108333"/>
              </a:lnSpc>
            </a:pPr>
            <a:r>
              <a:rPr lang="en-US" sz="1200" b="0" i="0" u="none" strike="noStrike">
                <a:solidFill>
                  <a:srgbClr val="4B5563"/>
                </a:solidFill>
                <a:latin typeface="Noto Sans SC"/>
                <a:ea typeface="Noto Sans SC"/>
                <a:cs typeface="Noto Sans SC"/>
                <a:sym typeface="Noto Sans SC"/>
              </a:rPr>
              <a:t>Achieves blazing-fast cold start and HMR. Optimizes bundle size with Rolldown in production, balancing dev experience and performance.</a:t>
            </a:r>
          </a:p>
        </p:txBody>
      </p:sp>
      <p:sp>
        <p:nvSpPr>
          <p:cNvPr id="10" name="AutoShape 10"/>
          <p:cNvSpPr/>
          <p:nvPr/>
        </p:nvSpPr>
        <p:spPr>
          <a:xfrm>
            <a:off x="762000" y="5080000"/>
            <a:ext cx="3429000" cy="1333500"/>
          </a:xfrm>
          <a:prstGeom prst="roundRect">
            <a:avLst>
              <a:gd name="adj" fmla="val 0"/>
            </a:avLst>
          </a:prstGeom>
          <a:solidFill>
            <a:srgbClr val="FFFFFF">
              <a:alpha val="7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762000" y="5080000"/>
            <a:ext cx="76200" cy="1333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965200" y="51816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Styling Solution · Tailwind CSS 4</a:t>
            </a:r>
            <a:endParaRPr lang="en-US" sz="1100"/>
          </a:p>
          <a:p>
            <a:pPr marL="0" indent="0" algn="l">
              <a:lnSpc>
                <a:spcPct val="108333"/>
              </a:lnSpc>
            </a:pPr>
            <a:r>
              <a:rPr lang="en-US" sz="1200" b="0" i="0" u="none" strike="noStrike">
                <a:solidFill>
                  <a:srgbClr val="4B5563"/>
                </a:solidFill>
                <a:latin typeface="Noto Sans SC"/>
                <a:ea typeface="Noto Sans SC"/>
                <a:cs typeface="Noto Sans SC"/>
                <a:sym typeface="Noto Sans SC"/>
              </a:rPr>
              <a:t>Based on atomic CSS, quickly build UI with utility classes, reduce redundant code, support theme customization, and boost dev efficiency.</a:t>
            </a:r>
          </a:p>
        </p:txBody>
      </p:sp>
      <p:sp>
        <p:nvSpPr>
          <p:cNvPr id="13" name="AutoShape 13"/>
          <p:cNvSpPr/>
          <p:nvPr/>
        </p:nvSpPr>
        <p:spPr>
          <a:xfrm>
            <a:off x="4508500" y="1905000"/>
            <a:ext cx="3429000" cy="1333500"/>
          </a:xfrm>
          <a:prstGeom prst="roundRect">
            <a:avLst>
              <a:gd name="adj" fmla="val 0"/>
            </a:avLst>
          </a:prstGeom>
          <a:solidFill>
            <a:srgbClr val="FFFFFF">
              <a:alpha val="7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4508500" y="1905000"/>
            <a:ext cx="76200" cy="1333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4711700" y="20066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Interaction Core · @dnd-kit</a:t>
            </a:r>
            <a:endParaRPr lang="en-US" sz="1100"/>
          </a:p>
          <a:p>
            <a:pPr marL="0" indent="0" algn="l">
              <a:lnSpc>
                <a:spcPct val="108333"/>
              </a:lnSpc>
            </a:pPr>
            <a:r>
              <a:rPr lang="en-US" sz="1200" b="0" i="0" u="none" strike="noStrike">
                <a:solidFill>
                  <a:srgbClr val="4B5563"/>
                </a:solidFill>
                <a:latin typeface="Noto Sans SC"/>
                <a:ea typeface="Noto Sans SC"/>
                <a:cs typeface="Noto Sans SC"/>
                <a:sym typeface="Noto Sans SC"/>
              </a:rPr>
              <a:t>A powerful yet lightweight drag-and-drop library with flexible APIs and gesture support, perfectly fitting kanban task dragging and sorting.</a:t>
            </a:r>
          </a:p>
        </p:txBody>
      </p:sp>
      <p:sp>
        <p:nvSpPr>
          <p:cNvPr id="16" name="AutoShape 16"/>
          <p:cNvSpPr/>
          <p:nvPr/>
        </p:nvSpPr>
        <p:spPr>
          <a:xfrm>
            <a:off x="4508500" y="3492500"/>
            <a:ext cx="3429000" cy="1333500"/>
          </a:xfrm>
          <a:prstGeom prst="roundRect">
            <a:avLst>
              <a:gd name="adj" fmla="val 0"/>
            </a:avLst>
          </a:prstGeom>
          <a:solidFill>
            <a:srgbClr val="FFFFFF">
              <a:alpha val="7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4508500" y="3492500"/>
            <a:ext cx="76200" cy="1333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4711700" y="35941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Testing Assurance · Vitest 4</a:t>
            </a:r>
            <a:endParaRPr lang="en-US" sz="1100"/>
          </a:p>
          <a:p>
            <a:pPr marL="0" indent="0" algn="l">
              <a:lnSpc>
                <a:spcPct val="108333"/>
              </a:lnSpc>
            </a:pPr>
            <a:r>
              <a:rPr lang="en-US" sz="1200" b="0" i="0" u="none" strike="noStrike">
                <a:solidFill>
                  <a:srgbClr val="4B5563"/>
                </a:solidFill>
                <a:latin typeface="Noto Sans SC"/>
                <a:ea typeface="Noto Sans SC"/>
                <a:cs typeface="Noto Sans SC"/>
                <a:sym typeface="Noto Sans SC"/>
              </a:rPr>
              <a:t>Deeply integrated with Vite, sharing config and pre-bundling. Supports snapshot and component testing, shortening test cycles.</a:t>
            </a:r>
          </a:p>
        </p:txBody>
      </p:sp>
      <p:sp>
        <p:nvSpPr>
          <p:cNvPr id="19" name="AutoShape 19"/>
          <p:cNvSpPr/>
          <p:nvPr/>
        </p:nvSpPr>
        <p:spPr>
          <a:xfrm>
            <a:off x="4508500" y="5080000"/>
            <a:ext cx="3429000" cy="1333500"/>
          </a:xfrm>
          <a:prstGeom prst="roundRect">
            <a:avLst>
              <a:gd name="adj" fmla="val 0"/>
            </a:avLst>
          </a:prstGeom>
          <a:solidFill>
            <a:srgbClr val="FFFFFF">
              <a:alpha val="7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4508500" y="5080000"/>
            <a:ext cx="76200" cy="1333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4711700" y="51816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Backend Service · Supabase</a:t>
            </a:r>
            <a:endParaRPr lang="en-US" sz="1100"/>
          </a:p>
          <a:p>
            <a:pPr marL="0" indent="0" algn="l">
              <a:lnSpc>
                <a:spcPct val="108333"/>
              </a:lnSpc>
            </a:pPr>
            <a:r>
              <a:rPr lang="en-US" sz="1200" b="0" i="0" u="none" strike="noStrike">
                <a:solidFill>
                  <a:srgbClr val="4B5563"/>
                </a:solidFill>
                <a:latin typeface="Noto Sans SC"/>
                <a:ea typeface="Noto Sans SC"/>
                <a:cs typeface="Noto Sans SC"/>
                <a:sym typeface="Noto Sans SC"/>
              </a:rPr>
              <a:t>An all-in-one BaaS solution with auth, realtime DB, storage, etc. No server setup needed, cutting backend dev and ops costs.</a:t>
            </a:r>
          </a:p>
        </p:txBody>
      </p:sp>
      <p:sp>
        <p:nvSpPr>
          <p:cNvPr id="22" name="AutoShape 22"/>
          <p:cNvSpPr/>
          <p:nvPr/>
        </p:nvSpPr>
        <p:spPr>
          <a:xfrm>
            <a:off x="8255000" y="1905000"/>
            <a:ext cx="3429000" cy="2921000"/>
          </a:xfrm>
          <a:prstGeom prst="roundRect">
            <a:avLst>
              <a:gd name="adj" fmla="val 0"/>
            </a:avLst>
          </a:prstGeom>
          <a:solidFill>
            <a:srgbClr val="FFFFFF">
              <a:alpha val="7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8255000" y="1905000"/>
            <a:ext cx="76200" cy="2921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8458200" y="2095500"/>
            <a:ext cx="3048000" cy="247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Core Data · PostgreSQL</a:t>
            </a:r>
            <a:endParaRPr lang="en-US" sz="1100"/>
          </a:p>
          <a:p>
            <a:pPr marL="0" indent="0" algn="l">
              <a:lnSpc>
                <a:spcPct val="116666"/>
              </a:lnSpc>
            </a:pPr>
            <a:r>
              <a:rPr lang="en-US" sz="1200" b="0" i="0" u="none" strike="noStrike">
                <a:solidFill>
                  <a:srgbClr val="4B5563"/>
                </a:solidFill>
                <a:latin typeface="Noto Sans SC"/>
                <a:ea typeface="Noto Sans SC"/>
                <a:cs typeface="Noto Sans SC"/>
                <a:sym typeface="Noto Sans SC"/>
              </a:rPr>
              <a:t>A powerful open-source object-relational DB with native support for JSON, triggers, RLS, etc. It provides a stable, secure, and scalable foundation, perfectly fitting Supabase's ecosystem and ensuring data integrity.</a:t>
            </a:r>
          </a:p>
        </p:txBody>
      </p:sp>
      <p:sp>
        <p:nvSpPr>
          <p:cNvPr id="25" name="AutoShape 25"/>
          <p:cNvSpPr/>
          <p:nvPr/>
        </p:nvSpPr>
        <p:spPr>
          <a:xfrm>
            <a:off x="8255000" y="5080000"/>
            <a:ext cx="3429000" cy="1333500"/>
          </a:xfrm>
          <a:prstGeom prst="roundRect">
            <a:avLst>
              <a:gd name="adj" fmla="val 0"/>
            </a:avLst>
          </a:prstGeom>
          <a:solidFill>
            <a:srgbClr val="2DD4BF">
              <a:alpha val="15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8382000" y="5207000"/>
            <a:ext cx="3175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1F2937"/>
                </a:solidFill>
                <a:latin typeface="Noto Sans SC"/>
                <a:ea typeface="Noto Sans SC"/>
                <a:cs typeface="Noto Sans SC"/>
                <a:sym typeface="Noto Sans SC"/>
              </a:rPr>
              <a:t>Tech Stack Summary</a:t>
            </a:r>
            <a:endParaRPr lang="en-US" sz="1100"/>
          </a:p>
          <a:p>
            <a:pPr marL="0" indent="0" algn="l">
              <a:lnSpc>
                <a:spcPct val="108333"/>
              </a:lnSpc>
            </a:pPr>
            <a:r>
              <a:rPr lang="en-US" sz="1100" b="0" i="0" u="none" strike="noStrike">
                <a:solidFill>
                  <a:srgbClr val="4B5563"/>
                </a:solidFill>
                <a:latin typeface="Noto Sans SC"/>
                <a:ea typeface="Noto Sans SC"/>
                <a:cs typeface="Noto Sans SC"/>
                <a:sym typeface="Noto Sans SC"/>
              </a:rPr>
              <a:t>This full-stack combination balances dev efficiency, runtime performance, and deployment ease, laying a solid foundation for rapid iteration and long-term maintenance.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Database Design</a:t>
            </a:r>
            <a:endParaRPr lang="en-US" sz="1100"/>
          </a:p>
        </p:txBody>
      </p:sp>
      <p:sp>
        <p:nvSpPr>
          <p:cNvPr id="4" name="AutoShape 4"/>
          <p:cNvSpPr/>
          <p:nvPr/>
        </p:nvSpPr>
        <p:spPr>
          <a:xfrm>
            <a:off x="762000" y="49530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374151"/>
                </a:solidFill>
                <a:latin typeface="Noto Sans SC"/>
                <a:ea typeface="Noto Sans SC"/>
                <a:cs typeface="Noto Sans SC"/>
                <a:sym typeface="Noto Sans SC"/>
              </a:rPr>
              <a:t>The system adopts a standardized relational database structure, with clear table associations and foreign key constraints, building a solid data foundation. The design fully considers data consistency, integrity, and scalability, providing reliable underlying support for business functions.</a:t>
            </a:r>
            <a:endParaRPr lang="en-US" sz="1100"/>
          </a:p>
        </p:txBody>
      </p:sp>
      <p:cxnSp>
        <p:nvCxnSpPr>
          <p:cNvPr id="5" name="Connector 5"/>
          <p:cNvCxnSpPr/>
          <p:nvPr/>
        </p:nvCxnSpPr>
        <p:spPr>
          <a:xfrm rot="5389889">
            <a:off x="3937000" y="4057659"/>
            <a:ext cx="4318000" cy="12700"/>
          </a:xfrm>
          <a:prstGeom prst="line">
            <a:avLst/>
          </a:prstGeom>
          <a:solidFill>
            <a:srgbClr val="DEE0E3">
              <a:alpha val="100000"/>
            </a:srgbClr>
          </a:solidFill>
          <a:ln w="12700" cap="flat" cmpd="sng">
            <a:solidFill>
              <a:srgbClr val="2DD4BF">
                <a:alpha val="50000"/>
              </a:srgbClr>
            </a:solidFill>
            <a:prstDash val="dash"/>
            <a:round/>
            <a:headEnd type="none" w="med" len="med"/>
            <a:tailEnd type="none" w="med" len="med"/>
          </a:ln>
        </p:spPr>
      </p:cxnSp>
      <p:sp>
        <p:nvSpPr>
          <p:cNvPr id="6" name="AutoShape 6"/>
          <p:cNvSpPr/>
          <p:nvPr/>
        </p:nvSpPr>
        <p:spPr>
          <a:xfrm>
            <a:off x="6350000" y="1905000"/>
            <a:ext cx="2603500" cy="1714500"/>
          </a:xfrm>
          <a:prstGeom prst="roundRect">
            <a:avLst>
              <a:gd name="adj" fmla="val 0"/>
            </a:avLst>
          </a:prstGeom>
          <a:solidFill>
            <a:srgbClr val="2DD4BF">
              <a:alpha val="12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6477000" y="2032000"/>
            <a:ext cx="2349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0D9488"/>
                </a:solidFill>
                <a:latin typeface="Noto Sans SC"/>
                <a:ea typeface="Noto Sans SC"/>
                <a:cs typeface="Noto Sans SC"/>
                <a:sym typeface="Noto Sans SC"/>
              </a:rPr>
              <a:t>Core Entities</a:t>
            </a:r>
            <a:endParaRPr lang="en-US" sz="1100"/>
          </a:p>
          <a:p>
            <a:pPr marL="0" indent="0" algn="l">
              <a:lnSpc>
                <a:spcPct val="108333"/>
              </a:lnSpc>
            </a:pPr>
            <a:r>
              <a:rPr lang="en-US" sz="1100" b="0" i="0" u="none" strike="noStrike">
                <a:solidFill>
                  <a:srgbClr val="374151"/>
                </a:solidFill>
                <a:latin typeface="Noto Sans SC"/>
                <a:ea typeface="Noto Sans SC"/>
                <a:cs typeface="Noto Sans SC"/>
                <a:sym typeface="Noto Sans SC"/>
              </a:rPr>
              <a:t>With `profiles`, `tasks`, and `projects` as the three core tables, they carry basic info of users, tasks, and projects, serving as the cornerstone of the entire data model.</a:t>
            </a:r>
          </a:p>
        </p:txBody>
      </p:sp>
      <p:sp>
        <p:nvSpPr>
          <p:cNvPr id="8" name="AutoShape 8"/>
          <p:cNvSpPr/>
          <p:nvPr/>
        </p:nvSpPr>
        <p:spPr>
          <a:xfrm>
            <a:off x="9080500" y="1905000"/>
            <a:ext cx="2603500" cy="1714500"/>
          </a:xfrm>
          <a:prstGeom prst="roundRect">
            <a:avLst>
              <a:gd name="adj" fmla="val 0"/>
            </a:avLst>
          </a:prstGeom>
          <a:solidFill>
            <a:srgbClr val="2DD4BF">
              <a:alpha val="12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9207500" y="2032000"/>
            <a:ext cx="2349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0D9488"/>
                </a:solidFill>
                <a:latin typeface="Noto Sans SC"/>
                <a:ea typeface="Noto Sans SC"/>
                <a:cs typeface="Noto Sans SC"/>
                <a:sym typeface="Noto Sans SC"/>
              </a:rPr>
              <a:t>Relationships &amp; Collaboration</a:t>
            </a:r>
            <a:endParaRPr lang="en-US" sz="1100"/>
          </a:p>
          <a:p>
            <a:pPr marL="0" indent="0" algn="l">
              <a:lnSpc>
                <a:spcPct val="108333"/>
              </a:lnSpc>
            </a:pPr>
            <a:r>
              <a:rPr lang="en-US" sz="1100" b="0" i="0" u="none" strike="noStrike">
                <a:solidFill>
                  <a:srgbClr val="374151"/>
                </a:solidFill>
                <a:latin typeface="Noto Sans SC"/>
                <a:ea typeface="Noto Sans SC"/>
                <a:cs typeface="Noto Sans SC"/>
                <a:sym typeface="Noto Sans SC"/>
              </a:rPr>
              <a:t>Many-to-many relationships via junction tables. `project_members` manages permissions, `task_dependencies` organizes workflows, and `notifications` &amp; `invitations` complete collaboration.</a:t>
            </a:r>
          </a:p>
        </p:txBody>
      </p:sp>
      <p:sp>
        <p:nvSpPr>
          <p:cNvPr id="10" name="AutoShape 10"/>
          <p:cNvSpPr/>
          <p:nvPr/>
        </p:nvSpPr>
        <p:spPr>
          <a:xfrm>
            <a:off x="6350000" y="4064000"/>
            <a:ext cx="2603500" cy="9906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4191000"/>
            <a:ext cx="304800" cy="304800"/>
          </a:xfrm>
          <a:prstGeom prst="rect">
            <a:avLst/>
          </a:prstGeom>
        </p:spPr>
      </p:pic>
      <p:sp>
        <p:nvSpPr>
          <p:cNvPr id="12" name="AutoShape 12"/>
          <p:cNvSpPr/>
          <p:nvPr/>
        </p:nvSpPr>
        <p:spPr>
          <a:xfrm>
            <a:off x="6858000" y="4165600"/>
            <a:ext cx="2032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F2937"/>
                </a:solidFill>
                <a:latin typeface="Noto Sans SC"/>
                <a:ea typeface="Noto Sans SC"/>
                <a:cs typeface="Noto Sans SC"/>
                <a:sym typeface="Noto Sans SC"/>
              </a:rPr>
              <a:t>Field Length Control</a:t>
            </a:r>
            <a:endParaRPr lang="en-US" sz="1100"/>
          </a:p>
          <a:p>
            <a:pPr marL="0" indent="0" algn="l">
              <a:lnSpc>
                <a:spcPct val="125000"/>
              </a:lnSpc>
            </a:pPr>
            <a:r>
              <a:rPr lang="en-US" sz="1000" b="0" i="0" u="none" strike="noStrike">
                <a:solidFill>
                  <a:srgbClr val="4B5563"/>
                </a:solidFill>
                <a:latin typeface="Noto Sans SC"/>
                <a:ea typeface="Noto Sans SC"/>
                <a:cs typeface="Noto Sans SC"/>
                <a:sym typeface="Noto Sans SC"/>
              </a:rPr>
              <a:t>Titles: 1-200 chars, Descriptions: up to 5000 chars, optimizing storage efficiency.</a:t>
            </a:r>
          </a:p>
        </p:txBody>
      </p:sp>
      <p:sp>
        <p:nvSpPr>
          <p:cNvPr id="13" name="AutoShape 13"/>
          <p:cNvSpPr/>
          <p:nvPr/>
        </p:nvSpPr>
        <p:spPr>
          <a:xfrm>
            <a:off x="9080500" y="4064000"/>
            <a:ext cx="2603500" cy="9906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207500" y="4191000"/>
            <a:ext cx="304800" cy="304800"/>
          </a:xfrm>
          <a:prstGeom prst="rect">
            <a:avLst/>
          </a:prstGeom>
        </p:spPr>
      </p:pic>
      <p:sp>
        <p:nvSpPr>
          <p:cNvPr id="15" name="AutoShape 15"/>
          <p:cNvSpPr/>
          <p:nvPr/>
        </p:nvSpPr>
        <p:spPr>
          <a:xfrm>
            <a:off x="9588500" y="4165600"/>
            <a:ext cx="2032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F2937"/>
                </a:solidFill>
                <a:latin typeface="Noto Sans SC"/>
                <a:ea typeface="Noto Sans SC"/>
                <a:cs typeface="Noto Sans SC"/>
                <a:sym typeface="Noto Sans SC"/>
              </a:rPr>
              <a:t>Immutable Creator</a:t>
            </a:r>
            <a:endParaRPr lang="en-US" sz="1100"/>
          </a:p>
          <a:p>
            <a:pPr marL="0" indent="0" algn="l">
              <a:lnSpc>
                <a:spcPct val="125000"/>
              </a:lnSpc>
            </a:pPr>
            <a:r>
              <a:rPr lang="en-US" sz="1000" b="0" i="0" u="none" strike="noStrike">
                <a:solidFill>
                  <a:srgbClr val="4B5563"/>
                </a:solidFill>
                <a:latin typeface="Noto Sans SC"/>
                <a:ea typeface="Noto Sans SC"/>
                <a:cs typeface="Noto Sans SC"/>
                <a:sym typeface="Noto Sans SC"/>
              </a:rPr>
              <a:t>`created_by` is locked after writing, ensuring traceability and clear accountability.</a:t>
            </a:r>
          </a:p>
        </p:txBody>
      </p:sp>
      <p:sp>
        <p:nvSpPr>
          <p:cNvPr id="16" name="AutoShape 16"/>
          <p:cNvSpPr/>
          <p:nvPr/>
        </p:nvSpPr>
        <p:spPr>
          <a:xfrm>
            <a:off x="6350000" y="5207000"/>
            <a:ext cx="2603500" cy="9906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5334000"/>
            <a:ext cx="304800" cy="304800"/>
          </a:xfrm>
          <a:prstGeom prst="rect">
            <a:avLst/>
          </a:prstGeom>
        </p:spPr>
      </p:pic>
      <p:sp>
        <p:nvSpPr>
          <p:cNvPr id="18" name="AutoShape 18"/>
          <p:cNvSpPr/>
          <p:nvPr/>
        </p:nvSpPr>
        <p:spPr>
          <a:xfrm>
            <a:off x="6858000" y="5308600"/>
            <a:ext cx="2032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F2937"/>
                </a:solidFill>
                <a:latin typeface="Noto Sans SC"/>
                <a:ea typeface="Noto Sans SC"/>
                <a:cs typeface="Noto Sans SC"/>
                <a:sym typeface="Noto Sans SC"/>
              </a:rPr>
              <a:t>Standardized Priority Enums</a:t>
            </a:r>
            <a:endParaRPr lang="en-US" sz="1100"/>
          </a:p>
          <a:p>
            <a:pPr marL="0" indent="0" algn="l">
              <a:lnSpc>
                <a:spcPct val="125000"/>
              </a:lnSpc>
            </a:pPr>
            <a:r>
              <a:rPr lang="en-US" sz="1000" b="0" i="0" u="none" strike="noStrike">
                <a:solidFill>
                  <a:srgbClr val="4B5563"/>
                </a:solidFill>
                <a:latin typeface="Noto Sans SC"/>
                <a:ea typeface="Noto Sans SC"/>
                <a:cs typeface="Noto Sans SC"/>
                <a:sym typeface="Noto Sans SC"/>
              </a:rPr>
              <a:t>Limited to P0-P3, standardizing task priority definitions for unified collaboration.</a:t>
            </a:r>
          </a:p>
        </p:txBody>
      </p:sp>
      <p:sp>
        <p:nvSpPr>
          <p:cNvPr id="19" name="AutoShape 19"/>
          <p:cNvSpPr/>
          <p:nvPr/>
        </p:nvSpPr>
        <p:spPr>
          <a:xfrm>
            <a:off x="9080500" y="5207000"/>
            <a:ext cx="2603500" cy="9906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207500" y="5334000"/>
            <a:ext cx="304800" cy="304800"/>
          </a:xfrm>
          <a:prstGeom prst="rect">
            <a:avLst/>
          </a:prstGeom>
        </p:spPr>
      </p:pic>
      <p:sp>
        <p:nvSpPr>
          <p:cNvPr id="21" name="AutoShape 21"/>
          <p:cNvSpPr/>
          <p:nvPr/>
        </p:nvSpPr>
        <p:spPr>
          <a:xfrm>
            <a:off x="9588500" y="5308600"/>
            <a:ext cx="2032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F2937"/>
                </a:solidFill>
                <a:latin typeface="Noto Sans SC"/>
                <a:ea typeface="Noto Sans SC"/>
                <a:cs typeface="Noto Sans SC"/>
                <a:sym typeface="Noto Sans SC"/>
              </a:rPr>
              <a:t>Integrity &amp; Consistency</a:t>
            </a:r>
            <a:endParaRPr lang="en-US" sz="1100"/>
          </a:p>
          <a:p>
            <a:pPr marL="0" indent="0" algn="l">
              <a:lnSpc>
                <a:spcPct val="125000"/>
              </a:lnSpc>
            </a:pPr>
            <a:r>
              <a:rPr lang="en-US" sz="1000" b="0" i="0" u="none" strike="noStrike">
                <a:solidFill>
                  <a:srgbClr val="4B5563"/>
                </a:solidFill>
                <a:latin typeface="Noto Sans SC"/>
                <a:ea typeface="Noto Sans SC"/>
                <a:cs typeface="Noto Sans SC"/>
                <a:sym typeface="Noto Sans SC"/>
              </a:rPr>
              <a:t>Foreign keys and non-null constraints enforce data validity and eliminate dirty data.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a:ea typeface="Noto Sans SC"/>
                <a:cs typeface="Noto Sans SC"/>
                <a:sym typeface="Noto Sans SC"/>
              </a:rPr>
              <a:t>Development &amp; Deployment Workflow</a:t>
            </a:r>
            <a:endParaRPr lang="en-US" sz="1100"/>
          </a:p>
        </p:txBody>
      </p:sp>
      <p:sp>
        <p:nvSpPr>
          <p:cNvPr id="4" name="AutoShape 4"/>
          <p:cNvSpPr/>
          <p:nvPr/>
        </p:nvSpPr>
        <p:spPr>
          <a:xfrm>
            <a:off x="762000" y="1397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74151"/>
                </a:solidFill>
                <a:latin typeface="Noto Sans SC"/>
                <a:ea typeface="Noto Sans SC"/>
                <a:cs typeface="Noto Sans SC"/>
                <a:sym typeface="Noto Sans SC"/>
              </a:rPr>
              <a:t>PivotPoint's development workflow adheres to the best practices of modern frontend projects. Through standardized steps and a clear project architecture, it achieves an efficient iteration and easy-to-maintain code management system, ensuring a balance between delivery quality and development efficiency.</a:t>
            </a:r>
            <a:endParaRPr lang="en-US" sz="1100"/>
          </a:p>
        </p:txBody>
      </p:sp>
      <p:sp>
        <p:nvSpPr>
          <p:cNvPr id="5" name="AutoShape 5"/>
          <p:cNvSpPr/>
          <p:nvPr/>
        </p:nvSpPr>
        <p:spPr>
          <a:xfrm>
            <a:off x="762000" y="2540000"/>
            <a:ext cx="3467100" cy="3175000"/>
          </a:xfrm>
          <a:prstGeom prst="roundRect">
            <a:avLst>
              <a:gd name="adj" fmla="val 0"/>
            </a:avLst>
          </a:prstGeom>
          <a:solidFill>
            <a:srgbClr val="FFFFFF">
              <a:alpha val="80000"/>
            </a:srgbClr>
          </a:solidFill>
          <a:ln w="12700" cap="flat" cmpd="sng">
            <a:solidFill>
              <a:srgbClr val="2DD4BF">
                <a:alpha val="5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2540000"/>
            <a:ext cx="34671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857500"/>
            <a:ext cx="355600" cy="355600"/>
          </a:xfrm>
          <a:prstGeom prst="rect">
            <a:avLst/>
          </a:prstGeom>
        </p:spPr>
      </p:pic>
      <p:sp>
        <p:nvSpPr>
          <p:cNvPr id="8" name="AutoShape 8"/>
          <p:cNvSpPr/>
          <p:nvPr/>
        </p:nvSpPr>
        <p:spPr>
          <a:xfrm>
            <a:off x="1397000" y="2819400"/>
            <a:ext cx="2667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Standardized Development Workflow</a:t>
            </a:r>
            <a:endParaRPr lang="en-US" sz="1100"/>
          </a:p>
        </p:txBody>
      </p:sp>
      <p:cxnSp>
        <p:nvCxnSpPr>
          <p:cNvPr id="9" name="Connector 9"/>
          <p:cNvCxnSpPr/>
          <p:nvPr/>
        </p:nvCxnSpPr>
        <p:spPr>
          <a:xfrm rot="-14147">
            <a:off x="952513" y="3422650"/>
            <a:ext cx="3086100" cy="12700"/>
          </a:xfrm>
          <a:prstGeom prst="straightConnector1">
            <a:avLst/>
          </a:prstGeom>
          <a:solidFill>
            <a:srgbClr val="DEE0E3">
              <a:alpha val="100000"/>
            </a:srgbClr>
          </a:solidFill>
          <a:ln w="12700" cap="flat" cmpd="sng">
            <a:solidFill>
              <a:srgbClr val="2DD4BF">
                <a:alpha val="30000"/>
              </a:srgbClr>
            </a:solidFill>
            <a:prstDash val="dash"/>
            <a:round/>
            <a:headEnd type="none" w="med" len="med"/>
            <a:tailEnd type="none" w="med" len="med"/>
          </a:ln>
        </p:spPr>
      </p:cxnSp>
      <p:sp>
        <p:nvSpPr>
          <p:cNvPr id="10" name="AutoShape 10"/>
          <p:cNvSpPr/>
          <p:nvPr/>
        </p:nvSpPr>
        <p:spPr>
          <a:xfrm>
            <a:off x="952500" y="3619500"/>
            <a:ext cx="30861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1" i="0" u="none" strike="noStrike">
                <a:solidFill>
                  <a:srgbClr val="0F766E"/>
                </a:solidFill>
                <a:latin typeface="Noto Sans SC"/>
                <a:ea typeface="Noto Sans SC"/>
                <a:cs typeface="Noto Sans SC"/>
                <a:sym typeface="Noto Sans SC"/>
              </a:rPr>
              <a:t>Environment &amp; Database:</a:t>
            </a:r>
            <a:r>
              <a:rPr lang="en-US" sz="1200" b="0" i="0" u="none" strike="noStrike">
                <a:solidFill>
                  <a:srgbClr val="4B5563"/>
                </a:solidFill>
                <a:latin typeface="Noto Sans SC"/>
                <a:ea typeface="Noto Sans SC"/>
                <a:cs typeface="Noto Sans SC"/>
                <a:sym typeface="Noto Sans SC"/>
              </a:rPr>
              <a:t>Install dependencies, configure environment variables, start a local Supabase instance and run database migrations to quickly set up the development environment.</a:t>
            </a:r>
            <a:endParaRPr lang="en-US" sz="1100"/>
          </a:p>
          <a:p>
            <a:pPr marL="0" indent="0" algn="l">
              <a:lnSpc>
                <a:spcPct val="108333"/>
              </a:lnSpc>
            </a:pPr>
            <a:r>
              <a:rPr lang="en-US" sz="1200" b="1" i="0" u="none" strike="noStrike">
                <a:solidFill>
                  <a:srgbClr val="0F766E"/>
                </a:solidFill>
                <a:latin typeface="Noto Sans SC"/>
                <a:ea typeface="Noto Sans SC"/>
                <a:cs typeface="Noto Sans SC"/>
                <a:sym typeface="Noto Sans SC"/>
              </a:rPr>
              <a:t>Testing &amp; Building:</a:t>
            </a:r>
            <a:r>
              <a:rPr lang="en-US" sz="1200" b="0" i="0" u="none" strike="noStrike">
                <a:solidFill>
                  <a:srgbClr val="4B5563"/>
                </a:solidFill>
                <a:latin typeface="Noto Sans SC"/>
                <a:ea typeface="Noto Sans SC"/>
                <a:cs typeface="Noto Sans SC"/>
                <a:sym typeface="Noto Sans SC"/>
              </a:rPr>
              <a:t>Run full automated tests with Vitest for stability; build the production version and preview locally to avoid online risks.</a:t>
            </a:r>
          </a:p>
        </p:txBody>
      </p:sp>
      <p:sp>
        <p:nvSpPr>
          <p:cNvPr id="11" name="AutoShape 11"/>
          <p:cNvSpPr/>
          <p:nvPr/>
        </p:nvSpPr>
        <p:spPr>
          <a:xfrm>
            <a:off x="4356100" y="2540000"/>
            <a:ext cx="3467100" cy="3175000"/>
          </a:xfrm>
          <a:prstGeom prst="roundRect">
            <a:avLst>
              <a:gd name="adj" fmla="val 0"/>
            </a:avLst>
          </a:prstGeom>
          <a:solidFill>
            <a:srgbClr val="FFFFFF">
              <a:alpha val="80000"/>
            </a:srgbClr>
          </a:solidFill>
          <a:ln w="12700" cap="flat" cmpd="sng">
            <a:solidFill>
              <a:srgbClr val="2DD4BF">
                <a:alpha val="5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356100" y="2540000"/>
            <a:ext cx="34671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46600" y="2857500"/>
            <a:ext cx="355600" cy="355600"/>
          </a:xfrm>
          <a:prstGeom prst="rect">
            <a:avLst/>
          </a:prstGeom>
        </p:spPr>
      </p:pic>
      <p:sp>
        <p:nvSpPr>
          <p:cNvPr id="14" name="AutoShape 14"/>
          <p:cNvSpPr/>
          <p:nvPr/>
        </p:nvSpPr>
        <p:spPr>
          <a:xfrm>
            <a:off x="4991100" y="2819400"/>
            <a:ext cx="2667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Clear Modular Architecture</a:t>
            </a:r>
            <a:endParaRPr lang="en-US" sz="1100"/>
          </a:p>
        </p:txBody>
      </p:sp>
      <p:cxnSp>
        <p:nvCxnSpPr>
          <p:cNvPr id="15" name="Connector 15"/>
          <p:cNvCxnSpPr/>
          <p:nvPr/>
        </p:nvCxnSpPr>
        <p:spPr>
          <a:xfrm rot="-14147">
            <a:off x="4546613" y="3422650"/>
            <a:ext cx="3086100" cy="12700"/>
          </a:xfrm>
          <a:prstGeom prst="straightConnector1">
            <a:avLst/>
          </a:prstGeom>
          <a:solidFill>
            <a:srgbClr val="DEE0E3">
              <a:alpha val="100000"/>
            </a:srgbClr>
          </a:solidFill>
          <a:ln w="12700" cap="flat" cmpd="sng">
            <a:solidFill>
              <a:srgbClr val="2DD4BF">
                <a:alpha val="30000"/>
              </a:srgbClr>
            </a:solidFill>
            <a:prstDash val="dash"/>
            <a:round/>
            <a:headEnd type="none" w="med" len="med"/>
            <a:tailEnd type="none" w="med" len="med"/>
          </a:ln>
        </p:spPr>
      </p:cxnSp>
      <p:sp>
        <p:nvSpPr>
          <p:cNvPr id="16" name="AutoShape 16"/>
          <p:cNvSpPr/>
          <p:nvPr/>
        </p:nvSpPr>
        <p:spPr>
          <a:xfrm>
            <a:off x="4546600" y="3619500"/>
            <a:ext cx="30861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1" i="0" u="none" strike="noStrike">
                <a:solidFill>
                  <a:srgbClr val="0F766E"/>
                </a:solidFill>
                <a:latin typeface="Noto Sans SC"/>
                <a:ea typeface="Noto Sans SC"/>
                <a:cs typeface="Noto Sans SC"/>
                <a:sym typeface="Noto Sans SC"/>
              </a:rPr>
              <a:t>Frontend Layer (frontend/):</a:t>
            </a:r>
            <a:r>
              <a:rPr lang="en-US" sz="1200" b="0" i="0" u="none" strike="noStrike">
                <a:solidFill>
                  <a:srgbClr val="4B5563"/>
                </a:solidFill>
                <a:latin typeface="Noto Sans SC"/>
                <a:ea typeface="Noto Sans SC"/>
                <a:cs typeface="Noto Sans SC"/>
                <a:sym typeface="Noto Sans SC"/>
              </a:rPr>
              <a:t>Centrally manage React core code, split into hooks, components, locales and other modules for single responsibility and high reusability.</a:t>
            </a:r>
            <a:endParaRPr lang="en-US" sz="1100"/>
          </a:p>
          <a:p>
            <a:pPr marL="0" indent="0" algn="l">
              <a:lnSpc>
                <a:spcPct val="108333"/>
              </a:lnSpc>
            </a:pPr>
            <a:r>
              <a:rPr lang="en-US" sz="1200" b="1" i="0" u="none" strike="noStrike">
                <a:solidFill>
                  <a:srgbClr val="0F766E"/>
                </a:solidFill>
                <a:latin typeface="Noto Sans SC"/>
                <a:ea typeface="Noto Sans SC"/>
                <a:cs typeface="Noto Sans SC"/>
                <a:sym typeface="Noto Sans SC"/>
              </a:rPr>
              <a:t>Data Layer (supabase/):</a:t>
            </a:r>
            <a:r>
              <a:rPr lang="en-US" sz="1200" b="0" i="0" u="none" strike="noStrike">
                <a:solidFill>
                  <a:srgbClr val="4B5563"/>
                </a:solidFill>
                <a:latin typeface="Noto Sans SC"/>
                <a:ea typeface="Noto Sans SC"/>
                <a:cs typeface="Noto Sans SC"/>
                <a:sym typeface="Noto Sans SC"/>
              </a:rPr>
              <a:t>Independently maintain database migration scripts and seed data, decoupling application code from database logic for easier version control.</a:t>
            </a:r>
          </a:p>
        </p:txBody>
      </p:sp>
      <p:sp>
        <p:nvSpPr>
          <p:cNvPr id="17" name="AutoShape 17"/>
          <p:cNvSpPr/>
          <p:nvPr/>
        </p:nvSpPr>
        <p:spPr>
          <a:xfrm>
            <a:off x="7950200" y="2540000"/>
            <a:ext cx="3467100" cy="3175000"/>
          </a:xfrm>
          <a:prstGeom prst="roundRect">
            <a:avLst>
              <a:gd name="adj" fmla="val 0"/>
            </a:avLst>
          </a:prstGeom>
          <a:solidFill>
            <a:srgbClr val="FFFFFF">
              <a:alpha val="80000"/>
            </a:srgbClr>
          </a:solidFill>
          <a:ln w="12700" cap="flat" cmpd="sng">
            <a:solidFill>
              <a:srgbClr val="2DD4BF">
                <a:alpha val="5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7950200" y="2540000"/>
            <a:ext cx="34671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6"/>
          <a:srcRect l="22000" r="22000"/>
          <a:stretch>
            <a:fillRect/>
          </a:stretch>
        </p:blipFill>
        <p:spPr>
          <a:xfrm>
            <a:off x="8077200" y="2819400"/>
            <a:ext cx="1016000" cy="762000"/>
          </a:xfrm>
          <a:prstGeom prst="rect">
            <a:avLst/>
          </a:prstGeom>
          <a:noFill/>
          <a:ln w="25400" cap="flat" cmpd="sng">
            <a:noFill/>
            <a:prstDash val="solid"/>
            <a:round/>
          </a:ln>
        </p:spPr>
      </p:pic>
      <p:sp>
        <p:nvSpPr>
          <p:cNvPr id="20" name="AutoShape 20"/>
          <p:cNvSpPr/>
          <p:nvPr/>
        </p:nvSpPr>
        <p:spPr>
          <a:xfrm>
            <a:off x="9156700" y="2921000"/>
            <a:ext cx="21336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Automated CI/CD System</a:t>
            </a:r>
            <a:endParaRPr lang="en-US" sz="1100"/>
          </a:p>
        </p:txBody>
      </p:sp>
      <p:cxnSp>
        <p:nvCxnSpPr>
          <p:cNvPr id="21" name="Connector 21"/>
          <p:cNvCxnSpPr/>
          <p:nvPr/>
        </p:nvCxnSpPr>
        <p:spPr>
          <a:xfrm rot="-14147">
            <a:off x="8140713" y="3803650"/>
            <a:ext cx="3086100" cy="12700"/>
          </a:xfrm>
          <a:prstGeom prst="straightConnector1">
            <a:avLst/>
          </a:prstGeom>
          <a:solidFill>
            <a:srgbClr val="DEE0E3">
              <a:alpha val="100000"/>
            </a:srgbClr>
          </a:solidFill>
          <a:ln w="12700" cap="flat" cmpd="sng">
            <a:solidFill>
              <a:srgbClr val="2DD4BF">
                <a:alpha val="30000"/>
              </a:srgbClr>
            </a:solidFill>
            <a:prstDash val="dash"/>
            <a:round/>
            <a:headEnd type="none" w="med" len="med"/>
            <a:tailEnd type="none" w="med" len="med"/>
          </a:ln>
        </p:spPr>
      </p:cxnSp>
      <p:sp>
        <p:nvSpPr>
          <p:cNvPr id="22" name="AutoShape 22"/>
          <p:cNvSpPr/>
          <p:nvPr/>
        </p:nvSpPr>
        <p:spPr>
          <a:xfrm>
            <a:off x="8140700" y="4000500"/>
            <a:ext cx="30861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Integrate</a:t>
            </a:r>
            <a:r>
              <a:rPr lang="en-US" sz="1200" b="1" i="0" u="none" strike="noStrike">
                <a:solidFill>
                  <a:srgbClr val="0F766E"/>
                </a:solidFill>
                <a:latin typeface="Noto Sans SC"/>
                <a:ea typeface="Noto Sans SC"/>
                <a:cs typeface="Noto Sans SC"/>
                <a:sym typeface="Noto Sans SC"/>
              </a:rPr>
              <a:t>GitHub Actions</a:t>
            </a:r>
            <a:r>
              <a:rPr lang="en-US" sz="1200" b="0" i="0" u="none" strike="noStrike">
                <a:solidFill>
                  <a:srgbClr val="4B5563"/>
                </a:solidFill>
                <a:latin typeface="Noto Sans SC"/>
                <a:ea typeface="Noto Sans SC"/>
                <a:cs typeface="Noto Sans SC"/>
                <a:sym typeface="Noto Sans SC"/>
              </a:rPr>
              <a:t>for pipeline automation. On code push or pull requests, it automatically triggers testing and building processes, ensuring code compliance upon submission and improving iteration efficiency and delivery stability.</a:t>
            </a:r>
            <a:endParaRPr lang="en-US" sz="1100"/>
          </a:p>
        </p:txBody>
      </p:sp>
      <p:sp>
        <p:nvSpPr>
          <p:cNvPr id="23" name="AutoShape 23"/>
          <p:cNvSpPr/>
          <p:nvPr/>
        </p:nvSpPr>
        <p:spPr>
          <a:xfrm>
            <a:off x="762000" y="5969000"/>
            <a:ext cx="10668000" cy="6350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6108700"/>
            <a:ext cx="355600" cy="355600"/>
          </a:xfrm>
          <a:prstGeom prst="rect">
            <a:avLst/>
          </a:prstGeom>
        </p:spPr>
      </p:pic>
      <p:sp>
        <p:nvSpPr>
          <p:cNvPr id="25" name="AutoShape 25"/>
          <p:cNvSpPr/>
          <p:nvPr/>
        </p:nvSpPr>
        <p:spPr>
          <a:xfrm>
            <a:off x="1460500" y="6070600"/>
            <a:ext cx="9779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0F766E"/>
                </a:solidFill>
                <a:latin typeface="Noto Sans SC"/>
                <a:ea typeface="Noto Sans SC"/>
                <a:cs typeface="Noto Sans SC"/>
                <a:sym typeface="Noto Sans SC"/>
              </a:rPr>
              <a:t>Core Value:</a:t>
            </a:r>
            <a:r>
              <a:rPr lang="en-US" sz="1300" b="0" i="0" u="none" strike="noStrike">
                <a:solidFill>
                  <a:srgbClr val="374151"/>
                </a:solidFill>
                <a:latin typeface="Noto Sans SC"/>
                <a:ea typeface="Noto Sans SC"/>
                <a:cs typeface="Noto Sans SC"/>
                <a:sym typeface="Noto Sans SC"/>
              </a:rPr>
              <a:t>Full-link standardization from local development to cloud deployment, achieving an efficient delivery loop of "write once, run anywhere".</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06 Project Demo &amp; Conclusion</a:t>
            </a:r>
            <a:endParaRPr lang="en-US" sz="1100"/>
          </a:p>
        </p:txBody>
      </p:sp>
      <p:sp>
        <p:nvSpPr>
          <p:cNvPr id="4" name="AutoShape 4"/>
          <p:cNvSpPr/>
          <p:nvPr/>
        </p:nvSpPr>
        <p:spPr>
          <a:xfrm>
            <a:off x="762000" y="1778000"/>
            <a:ext cx="3378200" cy="1397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78000"/>
            <a:ext cx="76200" cy="1397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968500"/>
            <a:ext cx="355600" cy="355600"/>
          </a:xfrm>
          <a:prstGeom prst="rect">
            <a:avLst/>
          </a:prstGeom>
        </p:spPr>
      </p:pic>
      <p:sp>
        <p:nvSpPr>
          <p:cNvPr id="7" name="AutoShape 7"/>
          <p:cNvSpPr/>
          <p:nvPr/>
        </p:nvSpPr>
        <p:spPr>
          <a:xfrm>
            <a:off x="1524000" y="1930400"/>
            <a:ext cx="2413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User Registration/Login</a:t>
            </a:r>
            <a:endParaRPr lang="en-US" sz="1100"/>
          </a:p>
        </p:txBody>
      </p:sp>
      <p:sp>
        <p:nvSpPr>
          <p:cNvPr id="8" name="AutoShape 8"/>
          <p:cNvSpPr/>
          <p:nvPr/>
        </p:nvSpPr>
        <p:spPr>
          <a:xfrm>
            <a:off x="1016000" y="2413000"/>
            <a:ext cx="292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000" b="0" i="0" u="none" strike="noStrike">
                <a:solidFill>
                  <a:srgbClr val="4B5563"/>
                </a:solidFill>
                <a:latin typeface="Noto Sans SC"/>
                <a:ea typeface="Noto Sans SC"/>
                <a:cs typeface="Noto Sans SC"/>
                <a:sym typeface="Noto Sans SC"/>
              </a:rPr>
              <a:t>Demonstrate user identity authentication via email and password, ensuring system access security and user data isolation.</a:t>
            </a:r>
            <a:endParaRPr lang="en-US" sz="1100"/>
          </a:p>
        </p:txBody>
      </p:sp>
      <p:sp>
        <p:nvSpPr>
          <p:cNvPr id="9" name="AutoShape 9"/>
          <p:cNvSpPr/>
          <p:nvPr/>
        </p:nvSpPr>
        <p:spPr>
          <a:xfrm>
            <a:off x="762000" y="3429000"/>
            <a:ext cx="3378200" cy="1397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762000" y="3429000"/>
            <a:ext cx="76200" cy="1397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619500"/>
            <a:ext cx="355600" cy="355600"/>
          </a:xfrm>
          <a:prstGeom prst="rect">
            <a:avLst/>
          </a:prstGeom>
        </p:spPr>
      </p:pic>
      <p:sp>
        <p:nvSpPr>
          <p:cNvPr id="12" name="AutoShape 12"/>
          <p:cNvSpPr/>
          <p:nvPr/>
        </p:nvSpPr>
        <p:spPr>
          <a:xfrm>
            <a:off x="1524000" y="3581400"/>
            <a:ext cx="2413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Create Project Space</a:t>
            </a:r>
            <a:endParaRPr lang="en-US" sz="1100"/>
          </a:p>
        </p:txBody>
      </p:sp>
      <p:sp>
        <p:nvSpPr>
          <p:cNvPr id="13" name="AutoShape 13"/>
          <p:cNvSpPr/>
          <p:nvPr/>
        </p:nvSpPr>
        <p:spPr>
          <a:xfrm>
            <a:off x="1016000" y="4064000"/>
            <a:ext cx="292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000" b="0" i="0" u="none" strike="noStrike">
                <a:solidFill>
                  <a:srgbClr val="4B5563"/>
                </a:solidFill>
                <a:latin typeface="Noto Sans SC"/>
                <a:ea typeface="Noto Sans SC"/>
                <a:cs typeface="Noto Sans SC"/>
                <a:sym typeface="Noto Sans SC"/>
              </a:rPr>
              <a:t>Show the process of creating a new project, supporting customization of project name, description, and permission scope to quickly start team collaboration.</a:t>
            </a:r>
            <a:endParaRPr lang="en-US" sz="1100"/>
          </a:p>
        </p:txBody>
      </p:sp>
      <p:sp>
        <p:nvSpPr>
          <p:cNvPr id="14" name="AutoShape 14"/>
          <p:cNvSpPr/>
          <p:nvPr/>
        </p:nvSpPr>
        <p:spPr>
          <a:xfrm>
            <a:off x="762000" y="5080000"/>
            <a:ext cx="3378200" cy="1397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762000" y="5080000"/>
            <a:ext cx="76200" cy="1397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270500"/>
            <a:ext cx="355600" cy="355600"/>
          </a:xfrm>
          <a:prstGeom prst="rect">
            <a:avLst/>
          </a:prstGeom>
        </p:spPr>
      </p:pic>
      <p:sp>
        <p:nvSpPr>
          <p:cNvPr id="17" name="AutoShape 17"/>
          <p:cNvSpPr/>
          <p:nvPr/>
        </p:nvSpPr>
        <p:spPr>
          <a:xfrm>
            <a:off x="1524000" y="5232400"/>
            <a:ext cx="2413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Quick Task Addition</a:t>
            </a:r>
            <a:endParaRPr lang="en-US" sz="1100"/>
          </a:p>
        </p:txBody>
      </p:sp>
      <p:sp>
        <p:nvSpPr>
          <p:cNvPr id="18" name="AutoShape 18"/>
          <p:cNvSpPr/>
          <p:nvPr/>
        </p:nvSpPr>
        <p:spPr>
          <a:xfrm>
            <a:off x="1016000" y="5715000"/>
            <a:ext cx="292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000" b="0" i="0" u="none" strike="noStrike">
                <a:solidFill>
                  <a:srgbClr val="4B5563"/>
                </a:solidFill>
                <a:latin typeface="Noto Sans SC"/>
                <a:ea typeface="Noto Sans SC"/>
                <a:cs typeface="Noto Sans SC"/>
                <a:sym typeface="Noto Sans SC"/>
              </a:rPr>
              <a:t>Intuitively create new tasks in the kanban view, supporting the setting of priority, deadline, and detailed description for clear entry.</a:t>
            </a:r>
            <a:endParaRPr lang="en-US" sz="1100"/>
          </a:p>
        </p:txBody>
      </p:sp>
      <p:sp>
        <p:nvSpPr>
          <p:cNvPr id="19" name="AutoShape 19"/>
          <p:cNvSpPr/>
          <p:nvPr/>
        </p:nvSpPr>
        <p:spPr>
          <a:xfrm>
            <a:off x="4394200" y="1778000"/>
            <a:ext cx="3378200" cy="1397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4394200" y="1778000"/>
            <a:ext cx="76200" cy="1397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48200" y="1968500"/>
            <a:ext cx="355600" cy="355600"/>
          </a:xfrm>
          <a:prstGeom prst="rect">
            <a:avLst/>
          </a:prstGeom>
        </p:spPr>
      </p:pic>
      <p:sp>
        <p:nvSpPr>
          <p:cNvPr id="22" name="AutoShape 22"/>
          <p:cNvSpPr/>
          <p:nvPr/>
        </p:nvSpPr>
        <p:spPr>
          <a:xfrm>
            <a:off x="5156200" y="1930400"/>
            <a:ext cx="2413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Task Drag-and-Drop Flow</a:t>
            </a:r>
            <a:endParaRPr lang="en-US" sz="1100"/>
          </a:p>
        </p:txBody>
      </p:sp>
      <p:sp>
        <p:nvSpPr>
          <p:cNvPr id="23" name="AutoShape 23"/>
          <p:cNvSpPr/>
          <p:nvPr/>
        </p:nvSpPr>
        <p:spPr>
          <a:xfrm>
            <a:off x="4648200" y="2413000"/>
            <a:ext cx="292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000" b="0" i="0" u="none" strike="noStrike">
                <a:solidFill>
                  <a:srgbClr val="4B5563"/>
                </a:solidFill>
                <a:latin typeface="Noto Sans SC"/>
                <a:ea typeface="Noto Sans SC"/>
                <a:cs typeface="Noto Sans SC"/>
                <a:sym typeface="Noto Sans SC"/>
              </a:rPr>
              <a:t>Easily switch tasks between statuses like "To Do/In Progress/Done" with simple drag-and-drop operations, visualizing the workflow.</a:t>
            </a:r>
            <a:endParaRPr lang="en-US" sz="1100"/>
          </a:p>
        </p:txBody>
      </p:sp>
      <p:sp>
        <p:nvSpPr>
          <p:cNvPr id="24" name="AutoShape 24"/>
          <p:cNvSpPr/>
          <p:nvPr/>
        </p:nvSpPr>
        <p:spPr>
          <a:xfrm>
            <a:off x="4394200" y="3429000"/>
            <a:ext cx="3378200" cy="1397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4394200" y="3429000"/>
            <a:ext cx="76200" cy="1397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48200" y="3619500"/>
            <a:ext cx="355600" cy="355600"/>
          </a:xfrm>
          <a:prstGeom prst="rect">
            <a:avLst/>
          </a:prstGeom>
        </p:spPr>
      </p:pic>
      <p:sp>
        <p:nvSpPr>
          <p:cNvPr id="27" name="AutoShape 27"/>
          <p:cNvSpPr/>
          <p:nvPr/>
        </p:nvSpPr>
        <p:spPr>
          <a:xfrm>
            <a:off x="5156200" y="3581400"/>
            <a:ext cx="2413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Member Task Assignment</a:t>
            </a:r>
            <a:endParaRPr lang="en-US" sz="1100"/>
          </a:p>
        </p:txBody>
      </p:sp>
      <p:sp>
        <p:nvSpPr>
          <p:cNvPr id="28" name="AutoShape 28"/>
          <p:cNvSpPr/>
          <p:nvPr/>
        </p:nvSpPr>
        <p:spPr>
          <a:xfrm>
            <a:off x="4648200" y="4064000"/>
            <a:ext cx="292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000" b="0" i="0" u="none" strike="noStrike">
                <a:solidFill>
                  <a:srgbClr val="4B5563"/>
                </a:solidFill>
                <a:latin typeface="Noto Sans SC"/>
                <a:ea typeface="Noto Sans SC"/>
                <a:cs typeface="Noto Sans SC"/>
                <a:sym typeface="Noto Sans SC"/>
              </a:rPr>
              <a:t>Assign specific tasks to team members with one click, clarify responsibility ownership, and the system sends notifications synchronously to improve collaboration efficiency.</a:t>
            </a:r>
            <a:endParaRPr lang="en-US" sz="1100"/>
          </a:p>
        </p:txBody>
      </p:sp>
      <p:sp>
        <p:nvSpPr>
          <p:cNvPr id="29" name="AutoShape 29"/>
          <p:cNvSpPr/>
          <p:nvPr/>
        </p:nvSpPr>
        <p:spPr>
          <a:xfrm>
            <a:off x="4394200" y="5080000"/>
            <a:ext cx="3378200" cy="1397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4394200" y="5080000"/>
            <a:ext cx="76200" cy="1397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1" name="Picture 3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648200" y="5270500"/>
            <a:ext cx="355600" cy="355600"/>
          </a:xfrm>
          <a:prstGeom prst="rect">
            <a:avLst/>
          </a:prstGeom>
        </p:spPr>
      </p:pic>
      <p:sp>
        <p:nvSpPr>
          <p:cNvPr id="32" name="AutoShape 32"/>
          <p:cNvSpPr/>
          <p:nvPr/>
        </p:nvSpPr>
        <p:spPr>
          <a:xfrm>
            <a:off x="5156200" y="5232400"/>
            <a:ext cx="2413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Flexible Multi-View Switching</a:t>
            </a:r>
            <a:endParaRPr lang="en-US" sz="1100"/>
          </a:p>
        </p:txBody>
      </p:sp>
      <p:sp>
        <p:nvSpPr>
          <p:cNvPr id="33" name="AutoShape 33"/>
          <p:cNvSpPr/>
          <p:nvPr/>
        </p:nvSpPr>
        <p:spPr>
          <a:xfrm>
            <a:off x="4648200" y="5715000"/>
            <a:ext cx="292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000" b="0" i="0" u="none" strike="noStrike">
                <a:solidFill>
                  <a:srgbClr val="4B5563"/>
                </a:solidFill>
                <a:latin typeface="Noto Sans SC"/>
                <a:ea typeface="Noto Sans SC"/>
                <a:cs typeface="Noto Sans SC"/>
                <a:sym typeface="Noto Sans SC"/>
              </a:rPr>
              <a:t>Support switching between multiple views such as kanban, list, and calendar to meet project progress viewing and management needs in different scenarios.</a:t>
            </a:r>
            <a:endParaRPr lang="en-US" sz="1100"/>
          </a:p>
        </p:txBody>
      </p:sp>
      <p:sp>
        <p:nvSpPr>
          <p:cNvPr id="34" name="AutoShape 34"/>
          <p:cNvSpPr/>
          <p:nvPr/>
        </p:nvSpPr>
        <p:spPr>
          <a:xfrm>
            <a:off x="8026400" y="1778000"/>
            <a:ext cx="3378200" cy="1397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8026400" y="1778000"/>
            <a:ext cx="76200" cy="1397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6" name="Picture 3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280400" y="1968500"/>
            <a:ext cx="355600" cy="355600"/>
          </a:xfrm>
          <a:prstGeom prst="rect">
            <a:avLst/>
          </a:prstGeom>
        </p:spPr>
      </p:pic>
      <p:sp>
        <p:nvSpPr>
          <p:cNvPr id="37" name="AutoShape 37"/>
          <p:cNvSpPr/>
          <p:nvPr/>
        </p:nvSpPr>
        <p:spPr>
          <a:xfrm>
            <a:off x="8788400" y="1930400"/>
            <a:ext cx="2413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Data Export &amp; Sharing</a:t>
            </a:r>
            <a:endParaRPr lang="en-US" sz="1100"/>
          </a:p>
        </p:txBody>
      </p:sp>
      <p:sp>
        <p:nvSpPr>
          <p:cNvPr id="38" name="AutoShape 38"/>
          <p:cNvSpPr/>
          <p:nvPr/>
        </p:nvSpPr>
        <p:spPr>
          <a:xfrm>
            <a:off x="8280400" y="2413000"/>
            <a:ext cx="292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000" b="0" i="0" u="none" strike="noStrike">
                <a:solidFill>
                  <a:srgbClr val="4B5563"/>
                </a:solidFill>
                <a:latin typeface="Noto Sans SC"/>
                <a:ea typeface="Noto Sans SC"/>
                <a:cs typeface="Noto Sans SC"/>
                <a:sym typeface="Noto Sans SC"/>
              </a:rPr>
              <a:t>Support exporting project kanban data to Excel or PDF formats for easy archiving, reporting, and sharing with external teams.</a:t>
            </a:r>
            <a:endParaRPr lang="en-US" sz="1100"/>
          </a:p>
        </p:txBody>
      </p:sp>
      <p:sp>
        <p:nvSpPr>
          <p:cNvPr id="39" name="AutoShape 39"/>
          <p:cNvSpPr/>
          <p:nvPr/>
        </p:nvSpPr>
        <p:spPr>
          <a:xfrm>
            <a:off x="8026400" y="3429000"/>
            <a:ext cx="3378200" cy="1397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40" name="AutoShape 40"/>
          <p:cNvSpPr/>
          <p:nvPr/>
        </p:nvSpPr>
        <p:spPr>
          <a:xfrm>
            <a:off x="8026400" y="3429000"/>
            <a:ext cx="76200" cy="1397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1" name="Picture 4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280400" y="3619500"/>
            <a:ext cx="355600" cy="355600"/>
          </a:xfrm>
          <a:prstGeom prst="rect">
            <a:avLst/>
          </a:prstGeom>
        </p:spPr>
      </p:pic>
      <p:sp>
        <p:nvSpPr>
          <p:cNvPr id="42" name="AutoShape 42"/>
          <p:cNvSpPr/>
          <p:nvPr/>
        </p:nvSpPr>
        <p:spPr>
          <a:xfrm>
            <a:off x="8788400" y="3581400"/>
            <a:ext cx="2413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Real-Time Multi-Device Sync</a:t>
            </a:r>
            <a:endParaRPr lang="en-US" sz="1100"/>
          </a:p>
        </p:txBody>
      </p:sp>
      <p:sp>
        <p:nvSpPr>
          <p:cNvPr id="43" name="AutoShape 43"/>
          <p:cNvSpPr/>
          <p:nvPr/>
        </p:nvSpPr>
        <p:spPr>
          <a:xfrm>
            <a:off x="8280400" y="4064000"/>
            <a:ext cx="292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000" b="0" i="0" u="none" strike="noStrike">
                <a:solidFill>
                  <a:srgbClr val="4B5563"/>
                </a:solidFill>
                <a:latin typeface="Noto Sans SC"/>
                <a:ea typeface="Noto Sans SC"/>
                <a:cs typeface="Noto Sans SC"/>
                <a:sym typeface="Noto Sans SC"/>
              </a:rPr>
              <a:t>Real-time data synchronization across devices and browsers, with operations taking effect instantly to ensure team members see identical information.</a:t>
            </a:r>
            <a:endParaRPr lang="en-US" sz="1100"/>
          </a:p>
        </p:txBody>
      </p:sp>
      <p:sp>
        <p:nvSpPr>
          <p:cNvPr id="44" name="AutoShape 44"/>
          <p:cNvSpPr/>
          <p:nvPr/>
        </p:nvSpPr>
        <p:spPr>
          <a:xfrm>
            <a:off x="8026400" y="5080000"/>
            <a:ext cx="3378200" cy="1397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45" name="AutoShape 45"/>
          <p:cNvSpPr/>
          <p:nvPr/>
        </p:nvSpPr>
        <p:spPr>
          <a:xfrm>
            <a:off x="8026400" y="5080000"/>
            <a:ext cx="76200" cy="1397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6" name="Picture 4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280400" y="5270500"/>
            <a:ext cx="355600" cy="355600"/>
          </a:xfrm>
          <a:prstGeom prst="rect">
            <a:avLst/>
          </a:prstGeom>
        </p:spPr>
      </p:pic>
      <p:sp>
        <p:nvSpPr>
          <p:cNvPr id="47" name="AutoShape 47"/>
          <p:cNvSpPr/>
          <p:nvPr/>
        </p:nvSpPr>
        <p:spPr>
          <a:xfrm>
            <a:off x="8788400" y="5232400"/>
            <a:ext cx="2413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Admin Permission Management</a:t>
            </a:r>
            <a:endParaRPr lang="en-US" sz="1100"/>
          </a:p>
        </p:txBody>
      </p:sp>
      <p:sp>
        <p:nvSpPr>
          <p:cNvPr id="48" name="AutoShape 48"/>
          <p:cNvSpPr/>
          <p:nvPr/>
        </p:nvSpPr>
        <p:spPr>
          <a:xfrm>
            <a:off x="8280400" y="5715000"/>
            <a:ext cx="292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000" b="0" i="0" u="none" strike="noStrike">
                <a:solidFill>
                  <a:srgbClr val="4B5563"/>
                </a:solidFill>
                <a:latin typeface="Noto Sans SC"/>
                <a:ea typeface="Noto Sans SC"/>
                <a:cs typeface="Noto Sans SC"/>
                <a:sym typeface="Noto Sans SC"/>
              </a:rPr>
              <a:t>Demonstrate the admin's role configuration, permission allocation, and project access control for team members to ensure system data security.</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cap="flat" cmpd="sng">
            <a:solidFill>
              <a:srgbClr val="E6CFCF">
                <a:alpha val="35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Conclusion &amp; Thanks</a:t>
            </a:r>
            <a:endParaRPr lang="en-US" sz="1100"/>
          </a:p>
        </p:txBody>
      </p:sp>
      <p:sp>
        <p:nvSpPr>
          <p:cNvPr id="4" name="AutoShape 4"/>
          <p:cNvSpPr/>
          <p:nvPr/>
        </p:nvSpPr>
        <p:spPr>
          <a:xfrm>
            <a:off x="762000" y="1651000"/>
            <a:ext cx="10668000" cy="1079500"/>
          </a:xfrm>
          <a:prstGeom prst="roundRect">
            <a:avLst>
              <a:gd name="adj" fmla="val 0"/>
            </a:avLst>
          </a:prstGeom>
          <a:solidFill>
            <a:srgbClr val="FFFFFF">
              <a:alpha val="70000"/>
            </a:srgbClr>
          </a:solidFill>
          <a:ln cap="flat" cmpd="sng">
            <a:solidFill>
              <a:srgbClr val="E6CFCF">
                <a:alpha val="7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1778000"/>
            <a:ext cx="10160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374151"/>
                </a:solidFill>
                <a:latin typeface="Noto Sans SC"/>
                <a:ea typeface="Noto Sans SC"/>
                <a:cs typeface="Noto Sans SC"/>
                <a:sym typeface="Noto Sans SC"/>
              </a:rPr>
              <a:t>PivotPoint has successfully demonstrated that a modern web tech stack combining React and Supabase can efficiently build a fully functional, real-time collaboration-enabled, and minimally deployable enterprise project management tool, offering a lightweight, high-quality solution for team collaboration scenarios.</a:t>
            </a:r>
            <a:endParaRPr lang="en-US" sz="1100"/>
          </a:p>
        </p:txBody>
      </p:sp>
      <p:sp>
        <p:nvSpPr>
          <p:cNvPr id="6" name="AutoShape 6"/>
          <p:cNvSpPr/>
          <p:nvPr/>
        </p:nvSpPr>
        <p:spPr>
          <a:xfrm>
            <a:off x="762000" y="3175000"/>
            <a:ext cx="3378200" cy="1460500"/>
          </a:xfrm>
          <a:prstGeom prst="roundRect">
            <a:avLst>
              <a:gd name="adj" fmla="val 0"/>
            </a:avLst>
          </a:prstGeom>
          <a:solidFill>
            <a:srgbClr val="FFFFFF">
              <a:alpha val="70000"/>
            </a:srgbClr>
          </a:solidFill>
          <a:ln cap="flat" cmpd="sng">
            <a:solidFill>
              <a:srgbClr val="E6CFCF">
                <a:alpha val="7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3327400"/>
            <a:ext cx="355600" cy="355600"/>
          </a:xfrm>
          <a:prstGeom prst="rect">
            <a:avLst/>
          </a:prstGeom>
        </p:spPr>
      </p:pic>
      <p:sp>
        <p:nvSpPr>
          <p:cNvPr id="8" name="AutoShape 8"/>
          <p:cNvSpPr/>
          <p:nvPr/>
        </p:nvSpPr>
        <p:spPr>
          <a:xfrm>
            <a:off x="1460500" y="3302000"/>
            <a:ext cx="254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Modern Tech Stack</a:t>
            </a:r>
            <a:endParaRPr lang="en-US" sz="1100"/>
          </a:p>
        </p:txBody>
      </p:sp>
      <p:cxnSp>
        <p:nvCxnSpPr>
          <p:cNvPr id="9" name="Connector 9"/>
          <p:cNvCxnSpPr/>
          <p:nvPr/>
        </p:nvCxnSpPr>
        <p:spPr>
          <a:xfrm rot="-14566">
            <a:off x="952513" y="3803650"/>
            <a:ext cx="29972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10" name="AutoShape 10"/>
          <p:cNvSpPr/>
          <p:nvPr/>
        </p:nvSpPr>
        <p:spPr>
          <a:xfrm>
            <a:off x="952500" y="3937000"/>
            <a:ext cx="2997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a:ea typeface="Noto Sans SC"/>
                <a:cs typeface="Noto Sans SC"/>
                <a:sym typeface="Noto Sans SC"/>
              </a:rPr>
              <a:t>Built with React 19, Vite 8, and Tailwind CSS 4, balancing development experience with high performance and maintainability.</a:t>
            </a:r>
            <a:endParaRPr lang="en-US" sz="1100"/>
          </a:p>
        </p:txBody>
      </p:sp>
      <p:sp>
        <p:nvSpPr>
          <p:cNvPr id="11" name="AutoShape 11"/>
          <p:cNvSpPr/>
          <p:nvPr/>
        </p:nvSpPr>
        <p:spPr>
          <a:xfrm>
            <a:off x="4394200" y="3175000"/>
            <a:ext cx="3378200" cy="1460500"/>
          </a:xfrm>
          <a:prstGeom prst="roundRect">
            <a:avLst>
              <a:gd name="adj" fmla="val 0"/>
            </a:avLst>
          </a:prstGeom>
          <a:solidFill>
            <a:srgbClr val="FFFFFF">
              <a:alpha val="70000"/>
            </a:srgbClr>
          </a:solidFill>
          <a:ln cap="flat" cmpd="sng">
            <a:solidFill>
              <a:srgbClr val="E6CFCF">
                <a:alpha val="7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84700" y="3327400"/>
            <a:ext cx="355600" cy="355600"/>
          </a:xfrm>
          <a:prstGeom prst="rect">
            <a:avLst/>
          </a:prstGeom>
        </p:spPr>
      </p:pic>
      <p:sp>
        <p:nvSpPr>
          <p:cNvPr id="13" name="AutoShape 13"/>
          <p:cNvSpPr/>
          <p:nvPr/>
        </p:nvSpPr>
        <p:spPr>
          <a:xfrm>
            <a:off x="5092700" y="3302000"/>
            <a:ext cx="254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Serverless Architecture</a:t>
            </a:r>
            <a:endParaRPr lang="en-US" sz="1100"/>
          </a:p>
        </p:txBody>
      </p:sp>
      <p:cxnSp>
        <p:nvCxnSpPr>
          <p:cNvPr id="14" name="Connector 14"/>
          <p:cNvCxnSpPr/>
          <p:nvPr/>
        </p:nvCxnSpPr>
        <p:spPr>
          <a:xfrm rot="-14566">
            <a:off x="4584713" y="3803650"/>
            <a:ext cx="29972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15" name="AutoShape 15"/>
          <p:cNvSpPr/>
          <p:nvPr/>
        </p:nvSpPr>
        <p:spPr>
          <a:xfrm>
            <a:off x="4584700" y="3937000"/>
            <a:ext cx="2997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a:ea typeface="Noto Sans SC"/>
                <a:cs typeface="Noto Sans SC"/>
                <a:sym typeface="Noto Sans SC"/>
              </a:rPr>
              <a:t>Based on Supabase's fully managed platform, eliminating server config &amp; maintenance, and reducing operational costs.</a:t>
            </a:r>
            <a:endParaRPr lang="en-US" sz="1100"/>
          </a:p>
        </p:txBody>
      </p:sp>
      <p:sp>
        <p:nvSpPr>
          <p:cNvPr id="16" name="AutoShape 16"/>
          <p:cNvSpPr/>
          <p:nvPr/>
        </p:nvSpPr>
        <p:spPr>
          <a:xfrm>
            <a:off x="8026400" y="3175000"/>
            <a:ext cx="3378200" cy="1460500"/>
          </a:xfrm>
          <a:prstGeom prst="roundRect">
            <a:avLst>
              <a:gd name="adj" fmla="val 0"/>
            </a:avLst>
          </a:prstGeom>
          <a:solidFill>
            <a:srgbClr val="FFFFFF">
              <a:alpha val="70000"/>
            </a:srgbClr>
          </a:solidFill>
          <a:ln cap="flat" cmpd="sng">
            <a:solidFill>
              <a:srgbClr val="E6CFCF">
                <a:alpha val="7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16900" y="3327400"/>
            <a:ext cx="355600" cy="355600"/>
          </a:xfrm>
          <a:prstGeom prst="rect">
            <a:avLst/>
          </a:prstGeom>
        </p:spPr>
      </p:pic>
      <p:sp>
        <p:nvSpPr>
          <p:cNvPr id="18" name="AutoShape 18"/>
          <p:cNvSpPr/>
          <p:nvPr/>
        </p:nvSpPr>
        <p:spPr>
          <a:xfrm>
            <a:off x="8724900" y="3302000"/>
            <a:ext cx="254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Real-Time Collaboration</a:t>
            </a:r>
            <a:endParaRPr lang="en-US" sz="1100"/>
          </a:p>
        </p:txBody>
      </p:sp>
      <p:cxnSp>
        <p:nvCxnSpPr>
          <p:cNvPr id="19" name="Connector 19"/>
          <p:cNvCxnSpPr/>
          <p:nvPr/>
        </p:nvCxnSpPr>
        <p:spPr>
          <a:xfrm rot="-14566">
            <a:off x="8216913" y="3803650"/>
            <a:ext cx="29972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20" name="AutoShape 20"/>
          <p:cNvSpPr/>
          <p:nvPr/>
        </p:nvSpPr>
        <p:spPr>
          <a:xfrm>
            <a:off x="8216900" y="3937000"/>
            <a:ext cx="2997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a:ea typeface="Noto Sans SC"/>
                <a:cs typeface="Noto Sans SC"/>
                <a:sym typeface="Noto Sans SC"/>
              </a:rPr>
              <a:t>Built-in real-time DB listening &amp; sync ensures instant updates for all members, eliminating information lag.</a:t>
            </a:r>
            <a:endParaRPr lang="en-US" sz="1100"/>
          </a:p>
        </p:txBody>
      </p:sp>
      <p:sp>
        <p:nvSpPr>
          <p:cNvPr id="21" name="AutoShape 21"/>
          <p:cNvSpPr/>
          <p:nvPr/>
        </p:nvSpPr>
        <p:spPr>
          <a:xfrm>
            <a:off x="762000" y="4953000"/>
            <a:ext cx="5270500" cy="1206500"/>
          </a:xfrm>
          <a:prstGeom prst="roundRect">
            <a:avLst>
              <a:gd name="adj" fmla="val 0"/>
            </a:avLst>
          </a:prstGeom>
          <a:solidFill>
            <a:srgbClr val="FFFFFF">
              <a:alpha val="70000"/>
            </a:srgbClr>
          </a:solidFill>
          <a:ln cap="flat" cmpd="sng">
            <a:solidFill>
              <a:srgbClr val="E6CFCF">
                <a:alpha val="70000"/>
              </a:srgbClr>
            </a:solid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5105400"/>
            <a:ext cx="355600" cy="355600"/>
          </a:xfrm>
          <a:prstGeom prst="rect">
            <a:avLst/>
          </a:prstGeom>
        </p:spPr>
      </p:pic>
      <p:sp>
        <p:nvSpPr>
          <p:cNvPr id="23" name="AutoShape 23"/>
          <p:cNvSpPr/>
          <p:nvPr/>
        </p:nvSpPr>
        <p:spPr>
          <a:xfrm>
            <a:off x="1460500" y="5080000"/>
            <a:ext cx="4381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Flexible Customization</a:t>
            </a:r>
            <a:endParaRPr lang="en-US" sz="1100"/>
          </a:p>
        </p:txBody>
      </p:sp>
      <p:cxnSp>
        <p:nvCxnSpPr>
          <p:cNvPr id="24" name="Connector 24"/>
          <p:cNvCxnSpPr/>
          <p:nvPr/>
        </p:nvCxnSpPr>
        <p:spPr>
          <a:xfrm rot="-8929">
            <a:off x="952508" y="5518150"/>
            <a:ext cx="48895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25" name="AutoShape 25"/>
          <p:cNvSpPr/>
          <p:nvPr/>
        </p:nvSpPr>
        <p:spPr>
          <a:xfrm>
            <a:off x="952500" y="5613400"/>
            <a:ext cx="4889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a:ea typeface="Noto Sans SC"/>
                <a:cs typeface="Noto Sans SC"/>
                <a:sym typeface="Noto Sans SC"/>
              </a:rPr>
              <a:t>Rich configurations and multi-view switching (Kanban, List, Calendar) perfectly adapt to diverse workflows.</a:t>
            </a:r>
            <a:endParaRPr lang="en-US" sz="1100"/>
          </a:p>
        </p:txBody>
      </p:sp>
      <p:sp>
        <p:nvSpPr>
          <p:cNvPr id="26" name="AutoShape 26"/>
          <p:cNvSpPr/>
          <p:nvPr/>
        </p:nvSpPr>
        <p:spPr>
          <a:xfrm>
            <a:off x="6159500" y="4953000"/>
            <a:ext cx="5270500" cy="1206500"/>
          </a:xfrm>
          <a:prstGeom prst="roundRect">
            <a:avLst>
              <a:gd name="adj" fmla="val 0"/>
            </a:avLst>
          </a:prstGeom>
          <a:solidFill>
            <a:srgbClr val="FFFFFF">
              <a:alpha val="70000"/>
            </a:srgbClr>
          </a:solidFill>
          <a:ln cap="flat" cmpd="sng">
            <a:solidFill>
              <a:srgbClr val="E6CFCF">
                <a:alpha val="70000"/>
              </a:srgbClr>
            </a:solidFill>
            <a:prstDash val="solid"/>
            <a:round/>
          </a:ln>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50000" y="5105400"/>
            <a:ext cx="355600" cy="355600"/>
          </a:xfrm>
          <a:prstGeom prst="rect">
            <a:avLst/>
          </a:prstGeom>
        </p:spPr>
      </p:pic>
      <p:sp>
        <p:nvSpPr>
          <p:cNvPr id="28" name="AutoShape 28"/>
          <p:cNvSpPr/>
          <p:nvPr/>
        </p:nvSpPr>
        <p:spPr>
          <a:xfrm>
            <a:off x="6858000" y="5080000"/>
            <a:ext cx="4381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Robust Security</a:t>
            </a:r>
            <a:endParaRPr lang="en-US" sz="1100"/>
          </a:p>
        </p:txBody>
      </p:sp>
      <p:cxnSp>
        <p:nvCxnSpPr>
          <p:cNvPr id="29" name="Connector 29"/>
          <p:cNvCxnSpPr/>
          <p:nvPr/>
        </p:nvCxnSpPr>
        <p:spPr>
          <a:xfrm rot="-8929">
            <a:off x="6350008" y="5518150"/>
            <a:ext cx="48895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30" name="AutoShape 30"/>
          <p:cNvSpPr/>
          <p:nvPr/>
        </p:nvSpPr>
        <p:spPr>
          <a:xfrm>
            <a:off x="6350000" y="5613400"/>
            <a:ext cx="4889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a:ea typeface="Noto Sans SC"/>
                <a:cs typeface="Noto Sans SC"/>
                <a:sym typeface="Noto Sans SC"/>
              </a:rPr>
              <a:t>Leverages PostgreSQL RLS and Supabase Auth to strictly control data access and ensure core information security.</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667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FFFFFF"/>
                </a:solidFill>
                <a:latin typeface="Noto Sans SC"/>
                <a:ea typeface="Noto Sans SC"/>
                <a:cs typeface="Noto Sans SC"/>
                <a:sym typeface="Noto Sans SC"/>
              </a:rPr>
              <a:t>THANK YOU</a:t>
            </a:r>
            <a:endParaRPr lang="en-US" sz="1100"/>
          </a:p>
        </p:txBody>
      </p:sp>
      <p:sp>
        <p:nvSpPr>
          <p:cNvPr id="4" name="AutoShape 4"/>
          <p:cNvSpPr/>
          <p:nvPr/>
        </p:nvSpPr>
        <p:spPr>
          <a:xfrm>
            <a:off x="0" y="3810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0" i="0" u="none" strike="noStrike">
                <a:solidFill>
                  <a:srgbClr val="2DD4BF"/>
                </a:solidFill>
                <a:latin typeface="Noto Sans SC"/>
                <a:ea typeface="Noto Sans SC"/>
                <a:cs typeface="Noto Sans SC"/>
                <a:sym typeface="Noto Sans SC"/>
              </a:rPr>
              <a:t>Thank you for your attention</a:t>
            </a:r>
            <a:endParaRPr lang="en-US" sz="1100"/>
          </a:p>
        </p:txBody>
      </p:sp>
      <p:sp>
        <p:nvSpPr>
          <p:cNvPr id="5" name="AutoShape 5"/>
          <p:cNvSpPr/>
          <p:nvPr/>
        </p:nvSpPr>
        <p:spPr>
          <a:xfrm>
            <a:off x="2286000" y="5080000"/>
            <a:ext cx="7620000" cy="1016000"/>
          </a:xfrm>
          <a:prstGeom prst="roundRect">
            <a:avLst>
              <a:gd name="adj" fmla="val 0"/>
            </a:avLst>
          </a:prstGeom>
          <a:solidFill>
            <a:srgbClr val="FFFFFF">
              <a:alpha val="10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40000" y="5359400"/>
            <a:ext cx="457200" cy="457200"/>
          </a:xfrm>
          <a:prstGeom prst="rect">
            <a:avLst/>
          </a:prstGeom>
        </p:spPr>
      </p:pic>
      <p:sp>
        <p:nvSpPr>
          <p:cNvPr id="7" name="AutoShape 7"/>
          <p:cNvSpPr/>
          <p:nvPr/>
        </p:nvSpPr>
        <p:spPr>
          <a:xfrm>
            <a:off x="3302000" y="5207000"/>
            <a:ext cx="635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FFFFFF">
                    <a:alpha val="90196"/>
                  </a:srgbClr>
                </a:solidFill>
                <a:latin typeface="Noto Sans SC"/>
                <a:ea typeface="Noto Sans SC"/>
                <a:cs typeface="Noto Sans SC"/>
                <a:sym typeface="Noto Sans SC"/>
              </a:rPr>
              <a:t>Project Address: https://github.com/Echeq/MiniSemesterProject</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4115</Words>
  <Application>Microsoft Office PowerPoint</Application>
  <PresentationFormat>Widescreen</PresentationFormat>
  <Paragraphs>257</Paragraphs>
  <Slides>17</Slides>
  <Notes>17</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17</vt:i4>
      </vt:variant>
    </vt:vector>
  </HeadingPairs>
  <TitlesOfParts>
    <vt:vector size="21" baseType="lpstr">
      <vt:lpstr>Noto Sans SC</vt:lpstr>
      <vt:lpstr>Arial</vt:lpstr>
      <vt:lpstr>Office 主题​​</vt:lpstr>
      <vt:lpstr>默认主题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Elbert Alexander</cp:lastModifiedBy>
  <cp:revision>1</cp:revision>
  <dcterms:modified xsi:type="dcterms:W3CDTF">2026-07-01T07:06:15Z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{"Label":"1","ContentProducer":"001191110102MACQD9K64010000","ProduceID":"7657451474523868100","ReservedCode1":"","ContentPropagator":"","PropagateID":"","ReservedCode2":""}</vt:lpwstr>
  </property>
</Properties>
</file>